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2"/>
  </p:notesMasterIdLst>
  <p:sldIdLst>
    <p:sldId id="256" r:id="rId2"/>
    <p:sldId id="257" r:id="rId3"/>
    <p:sldId id="341" r:id="rId4"/>
    <p:sldId id="286" r:id="rId5"/>
    <p:sldId id="270" r:id="rId6"/>
    <p:sldId id="344" r:id="rId7"/>
    <p:sldId id="266" r:id="rId8"/>
    <p:sldId id="258" r:id="rId9"/>
    <p:sldId id="352" r:id="rId10"/>
    <p:sldId id="295" r:id="rId11"/>
    <p:sldId id="354" r:id="rId12"/>
    <p:sldId id="355" r:id="rId13"/>
    <p:sldId id="348" r:id="rId14"/>
    <p:sldId id="356" r:id="rId15"/>
    <p:sldId id="349" r:id="rId16"/>
    <p:sldId id="350" r:id="rId17"/>
    <p:sldId id="357" r:id="rId18"/>
    <p:sldId id="351" r:id="rId19"/>
    <p:sldId id="353" r:id="rId20"/>
    <p:sldId id="358" r:id="rId21"/>
    <p:sldId id="359" r:id="rId22"/>
    <p:sldId id="360" r:id="rId23"/>
    <p:sldId id="361" r:id="rId24"/>
    <p:sldId id="362" r:id="rId25"/>
    <p:sldId id="363" r:id="rId26"/>
    <p:sldId id="323" r:id="rId27"/>
    <p:sldId id="307" r:id="rId28"/>
    <p:sldId id="342" r:id="rId29"/>
    <p:sldId id="343" r:id="rId30"/>
    <p:sldId id="29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97D"/>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60"/>
  </p:normalViewPr>
  <p:slideViewPr>
    <p:cSldViewPr snapToGrid="0">
      <p:cViewPr varScale="1">
        <p:scale>
          <a:sx n="107" d="100"/>
          <a:sy n="107" d="100"/>
        </p:scale>
        <p:origin x="5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A98290-D1D4-4A8F-A001-48DFC2809C3A}" type="datetimeFigureOut">
              <a:rPr lang="en-IN" smtClean="0"/>
              <a:t>22-10-2025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63CE5D-6FF7-41F0-A363-9F54F021AEC0}" type="slidenum">
              <a:rPr lang="en-IN" smtClean="0"/>
              <a:t>‹#›</a:t>
            </a:fld>
            <a:endParaRPr lang="en-IN"/>
          </a:p>
        </p:txBody>
      </p:sp>
    </p:spTree>
    <p:extLst>
      <p:ext uri="{BB962C8B-B14F-4D97-AF65-F5344CB8AC3E}">
        <p14:creationId xmlns:p14="http://schemas.microsoft.com/office/powerpoint/2010/main" val="3805786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FF384-1F45-FA49-E450-CA0835C1FE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ED65AA4-9438-55E2-6591-BFCCF054B2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7C0D091-2C45-6C6F-0141-3B6D850A1A47}"/>
              </a:ext>
            </a:extLst>
          </p:cNvPr>
          <p:cNvSpPr>
            <a:spLocks noGrp="1"/>
          </p:cNvSpPr>
          <p:nvPr>
            <p:ph type="dt" sz="half" idx="10"/>
          </p:nvPr>
        </p:nvSpPr>
        <p:spPr/>
        <p:txBody>
          <a:bodyPr/>
          <a:lstStyle/>
          <a:p>
            <a:fld id="{65535993-8BE2-4753-B664-C0433035C10D}" type="datetime1">
              <a:rPr lang="en-IN" smtClean="0"/>
              <a:t>22-10-2025</a:t>
            </a:fld>
            <a:endParaRPr lang="en-IN"/>
          </a:p>
        </p:txBody>
      </p:sp>
      <p:sp>
        <p:nvSpPr>
          <p:cNvPr id="5" name="Footer Placeholder 4">
            <a:extLst>
              <a:ext uri="{FF2B5EF4-FFF2-40B4-BE49-F238E27FC236}">
                <a16:creationId xmlns:a16="http://schemas.microsoft.com/office/drawing/2014/main" id="{B27EDC8C-6B78-A636-3C67-D01AF6B9B568}"/>
              </a:ext>
            </a:extLst>
          </p:cNvPr>
          <p:cNvSpPr>
            <a:spLocks noGrp="1"/>
          </p:cNvSpPr>
          <p:nvPr>
            <p:ph type="ftr" sz="quarter" idx="11"/>
          </p:nvPr>
        </p:nvSpPr>
        <p:spPr/>
        <p:txBody>
          <a:bodyPr/>
          <a:lstStyle/>
          <a:p>
            <a:r>
              <a:rPr lang="en-US"/>
              <a:t>An Android App for Activity Point Submission, Categorization and Generation of Reports</a:t>
            </a:r>
            <a:endParaRPr lang="en-IN"/>
          </a:p>
        </p:txBody>
      </p:sp>
      <p:sp>
        <p:nvSpPr>
          <p:cNvPr id="6" name="Slide Number Placeholder 5">
            <a:extLst>
              <a:ext uri="{FF2B5EF4-FFF2-40B4-BE49-F238E27FC236}">
                <a16:creationId xmlns:a16="http://schemas.microsoft.com/office/drawing/2014/main" id="{F3553585-9D91-78A0-92B8-663606A545D4}"/>
              </a:ext>
            </a:extLst>
          </p:cNvPr>
          <p:cNvSpPr>
            <a:spLocks noGrp="1"/>
          </p:cNvSpPr>
          <p:nvPr>
            <p:ph type="sldNum" sz="quarter" idx="12"/>
          </p:nvPr>
        </p:nvSpPr>
        <p:spPr/>
        <p:txBody>
          <a:bodyPr/>
          <a:lstStyle/>
          <a:p>
            <a:fld id="{F09AFC8B-2B39-4FD9-BC35-C243DBCAD3D3}" type="slidenum">
              <a:rPr lang="en-IN" smtClean="0"/>
              <a:t>‹#›</a:t>
            </a:fld>
            <a:endParaRPr lang="en-IN"/>
          </a:p>
        </p:txBody>
      </p:sp>
    </p:spTree>
    <p:extLst>
      <p:ext uri="{BB962C8B-B14F-4D97-AF65-F5344CB8AC3E}">
        <p14:creationId xmlns:p14="http://schemas.microsoft.com/office/powerpoint/2010/main" val="2416661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E1844-E6EF-49CB-BE51-174F010790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5F3CA16-730A-9B91-CDBF-0D458138BE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144C13-EDDA-7588-E470-ED1E9A46D21B}"/>
              </a:ext>
            </a:extLst>
          </p:cNvPr>
          <p:cNvSpPr>
            <a:spLocks noGrp="1"/>
          </p:cNvSpPr>
          <p:nvPr>
            <p:ph type="dt" sz="half" idx="10"/>
          </p:nvPr>
        </p:nvSpPr>
        <p:spPr/>
        <p:txBody>
          <a:bodyPr/>
          <a:lstStyle/>
          <a:p>
            <a:fld id="{2D22AE61-0DFA-4301-89D3-D0DD92CD3DEE}" type="datetime1">
              <a:rPr lang="en-IN" smtClean="0"/>
              <a:t>22-10-2025</a:t>
            </a:fld>
            <a:endParaRPr lang="en-IN"/>
          </a:p>
        </p:txBody>
      </p:sp>
      <p:sp>
        <p:nvSpPr>
          <p:cNvPr id="5" name="Footer Placeholder 4">
            <a:extLst>
              <a:ext uri="{FF2B5EF4-FFF2-40B4-BE49-F238E27FC236}">
                <a16:creationId xmlns:a16="http://schemas.microsoft.com/office/drawing/2014/main" id="{BF49E2A3-E8B0-4338-834B-6CD65AF1205F}"/>
              </a:ext>
            </a:extLst>
          </p:cNvPr>
          <p:cNvSpPr>
            <a:spLocks noGrp="1"/>
          </p:cNvSpPr>
          <p:nvPr>
            <p:ph type="ftr" sz="quarter" idx="11"/>
          </p:nvPr>
        </p:nvSpPr>
        <p:spPr/>
        <p:txBody>
          <a:bodyPr/>
          <a:lstStyle/>
          <a:p>
            <a:r>
              <a:rPr lang="en-US"/>
              <a:t>An Android App for Activity Point Submission, Categorization and Generation of Reports</a:t>
            </a:r>
            <a:endParaRPr lang="en-IN"/>
          </a:p>
        </p:txBody>
      </p:sp>
      <p:sp>
        <p:nvSpPr>
          <p:cNvPr id="6" name="Slide Number Placeholder 5">
            <a:extLst>
              <a:ext uri="{FF2B5EF4-FFF2-40B4-BE49-F238E27FC236}">
                <a16:creationId xmlns:a16="http://schemas.microsoft.com/office/drawing/2014/main" id="{6B8CBEE3-7152-EC51-88F3-7ED17251EEFC}"/>
              </a:ext>
            </a:extLst>
          </p:cNvPr>
          <p:cNvSpPr>
            <a:spLocks noGrp="1"/>
          </p:cNvSpPr>
          <p:nvPr>
            <p:ph type="sldNum" sz="quarter" idx="12"/>
          </p:nvPr>
        </p:nvSpPr>
        <p:spPr/>
        <p:txBody>
          <a:bodyPr/>
          <a:lstStyle/>
          <a:p>
            <a:fld id="{F09AFC8B-2B39-4FD9-BC35-C243DBCAD3D3}" type="slidenum">
              <a:rPr lang="en-IN" smtClean="0"/>
              <a:t>‹#›</a:t>
            </a:fld>
            <a:endParaRPr lang="en-IN"/>
          </a:p>
        </p:txBody>
      </p:sp>
    </p:spTree>
    <p:extLst>
      <p:ext uri="{BB962C8B-B14F-4D97-AF65-F5344CB8AC3E}">
        <p14:creationId xmlns:p14="http://schemas.microsoft.com/office/powerpoint/2010/main" val="1145066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9E518-F9EB-2BCD-1A16-99C70286A7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03B5144-C78E-2563-DF56-99ECA4C4EE4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7B574E-0E8E-D9B3-DD66-0E5FAC853006}"/>
              </a:ext>
            </a:extLst>
          </p:cNvPr>
          <p:cNvSpPr>
            <a:spLocks noGrp="1"/>
          </p:cNvSpPr>
          <p:nvPr>
            <p:ph type="dt" sz="half" idx="10"/>
          </p:nvPr>
        </p:nvSpPr>
        <p:spPr/>
        <p:txBody>
          <a:bodyPr/>
          <a:lstStyle/>
          <a:p>
            <a:fld id="{007D6F3D-A979-43F4-BC67-671C3A081C9C}" type="datetime1">
              <a:rPr lang="en-IN" smtClean="0"/>
              <a:t>22-10-2025</a:t>
            </a:fld>
            <a:endParaRPr lang="en-IN"/>
          </a:p>
        </p:txBody>
      </p:sp>
      <p:sp>
        <p:nvSpPr>
          <p:cNvPr id="5" name="Footer Placeholder 4">
            <a:extLst>
              <a:ext uri="{FF2B5EF4-FFF2-40B4-BE49-F238E27FC236}">
                <a16:creationId xmlns:a16="http://schemas.microsoft.com/office/drawing/2014/main" id="{63FEDAF6-7CB5-A776-B389-E5F52CD6D4C0}"/>
              </a:ext>
            </a:extLst>
          </p:cNvPr>
          <p:cNvSpPr>
            <a:spLocks noGrp="1"/>
          </p:cNvSpPr>
          <p:nvPr>
            <p:ph type="ftr" sz="quarter" idx="11"/>
          </p:nvPr>
        </p:nvSpPr>
        <p:spPr/>
        <p:txBody>
          <a:bodyPr/>
          <a:lstStyle/>
          <a:p>
            <a:r>
              <a:rPr lang="en-US"/>
              <a:t>An Android App for Activity Point Submission, Categorization and Generation of Reports</a:t>
            </a:r>
            <a:endParaRPr lang="en-IN"/>
          </a:p>
        </p:txBody>
      </p:sp>
      <p:sp>
        <p:nvSpPr>
          <p:cNvPr id="6" name="Slide Number Placeholder 5">
            <a:extLst>
              <a:ext uri="{FF2B5EF4-FFF2-40B4-BE49-F238E27FC236}">
                <a16:creationId xmlns:a16="http://schemas.microsoft.com/office/drawing/2014/main" id="{45BBDEA6-846E-E119-DACE-5C0B5AE41FE3}"/>
              </a:ext>
            </a:extLst>
          </p:cNvPr>
          <p:cNvSpPr>
            <a:spLocks noGrp="1"/>
          </p:cNvSpPr>
          <p:nvPr>
            <p:ph type="sldNum" sz="quarter" idx="12"/>
          </p:nvPr>
        </p:nvSpPr>
        <p:spPr/>
        <p:txBody>
          <a:bodyPr/>
          <a:lstStyle/>
          <a:p>
            <a:fld id="{F09AFC8B-2B39-4FD9-BC35-C243DBCAD3D3}" type="slidenum">
              <a:rPr lang="en-IN" smtClean="0"/>
              <a:t>‹#›</a:t>
            </a:fld>
            <a:endParaRPr lang="en-IN"/>
          </a:p>
        </p:txBody>
      </p:sp>
    </p:spTree>
    <p:extLst>
      <p:ext uri="{BB962C8B-B14F-4D97-AF65-F5344CB8AC3E}">
        <p14:creationId xmlns:p14="http://schemas.microsoft.com/office/powerpoint/2010/main" val="1507337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E51A7-64E2-7649-6A32-5C1F621CBB3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E706D1-524A-752F-0E9C-9C12BF30BA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D738582-569E-1B26-EDAC-D6E8124BF3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AB2F29D-3CDB-5A00-EACC-FE64F3F40553}"/>
              </a:ext>
            </a:extLst>
          </p:cNvPr>
          <p:cNvSpPr>
            <a:spLocks noGrp="1"/>
          </p:cNvSpPr>
          <p:nvPr>
            <p:ph type="dt" sz="half" idx="10"/>
          </p:nvPr>
        </p:nvSpPr>
        <p:spPr/>
        <p:txBody>
          <a:bodyPr/>
          <a:lstStyle/>
          <a:p>
            <a:fld id="{88D8A919-F415-4498-A0F5-C3B1FDC56FA9}" type="datetime1">
              <a:rPr lang="en-IN" smtClean="0"/>
              <a:t>22-10-2025</a:t>
            </a:fld>
            <a:endParaRPr lang="en-IN"/>
          </a:p>
        </p:txBody>
      </p:sp>
      <p:sp>
        <p:nvSpPr>
          <p:cNvPr id="6" name="Footer Placeholder 5">
            <a:extLst>
              <a:ext uri="{FF2B5EF4-FFF2-40B4-BE49-F238E27FC236}">
                <a16:creationId xmlns:a16="http://schemas.microsoft.com/office/drawing/2014/main" id="{003128D6-9389-5C6A-FB1D-E6BD41766D96}"/>
              </a:ext>
            </a:extLst>
          </p:cNvPr>
          <p:cNvSpPr>
            <a:spLocks noGrp="1"/>
          </p:cNvSpPr>
          <p:nvPr>
            <p:ph type="ftr" sz="quarter" idx="11"/>
          </p:nvPr>
        </p:nvSpPr>
        <p:spPr/>
        <p:txBody>
          <a:bodyPr/>
          <a:lstStyle/>
          <a:p>
            <a:r>
              <a:rPr lang="en-US"/>
              <a:t>An Android App for Activity Point Submission, Categorization and Generation of Reports</a:t>
            </a:r>
            <a:endParaRPr lang="en-IN"/>
          </a:p>
        </p:txBody>
      </p:sp>
      <p:sp>
        <p:nvSpPr>
          <p:cNvPr id="7" name="Slide Number Placeholder 6">
            <a:extLst>
              <a:ext uri="{FF2B5EF4-FFF2-40B4-BE49-F238E27FC236}">
                <a16:creationId xmlns:a16="http://schemas.microsoft.com/office/drawing/2014/main" id="{71C8272A-5CF2-3583-66EA-B66259F753B3}"/>
              </a:ext>
            </a:extLst>
          </p:cNvPr>
          <p:cNvSpPr>
            <a:spLocks noGrp="1"/>
          </p:cNvSpPr>
          <p:nvPr>
            <p:ph type="sldNum" sz="quarter" idx="12"/>
          </p:nvPr>
        </p:nvSpPr>
        <p:spPr/>
        <p:txBody>
          <a:bodyPr/>
          <a:lstStyle/>
          <a:p>
            <a:fld id="{F09AFC8B-2B39-4FD9-BC35-C243DBCAD3D3}" type="slidenum">
              <a:rPr lang="en-IN" smtClean="0"/>
              <a:t>‹#›</a:t>
            </a:fld>
            <a:endParaRPr lang="en-IN"/>
          </a:p>
        </p:txBody>
      </p:sp>
    </p:spTree>
    <p:extLst>
      <p:ext uri="{BB962C8B-B14F-4D97-AF65-F5344CB8AC3E}">
        <p14:creationId xmlns:p14="http://schemas.microsoft.com/office/powerpoint/2010/main" val="2625288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8CAF-A0C3-6A76-3737-EBDAAE8BA36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17B913-C60C-75AF-4EE5-F23E4D9946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810170-68CD-9FAA-1ACE-DC74F91472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A58D618-802A-85A1-BA8B-5E1038FEE7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3E4FEDA-0A45-88EB-FC66-01578885B77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79BE239-ECC9-BF75-2C8E-6017FB0EAA3F}"/>
              </a:ext>
            </a:extLst>
          </p:cNvPr>
          <p:cNvSpPr>
            <a:spLocks noGrp="1"/>
          </p:cNvSpPr>
          <p:nvPr>
            <p:ph type="dt" sz="half" idx="10"/>
          </p:nvPr>
        </p:nvSpPr>
        <p:spPr/>
        <p:txBody>
          <a:bodyPr/>
          <a:lstStyle/>
          <a:p>
            <a:fld id="{3D4741BC-A66F-47AE-9EBB-49563E89E9B2}" type="datetime1">
              <a:rPr lang="en-IN" smtClean="0"/>
              <a:t>22-10-2025</a:t>
            </a:fld>
            <a:endParaRPr lang="en-IN"/>
          </a:p>
        </p:txBody>
      </p:sp>
      <p:sp>
        <p:nvSpPr>
          <p:cNvPr id="8" name="Footer Placeholder 7">
            <a:extLst>
              <a:ext uri="{FF2B5EF4-FFF2-40B4-BE49-F238E27FC236}">
                <a16:creationId xmlns:a16="http://schemas.microsoft.com/office/drawing/2014/main" id="{0CEF5045-9A07-D35D-A309-85F7BD7C49C5}"/>
              </a:ext>
            </a:extLst>
          </p:cNvPr>
          <p:cNvSpPr>
            <a:spLocks noGrp="1"/>
          </p:cNvSpPr>
          <p:nvPr>
            <p:ph type="ftr" sz="quarter" idx="11"/>
          </p:nvPr>
        </p:nvSpPr>
        <p:spPr/>
        <p:txBody>
          <a:bodyPr/>
          <a:lstStyle/>
          <a:p>
            <a:r>
              <a:rPr lang="en-US"/>
              <a:t>An Android App for Activity Point Submission, Categorization and Generation of Reports</a:t>
            </a:r>
            <a:endParaRPr lang="en-IN"/>
          </a:p>
        </p:txBody>
      </p:sp>
      <p:sp>
        <p:nvSpPr>
          <p:cNvPr id="9" name="Slide Number Placeholder 8">
            <a:extLst>
              <a:ext uri="{FF2B5EF4-FFF2-40B4-BE49-F238E27FC236}">
                <a16:creationId xmlns:a16="http://schemas.microsoft.com/office/drawing/2014/main" id="{6EA669D7-1920-95EE-DEC6-6AC5FFECA372}"/>
              </a:ext>
            </a:extLst>
          </p:cNvPr>
          <p:cNvSpPr>
            <a:spLocks noGrp="1"/>
          </p:cNvSpPr>
          <p:nvPr>
            <p:ph type="sldNum" sz="quarter" idx="12"/>
          </p:nvPr>
        </p:nvSpPr>
        <p:spPr/>
        <p:txBody>
          <a:bodyPr/>
          <a:lstStyle/>
          <a:p>
            <a:fld id="{F09AFC8B-2B39-4FD9-BC35-C243DBCAD3D3}" type="slidenum">
              <a:rPr lang="en-IN" smtClean="0"/>
              <a:t>‹#›</a:t>
            </a:fld>
            <a:endParaRPr lang="en-IN"/>
          </a:p>
        </p:txBody>
      </p:sp>
    </p:spTree>
    <p:extLst>
      <p:ext uri="{BB962C8B-B14F-4D97-AF65-F5344CB8AC3E}">
        <p14:creationId xmlns:p14="http://schemas.microsoft.com/office/powerpoint/2010/main" val="2920486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F748C-478B-BC1F-5A76-CC0C64043A5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CA53685-3F95-4D7D-DCC4-DC38F0DE41EC}"/>
              </a:ext>
            </a:extLst>
          </p:cNvPr>
          <p:cNvSpPr>
            <a:spLocks noGrp="1"/>
          </p:cNvSpPr>
          <p:nvPr>
            <p:ph type="dt" sz="half" idx="10"/>
          </p:nvPr>
        </p:nvSpPr>
        <p:spPr/>
        <p:txBody>
          <a:bodyPr/>
          <a:lstStyle/>
          <a:p>
            <a:fld id="{9D8D91F0-FF18-4C1D-A18B-014FF6EE12E0}" type="datetime1">
              <a:rPr lang="en-IN" smtClean="0"/>
              <a:t>22-10-2025</a:t>
            </a:fld>
            <a:endParaRPr lang="en-IN"/>
          </a:p>
        </p:txBody>
      </p:sp>
      <p:sp>
        <p:nvSpPr>
          <p:cNvPr id="4" name="Footer Placeholder 3">
            <a:extLst>
              <a:ext uri="{FF2B5EF4-FFF2-40B4-BE49-F238E27FC236}">
                <a16:creationId xmlns:a16="http://schemas.microsoft.com/office/drawing/2014/main" id="{77AF5E1C-3EC5-8042-A068-720A297F9C11}"/>
              </a:ext>
            </a:extLst>
          </p:cNvPr>
          <p:cNvSpPr>
            <a:spLocks noGrp="1"/>
          </p:cNvSpPr>
          <p:nvPr>
            <p:ph type="ftr" sz="quarter" idx="11"/>
          </p:nvPr>
        </p:nvSpPr>
        <p:spPr/>
        <p:txBody>
          <a:bodyPr/>
          <a:lstStyle/>
          <a:p>
            <a:r>
              <a:rPr lang="en-US"/>
              <a:t>An Android App for Activity Point Submission, Categorization and Generation of Reports</a:t>
            </a:r>
            <a:endParaRPr lang="en-IN"/>
          </a:p>
        </p:txBody>
      </p:sp>
      <p:sp>
        <p:nvSpPr>
          <p:cNvPr id="5" name="Slide Number Placeholder 4">
            <a:extLst>
              <a:ext uri="{FF2B5EF4-FFF2-40B4-BE49-F238E27FC236}">
                <a16:creationId xmlns:a16="http://schemas.microsoft.com/office/drawing/2014/main" id="{AA28B763-2BEA-626A-C19B-DA624BD3C0AA}"/>
              </a:ext>
            </a:extLst>
          </p:cNvPr>
          <p:cNvSpPr>
            <a:spLocks noGrp="1"/>
          </p:cNvSpPr>
          <p:nvPr>
            <p:ph type="sldNum" sz="quarter" idx="12"/>
          </p:nvPr>
        </p:nvSpPr>
        <p:spPr/>
        <p:txBody>
          <a:bodyPr/>
          <a:lstStyle/>
          <a:p>
            <a:fld id="{F09AFC8B-2B39-4FD9-BC35-C243DBCAD3D3}" type="slidenum">
              <a:rPr lang="en-IN" smtClean="0"/>
              <a:t>‹#›</a:t>
            </a:fld>
            <a:endParaRPr lang="en-IN"/>
          </a:p>
        </p:txBody>
      </p:sp>
    </p:spTree>
    <p:extLst>
      <p:ext uri="{BB962C8B-B14F-4D97-AF65-F5344CB8AC3E}">
        <p14:creationId xmlns:p14="http://schemas.microsoft.com/office/powerpoint/2010/main" val="2727357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F5487D-125B-E07D-DB79-5CD9EB37C306}"/>
              </a:ext>
            </a:extLst>
          </p:cNvPr>
          <p:cNvSpPr>
            <a:spLocks noGrp="1"/>
          </p:cNvSpPr>
          <p:nvPr>
            <p:ph type="dt" sz="half" idx="10"/>
          </p:nvPr>
        </p:nvSpPr>
        <p:spPr/>
        <p:txBody>
          <a:bodyPr/>
          <a:lstStyle/>
          <a:p>
            <a:fld id="{D508552F-C5E4-4FCF-B40E-7F84361BD4B7}" type="datetime1">
              <a:rPr lang="en-IN" smtClean="0"/>
              <a:t>22-10-2025</a:t>
            </a:fld>
            <a:endParaRPr lang="en-IN"/>
          </a:p>
        </p:txBody>
      </p:sp>
      <p:sp>
        <p:nvSpPr>
          <p:cNvPr id="3" name="Footer Placeholder 2">
            <a:extLst>
              <a:ext uri="{FF2B5EF4-FFF2-40B4-BE49-F238E27FC236}">
                <a16:creationId xmlns:a16="http://schemas.microsoft.com/office/drawing/2014/main" id="{6E09C600-740A-3FBF-3D8D-B85A48088532}"/>
              </a:ext>
            </a:extLst>
          </p:cNvPr>
          <p:cNvSpPr>
            <a:spLocks noGrp="1"/>
          </p:cNvSpPr>
          <p:nvPr>
            <p:ph type="ftr" sz="quarter" idx="11"/>
          </p:nvPr>
        </p:nvSpPr>
        <p:spPr/>
        <p:txBody>
          <a:bodyPr/>
          <a:lstStyle/>
          <a:p>
            <a:r>
              <a:rPr lang="en-US"/>
              <a:t>An Android App for Activity Point Submission, Categorization and Generation of Reports</a:t>
            </a:r>
            <a:endParaRPr lang="en-IN"/>
          </a:p>
        </p:txBody>
      </p:sp>
      <p:sp>
        <p:nvSpPr>
          <p:cNvPr id="4" name="Slide Number Placeholder 3">
            <a:extLst>
              <a:ext uri="{FF2B5EF4-FFF2-40B4-BE49-F238E27FC236}">
                <a16:creationId xmlns:a16="http://schemas.microsoft.com/office/drawing/2014/main" id="{F3AE1AC7-15D0-A9EB-D6F8-D97AF7B0684F}"/>
              </a:ext>
            </a:extLst>
          </p:cNvPr>
          <p:cNvSpPr>
            <a:spLocks noGrp="1"/>
          </p:cNvSpPr>
          <p:nvPr>
            <p:ph type="sldNum" sz="quarter" idx="12"/>
          </p:nvPr>
        </p:nvSpPr>
        <p:spPr/>
        <p:txBody>
          <a:bodyPr/>
          <a:lstStyle/>
          <a:p>
            <a:fld id="{F09AFC8B-2B39-4FD9-BC35-C243DBCAD3D3}" type="slidenum">
              <a:rPr lang="en-IN" smtClean="0"/>
              <a:t>‹#›</a:t>
            </a:fld>
            <a:endParaRPr lang="en-IN"/>
          </a:p>
        </p:txBody>
      </p:sp>
    </p:spTree>
    <p:extLst>
      <p:ext uri="{BB962C8B-B14F-4D97-AF65-F5344CB8AC3E}">
        <p14:creationId xmlns:p14="http://schemas.microsoft.com/office/powerpoint/2010/main" val="3509049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589FF-8823-AB0C-2239-3B6A1EEC97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7A04915-A089-D633-67A5-D2FBD39E73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2AF0915-D43A-44A9-D6DB-BD436CF8D4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FD7486-6D35-C73A-1D64-453AD9C02D07}"/>
              </a:ext>
            </a:extLst>
          </p:cNvPr>
          <p:cNvSpPr>
            <a:spLocks noGrp="1"/>
          </p:cNvSpPr>
          <p:nvPr>
            <p:ph type="dt" sz="half" idx="10"/>
          </p:nvPr>
        </p:nvSpPr>
        <p:spPr/>
        <p:txBody>
          <a:bodyPr/>
          <a:lstStyle/>
          <a:p>
            <a:fld id="{A0ECA3FC-483A-4556-B465-64E03875C944}" type="datetime1">
              <a:rPr lang="en-IN" smtClean="0"/>
              <a:t>22-10-2025</a:t>
            </a:fld>
            <a:endParaRPr lang="en-IN"/>
          </a:p>
        </p:txBody>
      </p:sp>
      <p:sp>
        <p:nvSpPr>
          <p:cNvPr id="6" name="Footer Placeholder 5">
            <a:extLst>
              <a:ext uri="{FF2B5EF4-FFF2-40B4-BE49-F238E27FC236}">
                <a16:creationId xmlns:a16="http://schemas.microsoft.com/office/drawing/2014/main" id="{1CDB52F1-D4D3-A12D-CAD3-6710301E4594}"/>
              </a:ext>
            </a:extLst>
          </p:cNvPr>
          <p:cNvSpPr>
            <a:spLocks noGrp="1"/>
          </p:cNvSpPr>
          <p:nvPr>
            <p:ph type="ftr" sz="quarter" idx="11"/>
          </p:nvPr>
        </p:nvSpPr>
        <p:spPr/>
        <p:txBody>
          <a:bodyPr/>
          <a:lstStyle/>
          <a:p>
            <a:r>
              <a:rPr lang="en-US"/>
              <a:t>An Android App for Activity Point Submission, Categorization and Generation of Reports</a:t>
            </a:r>
            <a:endParaRPr lang="en-IN"/>
          </a:p>
        </p:txBody>
      </p:sp>
      <p:sp>
        <p:nvSpPr>
          <p:cNvPr id="7" name="Slide Number Placeholder 6">
            <a:extLst>
              <a:ext uri="{FF2B5EF4-FFF2-40B4-BE49-F238E27FC236}">
                <a16:creationId xmlns:a16="http://schemas.microsoft.com/office/drawing/2014/main" id="{A365D921-BF8B-5D03-AD54-26D1BD956DAD}"/>
              </a:ext>
            </a:extLst>
          </p:cNvPr>
          <p:cNvSpPr>
            <a:spLocks noGrp="1"/>
          </p:cNvSpPr>
          <p:nvPr>
            <p:ph type="sldNum" sz="quarter" idx="12"/>
          </p:nvPr>
        </p:nvSpPr>
        <p:spPr/>
        <p:txBody>
          <a:bodyPr/>
          <a:lstStyle/>
          <a:p>
            <a:fld id="{F09AFC8B-2B39-4FD9-BC35-C243DBCAD3D3}" type="slidenum">
              <a:rPr lang="en-IN" smtClean="0"/>
              <a:t>‹#›</a:t>
            </a:fld>
            <a:endParaRPr lang="en-IN"/>
          </a:p>
        </p:txBody>
      </p:sp>
    </p:spTree>
    <p:extLst>
      <p:ext uri="{BB962C8B-B14F-4D97-AF65-F5344CB8AC3E}">
        <p14:creationId xmlns:p14="http://schemas.microsoft.com/office/powerpoint/2010/main" val="2267063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181C8-0BEE-86E0-45B0-DDC359B528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667B089-5944-774C-BA12-0F89252173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BAF9878-32DA-0149-9A72-2DB8F59D9A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8392D6-772C-3BBF-1309-0224AFDE92E9}"/>
              </a:ext>
            </a:extLst>
          </p:cNvPr>
          <p:cNvSpPr>
            <a:spLocks noGrp="1"/>
          </p:cNvSpPr>
          <p:nvPr>
            <p:ph type="dt" sz="half" idx="10"/>
          </p:nvPr>
        </p:nvSpPr>
        <p:spPr/>
        <p:txBody>
          <a:bodyPr/>
          <a:lstStyle/>
          <a:p>
            <a:fld id="{AB45CA93-6AC3-43D7-9644-C8404575B733}" type="datetime1">
              <a:rPr lang="en-IN" smtClean="0"/>
              <a:t>22-10-2025</a:t>
            </a:fld>
            <a:endParaRPr lang="en-IN"/>
          </a:p>
        </p:txBody>
      </p:sp>
      <p:sp>
        <p:nvSpPr>
          <p:cNvPr id="6" name="Footer Placeholder 5">
            <a:extLst>
              <a:ext uri="{FF2B5EF4-FFF2-40B4-BE49-F238E27FC236}">
                <a16:creationId xmlns:a16="http://schemas.microsoft.com/office/drawing/2014/main" id="{3DA0C43E-3CC5-96BF-14D9-9A45D57228EC}"/>
              </a:ext>
            </a:extLst>
          </p:cNvPr>
          <p:cNvSpPr>
            <a:spLocks noGrp="1"/>
          </p:cNvSpPr>
          <p:nvPr>
            <p:ph type="ftr" sz="quarter" idx="11"/>
          </p:nvPr>
        </p:nvSpPr>
        <p:spPr/>
        <p:txBody>
          <a:bodyPr/>
          <a:lstStyle/>
          <a:p>
            <a:r>
              <a:rPr lang="en-US"/>
              <a:t>An Android App for Activity Point Submission, Categorization and Generation of Reports</a:t>
            </a:r>
            <a:endParaRPr lang="en-IN"/>
          </a:p>
        </p:txBody>
      </p:sp>
      <p:sp>
        <p:nvSpPr>
          <p:cNvPr id="7" name="Slide Number Placeholder 6">
            <a:extLst>
              <a:ext uri="{FF2B5EF4-FFF2-40B4-BE49-F238E27FC236}">
                <a16:creationId xmlns:a16="http://schemas.microsoft.com/office/drawing/2014/main" id="{444B1BD9-AD44-060D-1A7F-89370FBCB360}"/>
              </a:ext>
            </a:extLst>
          </p:cNvPr>
          <p:cNvSpPr>
            <a:spLocks noGrp="1"/>
          </p:cNvSpPr>
          <p:nvPr>
            <p:ph type="sldNum" sz="quarter" idx="12"/>
          </p:nvPr>
        </p:nvSpPr>
        <p:spPr/>
        <p:txBody>
          <a:bodyPr/>
          <a:lstStyle/>
          <a:p>
            <a:fld id="{F09AFC8B-2B39-4FD9-BC35-C243DBCAD3D3}" type="slidenum">
              <a:rPr lang="en-IN" smtClean="0"/>
              <a:t>‹#›</a:t>
            </a:fld>
            <a:endParaRPr lang="en-IN"/>
          </a:p>
        </p:txBody>
      </p:sp>
    </p:spTree>
    <p:extLst>
      <p:ext uri="{BB962C8B-B14F-4D97-AF65-F5344CB8AC3E}">
        <p14:creationId xmlns:p14="http://schemas.microsoft.com/office/powerpoint/2010/main" val="3922595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B63E0-D1F0-8F13-108D-4B64B9B5FE9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004C2AE-13DA-DA87-3AD0-40A40121E4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214F1D-DAF5-938B-2A56-C8805FDDAC3D}"/>
              </a:ext>
            </a:extLst>
          </p:cNvPr>
          <p:cNvSpPr>
            <a:spLocks noGrp="1"/>
          </p:cNvSpPr>
          <p:nvPr>
            <p:ph type="dt" sz="half" idx="10"/>
          </p:nvPr>
        </p:nvSpPr>
        <p:spPr/>
        <p:txBody>
          <a:bodyPr/>
          <a:lstStyle/>
          <a:p>
            <a:fld id="{14DEE21D-EF61-4705-914A-32F03E2BC820}" type="datetime1">
              <a:rPr lang="en-IN" smtClean="0"/>
              <a:t>22-10-2025</a:t>
            </a:fld>
            <a:endParaRPr lang="en-IN"/>
          </a:p>
        </p:txBody>
      </p:sp>
      <p:sp>
        <p:nvSpPr>
          <p:cNvPr id="5" name="Footer Placeholder 4">
            <a:extLst>
              <a:ext uri="{FF2B5EF4-FFF2-40B4-BE49-F238E27FC236}">
                <a16:creationId xmlns:a16="http://schemas.microsoft.com/office/drawing/2014/main" id="{90D4876C-77CB-E639-6093-177B57DAE9C1}"/>
              </a:ext>
            </a:extLst>
          </p:cNvPr>
          <p:cNvSpPr>
            <a:spLocks noGrp="1"/>
          </p:cNvSpPr>
          <p:nvPr>
            <p:ph type="ftr" sz="quarter" idx="11"/>
          </p:nvPr>
        </p:nvSpPr>
        <p:spPr/>
        <p:txBody>
          <a:bodyPr/>
          <a:lstStyle/>
          <a:p>
            <a:r>
              <a:rPr lang="en-US"/>
              <a:t>An Android App for Activity Point Submission, Categorization and Generation of Reports</a:t>
            </a:r>
            <a:endParaRPr lang="en-IN"/>
          </a:p>
        </p:txBody>
      </p:sp>
      <p:sp>
        <p:nvSpPr>
          <p:cNvPr id="6" name="Slide Number Placeholder 5">
            <a:extLst>
              <a:ext uri="{FF2B5EF4-FFF2-40B4-BE49-F238E27FC236}">
                <a16:creationId xmlns:a16="http://schemas.microsoft.com/office/drawing/2014/main" id="{41EA8B8A-CE47-CD0E-F005-ADE15C728A70}"/>
              </a:ext>
            </a:extLst>
          </p:cNvPr>
          <p:cNvSpPr>
            <a:spLocks noGrp="1"/>
          </p:cNvSpPr>
          <p:nvPr>
            <p:ph type="sldNum" sz="quarter" idx="12"/>
          </p:nvPr>
        </p:nvSpPr>
        <p:spPr/>
        <p:txBody>
          <a:bodyPr/>
          <a:lstStyle/>
          <a:p>
            <a:fld id="{F09AFC8B-2B39-4FD9-BC35-C243DBCAD3D3}" type="slidenum">
              <a:rPr lang="en-IN" smtClean="0"/>
              <a:t>‹#›</a:t>
            </a:fld>
            <a:endParaRPr lang="en-IN"/>
          </a:p>
        </p:txBody>
      </p:sp>
    </p:spTree>
    <p:extLst>
      <p:ext uri="{BB962C8B-B14F-4D97-AF65-F5344CB8AC3E}">
        <p14:creationId xmlns:p14="http://schemas.microsoft.com/office/powerpoint/2010/main" val="834892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4C4E88-6C23-D028-5998-4BDCD42A95C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0C7106-CEFA-3BBC-0FF3-25B35E02E7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BB5E6F-49A8-5CAB-7C0E-DAB69CE01378}"/>
              </a:ext>
            </a:extLst>
          </p:cNvPr>
          <p:cNvSpPr>
            <a:spLocks noGrp="1"/>
          </p:cNvSpPr>
          <p:nvPr>
            <p:ph type="dt" sz="half" idx="10"/>
          </p:nvPr>
        </p:nvSpPr>
        <p:spPr/>
        <p:txBody>
          <a:bodyPr/>
          <a:lstStyle/>
          <a:p>
            <a:fld id="{ACFB97E7-A5A0-46CB-B69B-1695AA3A70AA}" type="datetime1">
              <a:rPr lang="en-IN" smtClean="0"/>
              <a:t>22-10-2025</a:t>
            </a:fld>
            <a:endParaRPr lang="en-IN"/>
          </a:p>
        </p:txBody>
      </p:sp>
      <p:sp>
        <p:nvSpPr>
          <p:cNvPr id="5" name="Footer Placeholder 4">
            <a:extLst>
              <a:ext uri="{FF2B5EF4-FFF2-40B4-BE49-F238E27FC236}">
                <a16:creationId xmlns:a16="http://schemas.microsoft.com/office/drawing/2014/main" id="{35F209B3-544D-0C5A-F359-3B15782162C8}"/>
              </a:ext>
            </a:extLst>
          </p:cNvPr>
          <p:cNvSpPr>
            <a:spLocks noGrp="1"/>
          </p:cNvSpPr>
          <p:nvPr>
            <p:ph type="ftr" sz="quarter" idx="11"/>
          </p:nvPr>
        </p:nvSpPr>
        <p:spPr/>
        <p:txBody>
          <a:bodyPr/>
          <a:lstStyle/>
          <a:p>
            <a:r>
              <a:rPr lang="en-US"/>
              <a:t>An Android App for Activity Point Submission, Categorization and Generation of Reports</a:t>
            </a:r>
            <a:endParaRPr lang="en-IN"/>
          </a:p>
        </p:txBody>
      </p:sp>
      <p:sp>
        <p:nvSpPr>
          <p:cNvPr id="6" name="Slide Number Placeholder 5">
            <a:extLst>
              <a:ext uri="{FF2B5EF4-FFF2-40B4-BE49-F238E27FC236}">
                <a16:creationId xmlns:a16="http://schemas.microsoft.com/office/drawing/2014/main" id="{E665784E-63D7-6E8B-C28D-ED9D2A84CC0E}"/>
              </a:ext>
            </a:extLst>
          </p:cNvPr>
          <p:cNvSpPr>
            <a:spLocks noGrp="1"/>
          </p:cNvSpPr>
          <p:nvPr>
            <p:ph type="sldNum" sz="quarter" idx="12"/>
          </p:nvPr>
        </p:nvSpPr>
        <p:spPr/>
        <p:txBody>
          <a:bodyPr/>
          <a:lstStyle/>
          <a:p>
            <a:fld id="{F09AFC8B-2B39-4FD9-BC35-C243DBCAD3D3}" type="slidenum">
              <a:rPr lang="en-IN" smtClean="0"/>
              <a:t>‹#›</a:t>
            </a:fld>
            <a:endParaRPr lang="en-IN"/>
          </a:p>
        </p:txBody>
      </p:sp>
    </p:spTree>
    <p:extLst>
      <p:ext uri="{BB962C8B-B14F-4D97-AF65-F5344CB8AC3E}">
        <p14:creationId xmlns:p14="http://schemas.microsoft.com/office/powerpoint/2010/main" val="449892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7FB2BE-F606-748D-8555-E9C2FBD80E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68A35FF-C585-459F-E0AF-09001309BD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57D4C-45E6-5B47-903E-360B161C0E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C93205-9160-4346-BEEF-F63F8D36B256}" type="datetime1">
              <a:rPr lang="en-IN" smtClean="0"/>
              <a:t>22-10-2025</a:t>
            </a:fld>
            <a:endParaRPr lang="en-IN"/>
          </a:p>
        </p:txBody>
      </p:sp>
      <p:sp>
        <p:nvSpPr>
          <p:cNvPr id="5" name="Footer Placeholder 4">
            <a:extLst>
              <a:ext uri="{FF2B5EF4-FFF2-40B4-BE49-F238E27FC236}">
                <a16:creationId xmlns:a16="http://schemas.microsoft.com/office/drawing/2014/main" id="{7C07DB80-88EB-0FE6-EC63-63635BFE58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An Android App for Activity Point Submission, Categorization and Generation of Reports</a:t>
            </a:r>
            <a:endParaRPr lang="en-IN"/>
          </a:p>
        </p:txBody>
      </p:sp>
      <p:sp>
        <p:nvSpPr>
          <p:cNvPr id="6" name="Slide Number Placeholder 5">
            <a:extLst>
              <a:ext uri="{FF2B5EF4-FFF2-40B4-BE49-F238E27FC236}">
                <a16:creationId xmlns:a16="http://schemas.microsoft.com/office/drawing/2014/main" id="{FE519FF7-1022-1214-D48F-2FD0F7DF22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9AFC8B-2B39-4FD9-BC35-C243DBCAD3D3}" type="slidenum">
              <a:rPr lang="en-IN" smtClean="0"/>
              <a:t>‹#›</a:t>
            </a:fld>
            <a:endParaRPr lang="en-IN"/>
          </a:p>
        </p:txBody>
      </p:sp>
    </p:spTree>
    <p:extLst>
      <p:ext uri="{BB962C8B-B14F-4D97-AF65-F5344CB8AC3E}">
        <p14:creationId xmlns:p14="http://schemas.microsoft.com/office/powerpoint/2010/main" val="2264123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E3CA8-417B-7B6C-4D13-EF77E5D577C8}"/>
              </a:ext>
            </a:extLst>
          </p:cNvPr>
          <p:cNvSpPr>
            <a:spLocks noGrp="1"/>
          </p:cNvSpPr>
          <p:nvPr>
            <p:ph type="ctrTitle"/>
          </p:nvPr>
        </p:nvSpPr>
        <p:spPr>
          <a:xfrm>
            <a:off x="534572" y="2531528"/>
            <a:ext cx="11240086" cy="1131204"/>
          </a:xfrm>
        </p:spPr>
        <p:txBody>
          <a:bodyPr>
            <a:normAutofit fontScale="90000"/>
          </a:bodyPr>
          <a:lstStyle/>
          <a:p>
            <a:r>
              <a:rPr lang="en-IN" sz="4400" b="1" dirty="0">
                <a:latin typeface="Times New Roman" panose="02020603050405020304" pitchFamily="18" charset="0"/>
                <a:cs typeface="Times New Roman" panose="02020603050405020304" pitchFamily="18" charset="0"/>
              </a:rPr>
              <a:t>Title:</a:t>
            </a:r>
            <a:br>
              <a:rPr lang="en-IN" sz="4400" b="1" dirty="0">
                <a:latin typeface="Times New Roman" panose="02020603050405020304" pitchFamily="18" charset="0"/>
                <a:cs typeface="Times New Roman" panose="02020603050405020304" pitchFamily="18" charset="0"/>
              </a:rPr>
            </a:br>
            <a:r>
              <a:rPr lang="en-IN" sz="4400" b="1" dirty="0">
                <a:latin typeface="Times New Roman" panose="02020603050405020304" pitchFamily="18" charset="0"/>
                <a:cs typeface="Times New Roman" panose="02020603050405020304" pitchFamily="18" charset="0"/>
              </a:rPr>
              <a:t>AI-powered Interview Assessment Tool</a:t>
            </a:r>
          </a:p>
        </p:txBody>
      </p:sp>
      <p:sp>
        <p:nvSpPr>
          <p:cNvPr id="3" name="Subtitle 2">
            <a:extLst>
              <a:ext uri="{FF2B5EF4-FFF2-40B4-BE49-F238E27FC236}">
                <a16:creationId xmlns:a16="http://schemas.microsoft.com/office/drawing/2014/main" id="{D32D505F-A820-BB86-6A45-5507133823F2}"/>
              </a:ext>
            </a:extLst>
          </p:cNvPr>
          <p:cNvSpPr>
            <a:spLocks noGrp="1"/>
          </p:cNvSpPr>
          <p:nvPr>
            <p:ph type="subTitle" idx="1"/>
          </p:nvPr>
        </p:nvSpPr>
        <p:spPr>
          <a:xfrm>
            <a:off x="1335386" y="4026127"/>
            <a:ext cx="11502653" cy="2490952"/>
          </a:xfrm>
        </p:spPr>
        <p:txBody>
          <a:bodyPr vert="horz" lIns="91440" tIns="45720" rIns="91440" bIns="45720" rtlCol="0" anchor="t">
            <a:normAutofit fontScale="70000" lnSpcReduction="20000"/>
          </a:bodyPr>
          <a:lstStyle/>
          <a:p>
            <a:pPr algn="l"/>
            <a:r>
              <a:rPr lang="en-IN" dirty="0">
                <a:solidFill>
                  <a:srgbClr val="C00000"/>
                </a:solidFill>
                <a:latin typeface="Times New Roman" panose="02020603050405020304" pitchFamily="18" charset="0"/>
                <a:cs typeface="Times New Roman" panose="02020603050405020304" pitchFamily="18" charset="0"/>
              </a:rPr>
              <a:t>SUPERVISOR NAME:						</a:t>
            </a:r>
            <a:r>
              <a:rPr lang="en-US" dirty="0">
                <a:solidFill>
                  <a:srgbClr val="C00000"/>
                </a:solidFill>
                <a:latin typeface="Times New Roman" panose="02020603050405020304" pitchFamily="18" charset="0"/>
                <a:cs typeface="Times New Roman" panose="02020603050405020304" pitchFamily="18" charset="0"/>
              </a:rPr>
              <a:t>Presented By,</a:t>
            </a:r>
            <a:endParaRPr lang="en-IN" dirty="0">
              <a:solidFill>
                <a:srgbClr val="C00000"/>
              </a:solidFill>
              <a:latin typeface="Times New Roman" panose="02020603050405020304" pitchFamily="18" charset="0"/>
              <a:cs typeface="Times New Roman" panose="02020603050405020304" pitchFamily="18" charset="0"/>
            </a:endParaRPr>
          </a:p>
          <a:p>
            <a:pPr algn="l"/>
            <a:r>
              <a:rPr lang="en-IN" dirty="0">
                <a:solidFill>
                  <a:srgbClr val="C00000"/>
                </a:solidFill>
                <a:latin typeface="Times New Roman" panose="02020603050405020304" pitchFamily="18" charset="0"/>
                <a:cs typeface="Times New Roman" panose="02020603050405020304" pitchFamily="18" charset="0"/>
              </a:rPr>
              <a:t>Dr. Remya R                          					</a:t>
            </a:r>
            <a:r>
              <a:rPr kumimoji="0" lang="en-IN" sz="2000" b="0"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rPr>
              <a:t>TEAM MEMBERS:</a:t>
            </a:r>
            <a:endParaRPr lang="en-IN" dirty="0">
              <a:solidFill>
                <a:srgbClr val="C00000"/>
              </a:solidFill>
              <a:latin typeface="Times New Roman" panose="02020603050405020304" pitchFamily="18" charset="0"/>
              <a:cs typeface="Times New Roman" panose="02020603050405020304" pitchFamily="18" charset="0"/>
            </a:endParaRPr>
          </a:p>
          <a:p>
            <a:pPr algn="l"/>
            <a:r>
              <a:rPr lang="en-IN" dirty="0">
                <a:solidFill>
                  <a:srgbClr val="C00000"/>
                </a:solidFill>
                <a:latin typeface="Times New Roman" panose="02020603050405020304" pitchFamily="18" charset="0"/>
                <a:cs typeface="Times New Roman" panose="02020603050405020304" pitchFamily="18" charset="0"/>
              </a:rPr>
              <a:t>Associate professor AI					</a:t>
            </a:r>
            <a:r>
              <a:rPr lang="en-IN" dirty="0">
                <a:solidFill>
                  <a:srgbClr val="002060"/>
                </a:solidFill>
                <a:latin typeface="Times New Roman" panose="02020603050405020304" pitchFamily="18" charset="0"/>
                <a:cs typeface="Times New Roman" panose="02020603050405020304" pitchFamily="18" charset="0"/>
              </a:rPr>
              <a:t>Amith Sahadevan, PRC22CA006</a:t>
            </a:r>
          </a:p>
          <a:p>
            <a:pPr algn="l"/>
            <a:r>
              <a:rPr lang="en-IN" dirty="0">
                <a:solidFill>
                  <a:srgbClr val="002060"/>
                </a:solidFill>
                <a:latin typeface="Times New Roman" panose="02020603050405020304" pitchFamily="18" charset="0"/>
                <a:cs typeface="Times New Roman" panose="02020603050405020304" pitchFamily="18" charset="0"/>
              </a:rPr>
              <a:t>							Rahul Sandesh, PRC22CA022</a:t>
            </a:r>
          </a:p>
          <a:p>
            <a:pPr algn="l"/>
            <a:r>
              <a:rPr lang="en-IN" dirty="0">
                <a:solidFill>
                  <a:srgbClr val="002060"/>
                </a:solidFill>
                <a:latin typeface="Times New Roman" panose="02020603050405020304" pitchFamily="18" charset="0"/>
                <a:cs typeface="Times New Roman" panose="02020603050405020304" pitchFamily="18" charset="0"/>
              </a:rPr>
              <a:t>							</a:t>
            </a:r>
            <a:r>
              <a:rPr lang="en-IN" dirty="0" err="1">
                <a:solidFill>
                  <a:srgbClr val="002060"/>
                </a:solidFill>
                <a:latin typeface="Times New Roman" panose="02020603050405020304" pitchFamily="18" charset="0"/>
                <a:cs typeface="Times New Roman" panose="02020603050405020304" pitchFamily="18" charset="0"/>
              </a:rPr>
              <a:t>Shesna</a:t>
            </a:r>
            <a:r>
              <a:rPr lang="en-IN" dirty="0">
                <a:solidFill>
                  <a:srgbClr val="002060"/>
                </a:solidFill>
                <a:latin typeface="Times New Roman" panose="02020603050405020304" pitchFamily="18" charset="0"/>
                <a:cs typeface="Times New Roman" panose="02020603050405020304" pitchFamily="18" charset="0"/>
              </a:rPr>
              <a:t> S, PRC22CA025</a:t>
            </a:r>
          </a:p>
          <a:p>
            <a:pPr algn="l"/>
            <a:endParaRPr lang="en-IN" dirty="0">
              <a:solidFill>
                <a:srgbClr val="002060"/>
              </a:solidFill>
              <a:latin typeface="Times New Roman" panose="02020603050405020304" pitchFamily="18" charset="0"/>
              <a:cs typeface="Times New Roman" panose="02020603050405020304" pitchFamily="18" charset="0"/>
            </a:endParaRPr>
          </a:p>
          <a:p>
            <a:pPr algn="l"/>
            <a:endParaRPr lang="en-IN" dirty="0">
              <a:solidFill>
                <a:srgbClr val="002060"/>
              </a:solidFill>
              <a:latin typeface="Times New Roman" panose="02020603050405020304" pitchFamily="18" charset="0"/>
              <a:cs typeface="Times New Roman" panose="02020603050405020304" pitchFamily="18" charset="0"/>
            </a:endParaRPr>
          </a:p>
          <a:p>
            <a:pPr algn="l"/>
            <a:r>
              <a:rPr lang="en-IN" dirty="0">
                <a:solidFill>
                  <a:srgbClr val="002060"/>
                </a:solidFill>
                <a:latin typeface="Times New Roman" panose="02020603050405020304" pitchFamily="18" charset="0"/>
                <a:cs typeface="Times New Roman" panose="02020603050405020304" pitchFamily="18" charset="0"/>
              </a:rPr>
              <a:t>Date: 22-10-2025</a:t>
            </a:r>
          </a:p>
          <a:p>
            <a:pPr algn="just"/>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93C0D27-1929-EDEE-5A5C-A0B7EB737397}"/>
              </a:ext>
            </a:extLst>
          </p:cNvPr>
          <p:cNvPicPr>
            <a:picLocks noChangeAspect="1"/>
          </p:cNvPicPr>
          <p:nvPr/>
        </p:nvPicPr>
        <p:blipFill>
          <a:blip r:embed="rId2"/>
          <a:stretch>
            <a:fillRect/>
          </a:stretch>
        </p:blipFill>
        <p:spPr>
          <a:xfrm>
            <a:off x="1058227" y="315913"/>
            <a:ext cx="2028825" cy="1428750"/>
          </a:xfrm>
          <a:prstGeom prst="rect">
            <a:avLst/>
          </a:prstGeom>
        </p:spPr>
      </p:pic>
      <p:sp>
        <p:nvSpPr>
          <p:cNvPr id="8" name="TextBox 7">
            <a:extLst>
              <a:ext uri="{FF2B5EF4-FFF2-40B4-BE49-F238E27FC236}">
                <a16:creationId xmlns:a16="http://schemas.microsoft.com/office/drawing/2014/main" id="{2EB5AA1D-E8AD-8B30-2BCE-047500EDC896}"/>
              </a:ext>
            </a:extLst>
          </p:cNvPr>
          <p:cNvSpPr txBox="1"/>
          <p:nvPr/>
        </p:nvSpPr>
        <p:spPr>
          <a:xfrm>
            <a:off x="0" y="1836739"/>
            <a:ext cx="12191999" cy="461665"/>
          </a:xfrm>
          <a:prstGeom prst="rect">
            <a:avLst/>
          </a:prstGeom>
          <a:solidFill>
            <a:srgbClr val="C00000"/>
          </a:solidFill>
        </p:spPr>
        <p:txBody>
          <a:bodyPr wrap="square" rtlCol="0">
            <a:spAutoFit/>
          </a:bodyPr>
          <a:lstStyle/>
          <a:p>
            <a:pPr algn="ctr"/>
            <a:r>
              <a:rPr lang="en-IN" sz="2400" b="1" dirty="0">
                <a:solidFill>
                  <a:srgbClr val="FFCC00"/>
                </a:solidFill>
                <a:latin typeface="Times New Roman" panose="02020603050405020304" pitchFamily="18" charset="0"/>
                <a:cs typeface="Times New Roman" panose="02020603050405020304" pitchFamily="18" charset="0"/>
              </a:rPr>
              <a:t>CSD  415  Project  Phase-1</a:t>
            </a:r>
          </a:p>
        </p:txBody>
      </p:sp>
      <p:pic>
        <p:nvPicPr>
          <p:cNvPr id="5" name="Picture 4">
            <a:extLst>
              <a:ext uri="{FF2B5EF4-FFF2-40B4-BE49-F238E27FC236}">
                <a16:creationId xmlns:a16="http://schemas.microsoft.com/office/drawing/2014/main" id="{0213F97E-315B-11FC-A13B-BBA91485B94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382792" y="340921"/>
            <a:ext cx="3080780" cy="1449779"/>
          </a:xfrm>
          <a:prstGeom prst="rect">
            <a:avLst/>
          </a:prstGeom>
        </p:spPr>
      </p:pic>
    </p:spTree>
    <p:extLst>
      <p:ext uri="{BB962C8B-B14F-4D97-AF65-F5344CB8AC3E}">
        <p14:creationId xmlns:p14="http://schemas.microsoft.com/office/powerpoint/2010/main" val="40960520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6AD7A-3685-D8E0-850C-81F34A11A731}"/>
              </a:ext>
            </a:extLst>
          </p:cNvPr>
          <p:cNvSpPr>
            <a:spLocks noGrp="1"/>
          </p:cNvSpPr>
          <p:nvPr>
            <p:ph type="title"/>
          </p:nvPr>
        </p:nvSpPr>
        <p:spPr>
          <a:xfrm>
            <a:off x="838200" y="1012557"/>
            <a:ext cx="10515600" cy="633681"/>
          </a:xfrm>
          <a:solidFill>
            <a:srgbClr val="C00000"/>
          </a:solidFill>
        </p:spPr>
        <p:txBody>
          <a:bodyPr>
            <a:normAutofit fontScale="90000"/>
          </a:bodyPr>
          <a:lstStyle/>
          <a:p>
            <a:r>
              <a:rPr lang="en-IN" b="1" dirty="0">
                <a:solidFill>
                  <a:srgbClr val="FFCC00"/>
                </a:solidFill>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8EA5CEC6-0CAD-CF94-AAF0-77AADFB82B9A}"/>
              </a:ext>
            </a:extLst>
          </p:cNvPr>
          <p:cNvSpPr>
            <a:spLocks noGrp="1"/>
          </p:cNvSpPr>
          <p:nvPr>
            <p:ph idx="1"/>
          </p:nvPr>
        </p:nvSpPr>
        <p:spPr>
          <a:xfrm>
            <a:off x="838200" y="1942729"/>
            <a:ext cx="10515600" cy="4351338"/>
          </a:xfrm>
        </p:spPr>
        <p:txBody>
          <a:bodyPr vert="horz" lIns="91440" tIns="45720" rIns="91440" bIns="45720" rtlCol="0" anchor="t">
            <a:normAutofit/>
          </a:bodyPr>
          <a:lstStyle/>
          <a:p>
            <a:pPr algn="l">
              <a:buFont typeface="Wingdings" panose="05000000000000000000" pitchFamily="2" charset="2"/>
              <a:buChar char="Ø"/>
            </a:pPr>
            <a:r>
              <a:rPr lang="en-IN" dirty="0">
                <a:latin typeface="Times New Roman" panose="02020603050405020304" pitchFamily="18" charset="0"/>
                <a:ea typeface="Calibri" panose="020F0502020204030204"/>
                <a:cs typeface="Times New Roman" panose="02020603050405020304" pitchFamily="18" charset="0"/>
              </a:rPr>
              <a:t>Introduction</a:t>
            </a:r>
          </a:p>
          <a:p>
            <a:pPr algn="l">
              <a:buFont typeface="Wingdings" panose="05000000000000000000" pitchFamily="2" charset="2"/>
              <a:buChar char="Ø"/>
            </a:pPr>
            <a:r>
              <a:rPr lang="en-IN" dirty="0">
                <a:latin typeface="Times New Roman" panose="02020603050405020304" pitchFamily="18" charset="0"/>
                <a:ea typeface="Calibri" panose="020F0502020204030204"/>
                <a:cs typeface="Times New Roman" panose="02020603050405020304" pitchFamily="18" charset="0"/>
              </a:rPr>
              <a:t>Literature Review</a:t>
            </a:r>
          </a:p>
          <a:p>
            <a:pPr algn="l">
              <a:buFont typeface="Wingdings" panose="05000000000000000000" pitchFamily="2" charset="2"/>
              <a:buChar char="Ø"/>
            </a:pPr>
            <a:r>
              <a:rPr lang="en-IN" dirty="0">
                <a:latin typeface="Times New Roman" panose="02020603050405020304" pitchFamily="18" charset="0"/>
                <a:ea typeface="Calibri" panose="020F0502020204030204"/>
                <a:cs typeface="Times New Roman" panose="02020603050405020304" pitchFamily="18" charset="0"/>
              </a:rPr>
              <a:t>Gaps Identified</a:t>
            </a:r>
          </a:p>
          <a:p>
            <a:pPr algn="l">
              <a:buFont typeface="Wingdings" panose="05000000000000000000" pitchFamily="2" charset="2"/>
              <a:buChar char="Ø"/>
            </a:pPr>
            <a:r>
              <a:rPr lang="en-US" dirty="0">
                <a:latin typeface="Times New Roman" panose="02020603050405020304" pitchFamily="18" charset="0"/>
                <a:ea typeface="Calibri" panose="020F0502020204030204"/>
                <a:cs typeface="Times New Roman" panose="02020603050405020304" pitchFamily="18" charset="0"/>
              </a:rPr>
              <a:t>Objectives </a:t>
            </a:r>
            <a:endParaRPr lang="en-IN" dirty="0">
              <a:latin typeface="Times New Roman" panose="02020603050405020304" pitchFamily="18" charset="0"/>
              <a:ea typeface="Calibri" panose="020F0502020204030204"/>
              <a:cs typeface="Times New Roman" panose="02020603050405020304" pitchFamily="18" charset="0"/>
            </a:endParaRPr>
          </a:p>
          <a:p>
            <a:pPr algn="l">
              <a:buFont typeface="Wingdings" panose="05000000000000000000" pitchFamily="2" charset="2"/>
              <a:buChar char="Ø"/>
            </a:pPr>
            <a:r>
              <a:rPr lang="en-IN" dirty="0">
                <a:latin typeface="Times New Roman" panose="02020603050405020304" pitchFamily="18" charset="0"/>
                <a:ea typeface="Calibri" panose="020F0502020204030204"/>
                <a:cs typeface="Times New Roman" panose="02020603050405020304" pitchFamily="18" charset="0"/>
              </a:rPr>
              <a:t>Proposed Methodology</a:t>
            </a:r>
          </a:p>
          <a:p>
            <a:pPr algn="l">
              <a:buFont typeface="Wingdings" panose="05000000000000000000" pitchFamily="2" charset="2"/>
              <a:buChar char="Ø"/>
            </a:pPr>
            <a:r>
              <a:rPr lang="en-IN" dirty="0">
                <a:latin typeface="Times New Roman" panose="02020603050405020304" pitchFamily="18" charset="0"/>
                <a:ea typeface="Calibri" panose="020F0502020204030204"/>
                <a:cs typeface="Times New Roman" panose="02020603050405020304" pitchFamily="18" charset="0"/>
              </a:rPr>
              <a:t>Results And Discussion</a:t>
            </a:r>
          </a:p>
          <a:p>
            <a:pPr algn="l">
              <a:buFont typeface="Wingdings" panose="05000000000000000000" pitchFamily="2" charset="2"/>
              <a:buChar char="Ø"/>
            </a:pPr>
            <a:r>
              <a:rPr lang="en-IN" dirty="0">
                <a:latin typeface="Times New Roman" panose="02020603050405020304" pitchFamily="18" charset="0"/>
                <a:ea typeface="Calibri" panose="020F0502020204030204"/>
                <a:cs typeface="Times New Roman" panose="02020603050405020304" pitchFamily="18" charset="0"/>
              </a:rPr>
              <a:t>Conclusion</a:t>
            </a:r>
          </a:p>
          <a:p>
            <a:pPr algn="l">
              <a:buFont typeface="Wingdings" panose="05000000000000000000" pitchFamily="2" charset="2"/>
              <a:buChar char="Ø"/>
            </a:pPr>
            <a:r>
              <a:rPr lang="en-IN" dirty="0">
                <a:latin typeface="Times New Roman" panose="02020603050405020304" pitchFamily="18" charset="0"/>
                <a:ea typeface="Calibri" panose="020F0502020204030204"/>
                <a:cs typeface="Times New Roman" panose="02020603050405020304" pitchFamily="18" charset="0"/>
              </a:rPr>
              <a:t>References</a:t>
            </a:r>
          </a:p>
        </p:txBody>
      </p:sp>
      <p:sp>
        <p:nvSpPr>
          <p:cNvPr id="5" name="Slide Number Placeholder 4">
            <a:extLst>
              <a:ext uri="{FF2B5EF4-FFF2-40B4-BE49-F238E27FC236}">
                <a16:creationId xmlns:a16="http://schemas.microsoft.com/office/drawing/2014/main" id="{3AB07D01-C55D-48BB-8D5D-F5CE31036138}"/>
              </a:ext>
            </a:extLst>
          </p:cNvPr>
          <p:cNvSpPr>
            <a:spLocks noGrp="1"/>
          </p:cNvSpPr>
          <p:nvPr>
            <p:ph type="sldNum" sz="quarter" idx="12"/>
          </p:nvPr>
        </p:nvSpPr>
        <p:spPr/>
        <p:txBody>
          <a:bodyPr/>
          <a:lstStyle/>
          <a:p>
            <a:fld id="{F09AFC8B-2B39-4FD9-BC35-C243DBCAD3D3}" type="slidenum">
              <a:rPr lang="en-IN" smtClean="0"/>
              <a:t>2</a:t>
            </a:fld>
            <a:endParaRPr lang="en-IN" dirty="0"/>
          </a:p>
        </p:txBody>
      </p:sp>
      <p:pic>
        <p:nvPicPr>
          <p:cNvPr id="7" name="Picture 6">
            <a:extLst>
              <a:ext uri="{FF2B5EF4-FFF2-40B4-BE49-F238E27FC236}">
                <a16:creationId xmlns:a16="http://schemas.microsoft.com/office/drawing/2014/main" id="{4E3D6339-25D1-0216-FC44-70AF8B26D35D}"/>
              </a:ext>
            </a:extLst>
          </p:cNvPr>
          <p:cNvPicPr>
            <a:picLocks noChangeAspect="1"/>
          </p:cNvPicPr>
          <p:nvPr/>
        </p:nvPicPr>
        <p:blipFill>
          <a:blip r:embed="rId2"/>
          <a:stretch>
            <a:fillRect/>
          </a:stretch>
        </p:blipFill>
        <p:spPr>
          <a:xfrm>
            <a:off x="10175264" y="92908"/>
            <a:ext cx="1178536" cy="829955"/>
          </a:xfrm>
          <a:prstGeom prst="rect">
            <a:avLst/>
          </a:prstGeom>
        </p:spPr>
      </p:pic>
      <p:pic>
        <p:nvPicPr>
          <p:cNvPr id="10" name="Picture 9">
            <a:extLst>
              <a:ext uri="{FF2B5EF4-FFF2-40B4-BE49-F238E27FC236}">
                <a16:creationId xmlns:a16="http://schemas.microsoft.com/office/drawing/2014/main" id="{B042A316-5D53-71D8-4A13-4D58092A9EA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4" name="Footer Placeholder 3">
            <a:extLst>
              <a:ext uri="{FF2B5EF4-FFF2-40B4-BE49-F238E27FC236}">
                <a16:creationId xmlns:a16="http://schemas.microsoft.com/office/drawing/2014/main" id="{A43A4944-547D-FF76-B916-006D34A86D36}"/>
              </a:ext>
            </a:extLst>
          </p:cNvPr>
          <p:cNvSpPr>
            <a:spLocks noGrp="1"/>
          </p:cNvSpPr>
          <p:nvPr>
            <p:ph type="ftr" sz="quarter" idx="11"/>
          </p:nvPr>
        </p:nvSpPr>
        <p:spPr/>
        <p:txBody>
          <a:bodyPr/>
          <a:lstStyle/>
          <a:p>
            <a:r>
              <a:rPr lang="en-US" dirty="0"/>
              <a:t>AI-powered Interview Assessment Tool</a:t>
            </a:r>
            <a:endParaRPr lang="en-IN" dirty="0"/>
          </a:p>
        </p:txBody>
      </p:sp>
    </p:spTree>
    <p:extLst>
      <p:ext uri="{BB962C8B-B14F-4D97-AF65-F5344CB8AC3E}">
        <p14:creationId xmlns:p14="http://schemas.microsoft.com/office/powerpoint/2010/main" val="2826666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6AD7A-3685-D8E0-850C-81F34A11A731}"/>
              </a:ext>
            </a:extLst>
          </p:cNvPr>
          <p:cNvSpPr>
            <a:spLocks noGrp="1"/>
          </p:cNvSpPr>
          <p:nvPr>
            <p:ph type="title"/>
          </p:nvPr>
        </p:nvSpPr>
        <p:spPr>
          <a:xfrm>
            <a:off x="838200" y="1012557"/>
            <a:ext cx="10515600" cy="633681"/>
          </a:xfrm>
          <a:solidFill>
            <a:srgbClr val="C00000"/>
          </a:solidFill>
        </p:spPr>
        <p:txBody>
          <a:bodyPr>
            <a:normAutofit fontScale="90000"/>
          </a:bodyPr>
          <a:lstStyle/>
          <a:p>
            <a:r>
              <a:rPr lang="en-IN" b="1" dirty="0">
                <a:solidFill>
                  <a:srgbClr val="FFCC00"/>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8EA5CEC6-0CAD-CF94-AAF0-77AADFB82B9A}"/>
              </a:ext>
            </a:extLst>
          </p:cNvPr>
          <p:cNvSpPr>
            <a:spLocks noGrp="1"/>
          </p:cNvSpPr>
          <p:nvPr>
            <p:ph idx="1"/>
          </p:nvPr>
        </p:nvSpPr>
        <p:spPr>
          <a:xfrm>
            <a:off x="838200" y="1942729"/>
            <a:ext cx="10515600" cy="4351338"/>
          </a:xfrm>
        </p:spPr>
        <p:txBody>
          <a:bodyPr vert="horz" lIns="91440" tIns="45720" rIns="91440" bIns="45720" rtlCol="0" anchor="t">
            <a:normAutofit/>
          </a:bodyPr>
          <a:lstStyle/>
          <a:p>
            <a:pPr algn="just">
              <a:buFont typeface="Wingdings" panose="05000000000000000000" pitchFamily="2" charset="2"/>
              <a:buChar char="Ø"/>
            </a:pPr>
            <a:r>
              <a:rPr lang="en-US" dirty="0">
                <a:latin typeface="Times New Roman" panose="02020603050405020304" pitchFamily="18" charset="0"/>
                <a:ea typeface="Calibri" panose="020F0502020204030204"/>
                <a:cs typeface="Times New Roman" panose="02020603050405020304" pitchFamily="18" charset="0"/>
              </a:rPr>
              <a:t>Background: High application volumes make traditional recruitment screening slow and expensive. Consequently, the HR industry is turning to Artificial Intelligence to drive efficiency and gain a competitive advantage.</a:t>
            </a:r>
          </a:p>
          <a:p>
            <a:pPr algn="just">
              <a:buFont typeface="Wingdings" panose="05000000000000000000" pitchFamily="2" charset="2"/>
              <a:buChar char="Ø"/>
            </a:pPr>
            <a:endParaRPr lang="en-US" dirty="0">
              <a:latin typeface="Times New Roman" panose="02020603050405020304" pitchFamily="18" charset="0"/>
              <a:ea typeface="Calibri" panose="020F0502020204030204"/>
              <a:cs typeface="Times New Roman" panose="02020603050405020304" pitchFamily="18" charset="0"/>
            </a:endParaRPr>
          </a:p>
          <a:p>
            <a:pPr algn="just">
              <a:buFont typeface="Wingdings" panose="05000000000000000000" pitchFamily="2" charset="2"/>
              <a:buChar char="Ø"/>
            </a:pPr>
            <a:r>
              <a:rPr lang="en-US" dirty="0">
                <a:latin typeface="Times New Roman" panose="02020603050405020304" pitchFamily="18" charset="0"/>
                <a:ea typeface="Calibri" panose="020F0502020204030204"/>
                <a:cs typeface="Times New Roman" panose="02020603050405020304" pitchFamily="18" charset="0"/>
              </a:rPr>
              <a:t>Existing System: </a:t>
            </a:r>
            <a:r>
              <a:rPr lang="en-US" dirty="0"/>
              <a:t>Traditional methods like resume reviews only assess technical skills, completely missing crucial soft skills and professional demeanor.</a:t>
            </a:r>
            <a:endParaRPr lang="en-US" dirty="0">
              <a:latin typeface="Times New Roman" panose="02020603050405020304" pitchFamily="18" charset="0"/>
              <a:ea typeface="Calibri" panose="020F0502020204030204"/>
              <a:cs typeface="Times New Roman" panose="02020603050405020304" pitchFamily="18" charset="0"/>
            </a:endParaRPr>
          </a:p>
        </p:txBody>
      </p:sp>
      <p:sp>
        <p:nvSpPr>
          <p:cNvPr id="5" name="Slide Number Placeholder 4">
            <a:extLst>
              <a:ext uri="{FF2B5EF4-FFF2-40B4-BE49-F238E27FC236}">
                <a16:creationId xmlns:a16="http://schemas.microsoft.com/office/drawing/2014/main" id="{3AB07D01-C55D-48BB-8D5D-F5CE31036138}"/>
              </a:ext>
            </a:extLst>
          </p:cNvPr>
          <p:cNvSpPr>
            <a:spLocks noGrp="1"/>
          </p:cNvSpPr>
          <p:nvPr>
            <p:ph type="sldNum" sz="quarter" idx="12"/>
          </p:nvPr>
        </p:nvSpPr>
        <p:spPr/>
        <p:txBody>
          <a:bodyPr/>
          <a:lstStyle/>
          <a:p>
            <a:fld id="{F09AFC8B-2B39-4FD9-BC35-C243DBCAD3D3}" type="slidenum">
              <a:rPr lang="en-IN" smtClean="0"/>
              <a:t>3</a:t>
            </a:fld>
            <a:endParaRPr lang="en-IN"/>
          </a:p>
        </p:txBody>
      </p:sp>
      <p:pic>
        <p:nvPicPr>
          <p:cNvPr id="7" name="Picture 6">
            <a:extLst>
              <a:ext uri="{FF2B5EF4-FFF2-40B4-BE49-F238E27FC236}">
                <a16:creationId xmlns:a16="http://schemas.microsoft.com/office/drawing/2014/main" id="{4E3D6339-25D1-0216-FC44-70AF8B26D35D}"/>
              </a:ext>
            </a:extLst>
          </p:cNvPr>
          <p:cNvPicPr>
            <a:picLocks noChangeAspect="1"/>
          </p:cNvPicPr>
          <p:nvPr/>
        </p:nvPicPr>
        <p:blipFill>
          <a:blip r:embed="rId2"/>
          <a:stretch>
            <a:fillRect/>
          </a:stretch>
        </p:blipFill>
        <p:spPr>
          <a:xfrm>
            <a:off x="10175264" y="92908"/>
            <a:ext cx="1178536" cy="829955"/>
          </a:xfrm>
          <a:prstGeom prst="rect">
            <a:avLst/>
          </a:prstGeom>
        </p:spPr>
      </p:pic>
      <p:pic>
        <p:nvPicPr>
          <p:cNvPr id="10" name="Picture 9">
            <a:extLst>
              <a:ext uri="{FF2B5EF4-FFF2-40B4-BE49-F238E27FC236}">
                <a16:creationId xmlns:a16="http://schemas.microsoft.com/office/drawing/2014/main" id="{B042A316-5D53-71D8-4A13-4D58092A9EA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4" name="Footer Placeholder 3">
            <a:extLst>
              <a:ext uri="{FF2B5EF4-FFF2-40B4-BE49-F238E27FC236}">
                <a16:creationId xmlns:a16="http://schemas.microsoft.com/office/drawing/2014/main" id="{A43A4944-547D-FF76-B916-006D34A86D36}"/>
              </a:ext>
            </a:extLst>
          </p:cNvPr>
          <p:cNvSpPr>
            <a:spLocks noGrp="1"/>
          </p:cNvSpPr>
          <p:nvPr>
            <p:ph type="ftr" sz="quarter" idx="11"/>
          </p:nvPr>
        </p:nvSpPr>
        <p:spPr/>
        <p:txBody>
          <a:bodyPr/>
          <a:lstStyle/>
          <a:p>
            <a:r>
              <a:rPr lang="en-US" dirty="0"/>
              <a:t>AI-powered Interview Assessment Tool</a:t>
            </a:r>
            <a:endParaRPr lang="en-IN" dirty="0"/>
          </a:p>
        </p:txBody>
      </p:sp>
    </p:spTree>
    <p:extLst>
      <p:ext uri="{BB962C8B-B14F-4D97-AF65-F5344CB8AC3E}">
        <p14:creationId xmlns:p14="http://schemas.microsoft.com/office/powerpoint/2010/main" val="319706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6AD7A-3685-D8E0-850C-81F34A11A731}"/>
              </a:ext>
            </a:extLst>
          </p:cNvPr>
          <p:cNvSpPr>
            <a:spLocks noGrp="1"/>
          </p:cNvSpPr>
          <p:nvPr>
            <p:ph type="title"/>
          </p:nvPr>
        </p:nvSpPr>
        <p:spPr>
          <a:xfrm>
            <a:off x="842704" y="1012557"/>
            <a:ext cx="10515600" cy="633681"/>
          </a:xfrm>
          <a:solidFill>
            <a:srgbClr val="C00000"/>
          </a:solidFill>
        </p:spPr>
        <p:txBody>
          <a:bodyPr>
            <a:normAutofit fontScale="90000"/>
          </a:bodyPr>
          <a:lstStyle/>
          <a:p>
            <a:r>
              <a:rPr lang="en-IN" b="1" dirty="0">
                <a:solidFill>
                  <a:srgbClr val="FFCC00"/>
                </a:solidFill>
                <a:latin typeface="Times New Roman" panose="02020603050405020304" pitchFamily="18" charset="0"/>
                <a:cs typeface="Times New Roman" panose="02020603050405020304" pitchFamily="18" charset="0"/>
              </a:rPr>
              <a:t>INTRODUCTION  </a:t>
            </a:r>
          </a:p>
        </p:txBody>
      </p:sp>
      <p:sp>
        <p:nvSpPr>
          <p:cNvPr id="3" name="Content Placeholder 2">
            <a:extLst>
              <a:ext uri="{FF2B5EF4-FFF2-40B4-BE49-F238E27FC236}">
                <a16:creationId xmlns:a16="http://schemas.microsoft.com/office/drawing/2014/main" id="{8EA5CEC6-0CAD-CF94-AAF0-77AADFB82B9A}"/>
              </a:ext>
            </a:extLst>
          </p:cNvPr>
          <p:cNvSpPr>
            <a:spLocks noGrp="1"/>
          </p:cNvSpPr>
          <p:nvPr>
            <p:ph idx="1"/>
          </p:nvPr>
        </p:nvSpPr>
        <p:spPr>
          <a:xfrm>
            <a:off x="838200" y="2187574"/>
            <a:ext cx="10515600" cy="4351338"/>
          </a:xfrm>
        </p:spPr>
        <p:txBody>
          <a:bodyPr vert="horz" lIns="91440" tIns="45720" rIns="91440" bIns="45720" rtlCol="0" anchor="t">
            <a:normAutofit/>
          </a:bodyPr>
          <a:lstStyle/>
          <a:p>
            <a:pPr algn="just">
              <a:buFont typeface="Wingdings" panose="05000000000000000000" pitchFamily="2" charset="2"/>
              <a:buChar char="Ø"/>
            </a:pPr>
            <a:r>
              <a:rPr lang="en-US" dirty="0">
                <a:latin typeface="Times New Roman" panose="02020603050405020304" pitchFamily="18" charset="0"/>
                <a:ea typeface="Calibri"/>
                <a:cs typeface="Times New Roman" panose="02020603050405020304" pitchFamily="18" charset="0"/>
              </a:rPr>
              <a:t>Concept: </a:t>
            </a:r>
            <a:r>
              <a:rPr lang="en-US" dirty="0"/>
              <a:t>Our project creates an intelligent tool to provide a deep, objective analysis of a candidate's total communication skills.</a:t>
            </a:r>
            <a:endParaRPr lang="en-US" dirty="0">
              <a:latin typeface="Times New Roman" panose="02020603050405020304" pitchFamily="18" charset="0"/>
              <a:ea typeface="Calibri"/>
              <a:cs typeface="Times New Roman" panose="02020603050405020304" pitchFamily="18" charset="0"/>
            </a:endParaRPr>
          </a:p>
        </p:txBody>
      </p:sp>
      <p:sp>
        <p:nvSpPr>
          <p:cNvPr id="5" name="Slide Number Placeholder 4">
            <a:extLst>
              <a:ext uri="{FF2B5EF4-FFF2-40B4-BE49-F238E27FC236}">
                <a16:creationId xmlns:a16="http://schemas.microsoft.com/office/drawing/2014/main" id="{3AB07D01-C55D-48BB-8D5D-F5CE31036138}"/>
              </a:ext>
            </a:extLst>
          </p:cNvPr>
          <p:cNvSpPr>
            <a:spLocks noGrp="1"/>
          </p:cNvSpPr>
          <p:nvPr>
            <p:ph type="sldNum" sz="quarter" idx="12"/>
          </p:nvPr>
        </p:nvSpPr>
        <p:spPr/>
        <p:txBody>
          <a:bodyPr/>
          <a:lstStyle/>
          <a:p>
            <a:fld id="{F09AFC8B-2B39-4FD9-BC35-C243DBCAD3D3}" type="slidenum">
              <a:rPr lang="en-IN" smtClean="0"/>
              <a:t>4</a:t>
            </a:fld>
            <a:endParaRPr lang="en-IN" dirty="0"/>
          </a:p>
        </p:txBody>
      </p:sp>
      <p:pic>
        <p:nvPicPr>
          <p:cNvPr id="7" name="Picture 6">
            <a:extLst>
              <a:ext uri="{FF2B5EF4-FFF2-40B4-BE49-F238E27FC236}">
                <a16:creationId xmlns:a16="http://schemas.microsoft.com/office/drawing/2014/main" id="{4E3D6339-25D1-0216-FC44-70AF8B26D35D}"/>
              </a:ext>
            </a:extLst>
          </p:cNvPr>
          <p:cNvPicPr>
            <a:picLocks noChangeAspect="1"/>
          </p:cNvPicPr>
          <p:nvPr/>
        </p:nvPicPr>
        <p:blipFill>
          <a:blip r:embed="rId2"/>
          <a:stretch>
            <a:fillRect/>
          </a:stretch>
        </p:blipFill>
        <p:spPr>
          <a:xfrm>
            <a:off x="10175264" y="92908"/>
            <a:ext cx="1178536" cy="829955"/>
          </a:xfrm>
          <a:prstGeom prst="rect">
            <a:avLst/>
          </a:prstGeom>
        </p:spPr>
      </p:pic>
      <p:pic>
        <p:nvPicPr>
          <p:cNvPr id="10" name="Picture 9">
            <a:extLst>
              <a:ext uri="{FF2B5EF4-FFF2-40B4-BE49-F238E27FC236}">
                <a16:creationId xmlns:a16="http://schemas.microsoft.com/office/drawing/2014/main" id="{B042A316-5D53-71D8-4A13-4D58092A9EA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4" name="Footer Placeholder 3">
            <a:extLst>
              <a:ext uri="{FF2B5EF4-FFF2-40B4-BE49-F238E27FC236}">
                <a16:creationId xmlns:a16="http://schemas.microsoft.com/office/drawing/2014/main" id="{E1A09F4F-2027-DE45-DEF5-8C3A067332AA}"/>
              </a:ext>
            </a:extLst>
          </p:cNvPr>
          <p:cNvSpPr>
            <a:spLocks noGrp="1"/>
          </p:cNvSpPr>
          <p:nvPr>
            <p:ph type="ftr" sz="quarter" idx="11"/>
          </p:nvPr>
        </p:nvSpPr>
        <p:spPr/>
        <p:txBody>
          <a:bodyPr/>
          <a:lstStyle/>
          <a:p>
            <a:r>
              <a:rPr lang="en-US" dirty="0"/>
              <a:t>AI-powered Interview Assessment Tool</a:t>
            </a:r>
            <a:endParaRPr lang="en-IN" dirty="0"/>
          </a:p>
        </p:txBody>
      </p:sp>
    </p:spTree>
    <p:extLst>
      <p:ext uri="{BB962C8B-B14F-4D97-AF65-F5344CB8AC3E}">
        <p14:creationId xmlns:p14="http://schemas.microsoft.com/office/powerpoint/2010/main" val="1287695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6AD7A-3685-D8E0-850C-81F34A11A731}"/>
              </a:ext>
            </a:extLst>
          </p:cNvPr>
          <p:cNvSpPr>
            <a:spLocks noGrp="1"/>
          </p:cNvSpPr>
          <p:nvPr>
            <p:ph type="title"/>
          </p:nvPr>
        </p:nvSpPr>
        <p:spPr>
          <a:xfrm>
            <a:off x="838200" y="1012557"/>
            <a:ext cx="10515600" cy="633681"/>
          </a:xfrm>
          <a:solidFill>
            <a:srgbClr val="C00000"/>
          </a:solidFill>
        </p:spPr>
        <p:txBody>
          <a:bodyPr>
            <a:normAutofit fontScale="90000"/>
          </a:bodyPr>
          <a:lstStyle/>
          <a:p>
            <a:r>
              <a:rPr lang="en-IN" b="1" dirty="0">
                <a:solidFill>
                  <a:srgbClr val="FFCC00"/>
                </a:solidFill>
                <a:latin typeface="Times New Roman" panose="02020603050405020304" pitchFamily="18" charset="0"/>
                <a:cs typeface="Times New Roman" panose="02020603050405020304" pitchFamily="18" charset="0"/>
              </a:rPr>
              <a:t>LITERATURE SURVEY SUMMARY</a:t>
            </a:r>
          </a:p>
        </p:txBody>
      </p:sp>
      <p:sp>
        <p:nvSpPr>
          <p:cNvPr id="5" name="Slide Number Placeholder 4">
            <a:extLst>
              <a:ext uri="{FF2B5EF4-FFF2-40B4-BE49-F238E27FC236}">
                <a16:creationId xmlns:a16="http://schemas.microsoft.com/office/drawing/2014/main" id="{3AB07D01-C55D-48BB-8D5D-F5CE3103613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9AFC8B-2B39-4FD9-BC35-C243DBCAD3D3}"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4E3D6339-25D1-0216-FC44-70AF8B26D35D}"/>
              </a:ext>
            </a:extLst>
          </p:cNvPr>
          <p:cNvPicPr>
            <a:picLocks noChangeAspect="1"/>
          </p:cNvPicPr>
          <p:nvPr/>
        </p:nvPicPr>
        <p:blipFill>
          <a:blip r:embed="rId2"/>
          <a:stretch>
            <a:fillRect/>
          </a:stretch>
        </p:blipFill>
        <p:spPr>
          <a:xfrm>
            <a:off x="10175264" y="92908"/>
            <a:ext cx="1178536" cy="829955"/>
          </a:xfrm>
          <a:prstGeom prst="rect">
            <a:avLst/>
          </a:prstGeom>
        </p:spPr>
      </p:pic>
      <p:graphicFrame>
        <p:nvGraphicFramePr>
          <p:cNvPr id="6" name="Table 7">
            <a:extLst>
              <a:ext uri="{FF2B5EF4-FFF2-40B4-BE49-F238E27FC236}">
                <a16:creationId xmlns:a16="http://schemas.microsoft.com/office/drawing/2014/main" id="{B2536DF2-0EA3-1115-D436-ED69B4E05BC3}"/>
              </a:ext>
            </a:extLst>
          </p:cNvPr>
          <p:cNvGraphicFramePr>
            <a:graphicFrameLocks noGrp="1"/>
          </p:cNvGraphicFramePr>
          <p:nvPr>
            <p:extLst>
              <p:ext uri="{D42A27DB-BD31-4B8C-83A1-F6EECF244321}">
                <p14:modId xmlns:p14="http://schemas.microsoft.com/office/powerpoint/2010/main" val="372640115"/>
              </p:ext>
            </p:extLst>
          </p:nvPr>
        </p:nvGraphicFramePr>
        <p:xfrm>
          <a:off x="838200" y="1737359"/>
          <a:ext cx="10515599" cy="4572000"/>
        </p:xfrm>
        <a:graphic>
          <a:graphicData uri="http://schemas.openxmlformats.org/drawingml/2006/table">
            <a:tbl>
              <a:tblPr firstRow="1" bandRow="1">
                <a:tableStyleId>{073A0DAA-6AF3-43AB-8588-CEC1D06C72B9}</a:tableStyleId>
              </a:tblPr>
              <a:tblGrid>
                <a:gridCol w="2212134">
                  <a:extLst>
                    <a:ext uri="{9D8B030D-6E8A-4147-A177-3AD203B41FA5}">
                      <a16:colId xmlns:a16="http://schemas.microsoft.com/office/drawing/2014/main" val="3699260733"/>
                    </a:ext>
                  </a:extLst>
                </a:gridCol>
                <a:gridCol w="2212134">
                  <a:extLst>
                    <a:ext uri="{9D8B030D-6E8A-4147-A177-3AD203B41FA5}">
                      <a16:colId xmlns:a16="http://schemas.microsoft.com/office/drawing/2014/main" val="2708841905"/>
                    </a:ext>
                  </a:extLst>
                </a:gridCol>
                <a:gridCol w="2240449">
                  <a:extLst>
                    <a:ext uri="{9D8B030D-6E8A-4147-A177-3AD203B41FA5}">
                      <a16:colId xmlns:a16="http://schemas.microsoft.com/office/drawing/2014/main" val="2437228671"/>
                    </a:ext>
                  </a:extLst>
                </a:gridCol>
                <a:gridCol w="1889339">
                  <a:extLst>
                    <a:ext uri="{9D8B030D-6E8A-4147-A177-3AD203B41FA5}">
                      <a16:colId xmlns:a16="http://schemas.microsoft.com/office/drawing/2014/main" val="1433027226"/>
                    </a:ext>
                  </a:extLst>
                </a:gridCol>
                <a:gridCol w="1961543">
                  <a:extLst>
                    <a:ext uri="{9D8B030D-6E8A-4147-A177-3AD203B41FA5}">
                      <a16:colId xmlns:a16="http://schemas.microsoft.com/office/drawing/2014/main" val="1227002840"/>
                    </a:ext>
                  </a:extLst>
                </a:gridCol>
              </a:tblGrid>
              <a:tr h="784988">
                <a:tc>
                  <a:txBody>
                    <a:bodyPr/>
                    <a:lstStyle/>
                    <a:p>
                      <a:r>
                        <a:rPr lang="en-IN" dirty="0">
                          <a:solidFill>
                            <a:schemeClr val="tx1"/>
                          </a:solidFill>
                          <a:latin typeface="Times New Roman" panose="02020603050405020304" pitchFamily="18" charset="0"/>
                          <a:cs typeface="Times New Roman" panose="02020603050405020304" pitchFamily="18" charset="0"/>
                        </a:rPr>
                        <a:t>Title</a:t>
                      </a:r>
                    </a:p>
                  </a:txBody>
                  <a:tcPr>
                    <a:solidFill>
                      <a:schemeClr val="accent2">
                        <a:lumMod val="20000"/>
                        <a:lumOff val="80000"/>
                      </a:schemeClr>
                    </a:solidFill>
                  </a:tcPr>
                </a:tc>
                <a:tc>
                  <a:txBody>
                    <a:bodyPr/>
                    <a:lstStyle/>
                    <a:p>
                      <a:r>
                        <a:rPr lang="en-IN" dirty="0">
                          <a:solidFill>
                            <a:schemeClr val="tx1"/>
                          </a:solidFill>
                          <a:latin typeface="Times New Roman" panose="02020603050405020304" pitchFamily="18" charset="0"/>
                          <a:cs typeface="Times New Roman" panose="02020603050405020304" pitchFamily="18" charset="0"/>
                        </a:rPr>
                        <a:t>Author name &amp; Year</a:t>
                      </a:r>
                    </a:p>
                  </a:txBody>
                  <a:tcPr>
                    <a:solidFill>
                      <a:schemeClr val="accent2">
                        <a:lumMod val="20000"/>
                        <a:lumOff val="80000"/>
                      </a:schemeClr>
                    </a:solidFill>
                  </a:tcPr>
                </a:tc>
                <a:tc>
                  <a:txBody>
                    <a:bodyPr/>
                    <a:lstStyle/>
                    <a:p>
                      <a:r>
                        <a:rPr lang="en-IN" dirty="0">
                          <a:solidFill>
                            <a:schemeClr val="tx1"/>
                          </a:solidFill>
                          <a:latin typeface="Times New Roman" panose="02020603050405020304" pitchFamily="18" charset="0"/>
                          <a:cs typeface="Times New Roman" panose="02020603050405020304" pitchFamily="18" charset="0"/>
                        </a:rPr>
                        <a:t>Methodology Used</a:t>
                      </a:r>
                    </a:p>
                  </a:txBody>
                  <a:tcPr>
                    <a:solidFill>
                      <a:schemeClr val="accent2">
                        <a:lumMod val="20000"/>
                        <a:lumOff val="80000"/>
                      </a:schemeClr>
                    </a:solidFill>
                  </a:tcPr>
                </a:tc>
                <a:tc>
                  <a:txBody>
                    <a:bodyPr/>
                    <a:lstStyle/>
                    <a:p>
                      <a:r>
                        <a:rPr lang="en-IN" dirty="0">
                          <a:solidFill>
                            <a:schemeClr val="tx1"/>
                          </a:solidFill>
                          <a:latin typeface="Times New Roman" panose="02020603050405020304" pitchFamily="18" charset="0"/>
                          <a:cs typeface="Times New Roman" panose="02020603050405020304" pitchFamily="18" charset="0"/>
                        </a:rPr>
                        <a:t>Advantages</a:t>
                      </a:r>
                    </a:p>
                  </a:txBody>
                  <a:tcP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solidFill>
                            <a:schemeClr val="tx1"/>
                          </a:solidFill>
                          <a:latin typeface="Times New Roman" panose="02020603050405020304" pitchFamily="18" charset="0"/>
                          <a:cs typeface="Times New Roman" panose="02020603050405020304" pitchFamily="18" charset="0"/>
                        </a:rPr>
                        <a:t>Remarks/</a:t>
                      </a:r>
                      <a:r>
                        <a:rPr lang="en-US" dirty="0">
                          <a:solidFill>
                            <a:schemeClr val="tx1"/>
                          </a:solidFill>
                          <a:latin typeface="Times New Roman" panose="02020603050405020304" pitchFamily="18" charset="0"/>
                          <a:cs typeface="Times New Roman" panose="02020603050405020304" pitchFamily="18" charset="0"/>
                        </a:rPr>
                        <a:t> </a:t>
                      </a:r>
                      <a:r>
                        <a:rPr lang="en-IN" dirty="0">
                          <a:solidFill>
                            <a:schemeClr val="tx1"/>
                          </a:solidFill>
                          <a:latin typeface="Times New Roman" panose="02020603050405020304" pitchFamily="18" charset="0"/>
                          <a:cs typeface="Times New Roman" panose="02020603050405020304" pitchFamily="18" charset="0"/>
                        </a:rPr>
                        <a:t>Disadvantages</a:t>
                      </a:r>
                    </a:p>
                    <a:p>
                      <a:endParaRPr lang="en-IN" dirty="0">
                        <a:solidFill>
                          <a:schemeClr val="tx1"/>
                        </a:solidFill>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extLst>
                  <a:ext uri="{0D108BD9-81ED-4DB2-BD59-A6C34878D82A}">
                    <a16:rowId xmlns:a16="http://schemas.microsoft.com/office/drawing/2014/main" val="3723201228"/>
                  </a:ext>
                </a:extLst>
              </a:tr>
              <a:tr h="1515903">
                <a:tc>
                  <a:txBody>
                    <a:bodyPr/>
                    <a:lstStyle/>
                    <a:p>
                      <a:r>
                        <a:rPr lang="en-US" sz="1200" dirty="0">
                          <a:latin typeface="Times New Roman" panose="02020603050405020304" pitchFamily="18" charset="0"/>
                          <a:cs typeface="Times New Roman" panose="02020603050405020304" pitchFamily="18" charset="0"/>
                        </a:rPr>
                        <a:t>AI Based Interview Evaluator: An Emotion and Confidence Classifier </a:t>
                      </a:r>
                      <a:endParaRPr lang="en-IN" sz="1200" dirty="0">
                        <a:latin typeface="Times New Roman" panose="02020603050405020304" pitchFamily="18" charset="0"/>
                        <a:cs typeface="Times New Roman" panose="02020603050405020304" pitchFamily="18" charset="0"/>
                      </a:endParaRPr>
                    </a:p>
                  </a:txBody>
                  <a:tcPr/>
                </a:tc>
                <a:tc>
                  <a:txBody>
                    <a:bodyPr/>
                    <a:lstStyle/>
                    <a:p>
                      <a:r>
                        <a:rPr lang="pt-BR" sz="1200" dirty="0">
                          <a:latin typeface="Times New Roman" panose="02020603050405020304" pitchFamily="18" charset="0"/>
                          <a:cs typeface="Times New Roman" panose="02020603050405020304" pitchFamily="18" charset="0"/>
                        </a:rPr>
                        <a:t>Mrs. Navya S Rai, Abhiram K R, Adithya P, Hrithik N R (2024) </a:t>
                      </a:r>
                      <a:endParaRPr lang="en-IN" sz="1200" dirty="0">
                        <a:latin typeface="Times New Roman" panose="02020603050405020304" pitchFamily="18" charset="0"/>
                        <a:cs typeface="Times New Roman" panose="02020603050405020304" pitchFamily="18" charset="0"/>
                      </a:endParaRPr>
                    </a:p>
                  </a:txBody>
                  <a:tcPr/>
                </a:tc>
                <a:tc>
                  <a:txBody>
                    <a:bodyPr/>
                    <a:lstStyle/>
                    <a:p>
                      <a:pPr marL="171450" indent="-171450" algn="l">
                        <a:buFont typeface="Arial" panose="020B0604020202020204" pitchFamily="34" charset="0"/>
                        <a:buChar char="•"/>
                      </a:pPr>
                      <a:r>
                        <a:rPr lang="en-US" sz="1200" b="1" dirty="0" err="1">
                          <a:latin typeface="Times New Roman" panose="02020603050405020304" pitchFamily="18" charset="0"/>
                          <a:cs typeface="Times New Roman" panose="02020603050405020304" pitchFamily="18" charset="0"/>
                        </a:rPr>
                        <a:t>Deepface</a:t>
                      </a:r>
                      <a:r>
                        <a:rPr lang="en-US" sz="1200" b="1" dirty="0">
                          <a:latin typeface="Times New Roman" panose="02020603050405020304" pitchFamily="18" charset="0"/>
                          <a:cs typeface="Times New Roman" panose="02020603050405020304" pitchFamily="18" charset="0"/>
                        </a:rPr>
                        <a:t> and Haar Cascade models</a:t>
                      </a:r>
                      <a:r>
                        <a:rPr lang="en-US" sz="1200" dirty="0">
                          <a:latin typeface="Times New Roman" panose="02020603050405020304" pitchFamily="18" charset="0"/>
                          <a:cs typeface="Times New Roman" panose="02020603050405020304" pitchFamily="18" charset="0"/>
                        </a:rPr>
                        <a:t>( emotion recognition)</a:t>
                      </a:r>
                    </a:p>
                    <a:p>
                      <a:pPr marL="171450" indent="-171450" algn="l">
                        <a:buFont typeface="Arial" panose="020B0604020202020204" pitchFamily="34" charset="0"/>
                        <a:buChar char="•"/>
                      </a:pPr>
                      <a:r>
                        <a:rPr lang="en-IN" sz="1200" b="1" dirty="0">
                          <a:latin typeface="Times New Roman" panose="02020603050405020304" pitchFamily="18" charset="0"/>
                          <a:cs typeface="Times New Roman" panose="02020603050405020304" pitchFamily="18" charset="0"/>
                        </a:rPr>
                        <a:t>Google Speech Recognition</a:t>
                      </a:r>
                      <a:r>
                        <a:rPr lang="en-IN" sz="1200" dirty="0">
                          <a:latin typeface="Times New Roman" panose="02020603050405020304" pitchFamily="18" charset="0"/>
                          <a:cs typeface="Times New Roman" panose="02020603050405020304" pitchFamily="18" charset="0"/>
                        </a:rPr>
                        <a:t> (Speech-to-Text)</a:t>
                      </a:r>
                    </a:p>
                    <a:p>
                      <a:pPr marL="171450" indent="-171450" algn="l">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Compares </a:t>
                      </a:r>
                      <a:r>
                        <a:rPr lang="en-US" sz="1200" b="1" dirty="0">
                          <a:latin typeface="Times New Roman" panose="02020603050405020304" pitchFamily="18" charset="0"/>
                          <a:cs typeface="Times New Roman" panose="02020603050405020304" pitchFamily="18" charset="0"/>
                        </a:rPr>
                        <a:t>transcribed text</a:t>
                      </a:r>
                      <a:r>
                        <a:rPr lang="en-US" sz="1200" dirty="0">
                          <a:latin typeface="Times New Roman" panose="02020603050405020304" pitchFamily="18" charset="0"/>
                          <a:cs typeface="Times New Roman" panose="02020603050405020304" pitchFamily="18" charset="0"/>
                        </a:rPr>
                        <a:t> against </a:t>
                      </a:r>
                      <a:r>
                        <a:rPr lang="en-US" sz="1200" b="1" dirty="0">
                          <a:latin typeface="Times New Roman" panose="02020603050405020304" pitchFamily="18" charset="0"/>
                          <a:cs typeface="Times New Roman" panose="02020603050405020304" pitchFamily="18" charset="0"/>
                        </a:rPr>
                        <a:t>predefined answers.</a:t>
                      </a:r>
                      <a:r>
                        <a:rPr lang="en-US" sz="1200" dirty="0">
                          <a:latin typeface="Times New Roman" panose="02020603050405020304" pitchFamily="18" charset="0"/>
                          <a:cs typeface="Times New Roman" panose="02020603050405020304" pitchFamily="18" charset="0"/>
                        </a:rPr>
                        <a:t> (Knowledge Assessment)</a:t>
                      </a:r>
                      <a:endParaRPr lang="en-US" sz="1200" b="0" dirty="0">
                        <a:latin typeface="Times New Roman" panose="02020603050405020304" pitchFamily="18" charset="0"/>
                        <a:cs typeface="Times New Roman" panose="02020603050405020304" pitchFamily="18" charset="0"/>
                      </a:endParaRPr>
                    </a:p>
                  </a:txBody>
                  <a:tcPr/>
                </a:tc>
                <a:tc>
                  <a:txBody>
                    <a:bodyPr/>
                    <a:lstStyle/>
                    <a:p>
                      <a:pPr marL="0" indent="0">
                        <a:buFont typeface="Arial" panose="020B0604020202020204" pitchFamily="34" charset="0"/>
                        <a:buNone/>
                      </a:pPr>
                      <a:r>
                        <a:rPr lang="en-US" sz="1200" dirty="0">
                          <a:latin typeface="Times New Roman" panose="02020603050405020304" pitchFamily="18" charset="0"/>
                          <a:cs typeface="Times New Roman" panose="02020603050405020304" pitchFamily="18" charset="0"/>
                        </a:rPr>
                        <a:t>• Provides objective, data-driven assessment, reducing bias.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Offers comprehensive evaluation by combining emotion, confidence, and knowledge.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Automates the initial screening process. </a:t>
                      </a:r>
                      <a:endParaRPr lang="en-IN" sz="1200" dirty="0">
                        <a:latin typeface="Times New Roman" panose="02020603050405020304" pitchFamily="18" charset="0"/>
                        <a:cs typeface="Times New Roman" panose="02020603050405020304" pitchFamily="18" charset="0"/>
                      </a:endParaRPr>
                    </a:p>
                  </a:txBody>
                  <a:tcPr/>
                </a:tc>
                <a:tc>
                  <a:txBody>
                    <a:bodyPr/>
                    <a:lstStyle/>
                    <a:p>
                      <a:pPr marL="0" indent="0" algn="l">
                        <a:buFont typeface="Arial" panose="020B0604020202020204" pitchFamily="34" charset="0"/>
                        <a:buNone/>
                      </a:pPr>
                      <a:r>
                        <a:rPr lang="en-US" sz="1200" dirty="0">
                          <a:latin typeface="Times New Roman" panose="02020603050405020304" pitchFamily="18" charset="0"/>
                          <a:cs typeface="Times New Roman" panose="02020603050405020304" pitchFamily="18" charset="0"/>
                        </a:rPr>
                        <a:t>• Accuracy depends heavily on video and audio quality.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Predefined answers may not capture the full depth of a candidate's expertise. </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32356672"/>
                  </a:ext>
                </a:extLst>
              </a:tr>
              <a:tr h="1515670">
                <a:tc>
                  <a:txBody>
                    <a:bodyPr/>
                    <a:lstStyle/>
                    <a:p>
                      <a:r>
                        <a:rPr lang="en-US" sz="1200" dirty="0">
                          <a:latin typeface="Times New Roman" panose="02020603050405020304" pitchFamily="18" charset="0"/>
                          <a:cs typeface="Times New Roman" panose="02020603050405020304" pitchFamily="18" charset="0"/>
                        </a:rPr>
                        <a:t>MOCK INTERVIEW EVALUATOR POWERED BY AI </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IN" sz="1200" dirty="0">
                          <a:latin typeface="Times New Roman" panose="02020603050405020304" pitchFamily="18" charset="0"/>
                          <a:cs typeface="Times New Roman" panose="02020603050405020304" pitchFamily="18" charset="0"/>
                        </a:rPr>
                        <a:t>Shashikant V. </a:t>
                      </a:r>
                      <a:r>
                        <a:rPr lang="en-IN" sz="1200" dirty="0" err="1">
                          <a:latin typeface="Times New Roman" panose="02020603050405020304" pitchFamily="18" charset="0"/>
                          <a:cs typeface="Times New Roman" panose="02020603050405020304" pitchFamily="18" charset="0"/>
                        </a:rPr>
                        <a:t>Golande</a:t>
                      </a:r>
                      <a:r>
                        <a:rPr lang="en-IN" sz="1200" dirty="0">
                          <a:latin typeface="Times New Roman" panose="02020603050405020304" pitchFamily="18" charset="0"/>
                          <a:cs typeface="Times New Roman" panose="02020603050405020304" pitchFamily="18" charset="0"/>
                        </a:rPr>
                        <a:t>, Prathamesh </a:t>
                      </a:r>
                      <a:r>
                        <a:rPr lang="en-IN" sz="1200" dirty="0" err="1">
                          <a:latin typeface="Times New Roman" panose="02020603050405020304" pitchFamily="18" charset="0"/>
                          <a:cs typeface="Times New Roman" panose="02020603050405020304" pitchFamily="18" charset="0"/>
                        </a:rPr>
                        <a:t>Dandage</a:t>
                      </a:r>
                      <a:r>
                        <a:rPr lang="en-IN" sz="1200" dirty="0">
                          <a:latin typeface="Times New Roman" panose="02020603050405020304" pitchFamily="18" charset="0"/>
                          <a:cs typeface="Times New Roman" panose="02020603050405020304" pitchFamily="18" charset="0"/>
                        </a:rPr>
                        <a:t>, et al. (2025) </a:t>
                      </a:r>
                    </a:p>
                  </a:txBody>
                  <a:tcPr/>
                </a:tc>
                <a:tc>
                  <a:txBody>
                    <a:bodyPr/>
                    <a:lstStyle/>
                    <a:p>
                      <a:pPr marL="171450" lvl="0" indent="-171450">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Facial Expression Analysis:</a:t>
                      </a:r>
                      <a:r>
                        <a:rPr lang="en-US" sz="1200" dirty="0">
                          <a:latin typeface="Times New Roman" panose="02020603050405020304" pitchFamily="18" charset="0"/>
                          <a:cs typeface="Times New Roman" panose="02020603050405020304" pitchFamily="18" charset="0"/>
                        </a:rPr>
                        <a:t> Uses </a:t>
                      </a:r>
                      <a:r>
                        <a:rPr lang="en-US" sz="1200" b="1" dirty="0">
                          <a:latin typeface="Times New Roman" panose="02020603050405020304" pitchFamily="18" charset="0"/>
                          <a:cs typeface="Times New Roman" panose="02020603050405020304" pitchFamily="18" charset="0"/>
                        </a:rPr>
                        <a:t>computer vision </a:t>
                      </a:r>
                      <a:r>
                        <a:rPr lang="en-US" sz="1200" dirty="0">
                          <a:latin typeface="Times New Roman" panose="02020603050405020304" pitchFamily="18" charset="0"/>
                          <a:cs typeface="Times New Roman" panose="02020603050405020304" pitchFamily="18" charset="0"/>
                        </a:rPr>
                        <a:t>to detect facial landmarks.</a:t>
                      </a:r>
                    </a:p>
                    <a:p>
                      <a:pPr marL="171450" lvl="0" indent="-171450">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Voice Modulation &amp; Sentiment Analysis:</a:t>
                      </a:r>
                      <a:r>
                        <a:rPr lang="en-US" sz="1200" dirty="0">
                          <a:latin typeface="Times New Roman" panose="02020603050405020304" pitchFamily="18" charset="0"/>
                          <a:cs typeface="Times New Roman" panose="02020603050405020304" pitchFamily="18" charset="0"/>
                        </a:rPr>
                        <a:t> Evaluates tone, pitch, and sentiment. </a:t>
                      </a:r>
                    </a:p>
                    <a:p>
                      <a:pPr marL="171450" lvl="0" indent="-171450">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NLP for Keyword Matching:</a:t>
                      </a:r>
                      <a:r>
                        <a:rPr lang="en-US" sz="1200" dirty="0">
                          <a:latin typeface="Times New Roman" panose="02020603050405020304" pitchFamily="18" charset="0"/>
                          <a:cs typeface="Times New Roman" panose="02020603050405020304" pitchFamily="18" charset="0"/>
                        </a:rPr>
                        <a:t> Analyzes speech for relevant keywords. </a:t>
                      </a:r>
                      <a:endParaRPr lang="en-IN" sz="1200" dirty="0">
                        <a:latin typeface="Times New Roman" panose="02020603050405020304" pitchFamily="18" charset="0"/>
                        <a:cs typeface="Times New Roman" panose="02020603050405020304" pitchFamily="18" charset="0"/>
                      </a:endParaRPr>
                    </a:p>
                  </a:txBody>
                  <a:tcPr/>
                </a:tc>
                <a:tc>
                  <a:txBody>
                    <a:bodyPr/>
                    <a:lstStyle/>
                    <a:p>
                      <a:pPr marL="0" indent="0">
                        <a:buFont typeface="Arial"/>
                        <a:buNone/>
                      </a:pPr>
                      <a:r>
                        <a:rPr lang="en-US" sz="1200" dirty="0">
                          <a:latin typeface="Times New Roman" panose="02020603050405020304" pitchFamily="18" charset="0"/>
                          <a:cs typeface="Times New Roman" panose="02020603050405020304" pitchFamily="18" charset="0"/>
                        </a:rPr>
                        <a:t>• Offers a platform for candidates to practice and get feedback.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Can be used in education to prepare students for interviews.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Focuses on both verbal content and non-verbal delivery. </a:t>
                      </a:r>
                      <a:endParaRPr lang="en-IN" sz="1200" dirty="0">
                        <a:latin typeface="Times New Roman" panose="02020603050405020304" pitchFamily="18" charset="0"/>
                        <a:cs typeface="Times New Roman" panose="02020603050405020304" pitchFamily="18" charset="0"/>
                      </a:endParaRPr>
                    </a:p>
                  </a:txBody>
                  <a:tcPr/>
                </a:tc>
                <a:tc>
                  <a:txBody>
                    <a:bodyPr/>
                    <a:lstStyle/>
                    <a:p>
                      <a:pPr marL="0" indent="0">
                        <a:buFont typeface="Arial"/>
                        <a:buNone/>
                      </a:pPr>
                      <a:r>
                        <a:rPr lang="en-US" sz="1200" dirty="0">
                          <a:latin typeface="Times New Roman" panose="02020603050405020304" pitchFamily="18" charset="0"/>
                          <a:cs typeface="Times New Roman" panose="02020603050405020304" pitchFamily="18" charset="0"/>
                        </a:rPr>
                        <a:t>• Effectiveness relies on the diversity of training data to avoid bias.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Not ideal for roles where creativity is valued over keyword matching.</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41403369"/>
                  </a:ext>
                </a:extLst>
              </a:tr>
            </a:tbl>
          </a:graphicData>
        </a:graphic>
      </p:graphicFrame>
      <p:pic>
        <p:nvPicPr>
          <p:cNvPr id="8" name="Picture 7">
            <a:extLst>
              <a:ext uri="{FF2B5EF4-FFF2-40B4-BE49-F238E27FC236}">
                <a16:creationId xmlns:a16="http://schemas.microsoft.com/office/drawing/2014/main" id="{6E9CF2B2-A278-1742-6C2F-5D509B1D922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3" name="Footer Placeholder 2">
            <a:extLst>
              <a:ext uri="{FF2B5EF4-FFF2-40B4-BE49-F238E27FC236}">
                <a16:creationId xmlns:a16="http://schemas.microsoft.com/office/drawing/2014/main" id="{3071AEC4-C165-240C-B399-0ED74ACB1A70}"/>
              </a:ext>
            </a:extLst>
          </p:cNvPr>
          <p:cNvSpPr>
            <a:spLocks noGrp="1"/>
          </p:cNvSpPr>
          <p:nvPr>
            <p:ph type="ftr" sz="quarter" idx="11"/>
          </p:nvPr>
        </p:nvSpPr>
        <p:spPr/>
        <p:txBody>
          <a:bodyPr/>
          <a:lstStyle/>
          <a:p>
            <a:pPr>
              <a:defRPr/>
            </a:pPr>
            <a:r>
              <a:rPr lang="en-US" dirty="0"/>
              <a:t>AI-powered Interview Assessment Tool</a:t>
            </a:r>
            <a:endParaRPr lang="en-IN" dirty="0"/>
          </a:p>
        </p:txBody>
      </p:sp>
    </p:spTree>
    <p:extLst>
      <p:ext uri="{BB962C8B-B14F-4D97-AF65-F5344CB8AC3E}">
        <p14:creationId xmlns:p14="http://schemas.microsoft.com/office/powerpoint/2010/main" val="1101019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84047-6211-4542-7A19-6F91E89C7D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301CDC-885A-FA88-636D-EB430A01BD5C}"/>
              </a:ext>
            </a:extLst>
          </p:cNvPr>
          <p:cNvSpPr>
            <a:spLocks noGrp="1"/>
          </p:cNvSpPr>
          <p:nvPr>
            <p:ph type="title"/>
          </p:nvPr>
        </p:nvSpPr>
        <p:spPr>
          <a:xfrm>
            <a:off x="838200" y="1012557"/>
            <a:ext cx="10515600" cy="633681"/>
          </a:xfrm>
          <a:solidFill>
            <a:srgbClr val="C00000"/>
          </a:solidFill>
        </p:spPr>
        <p:txBody>
          <a:bodyPr>
            <a:normAutofit fontScale="90000"/>
          </a:bodyPr>
          <a:lstStyle/>
          <a:p>
            <a:r>
              <a:rPr lang="en-IN" b="1" dirty="0">
                <a:solidFill>
                  <a:srgbClr val="FFCC00"/>
                </a:solidFill>
                <a:latin typeface="Times New Roman" panose="02020603050405020304" pitchFamily="18" charset="0"/>
                <a:cs typeface="Times New Roman" panose="02020603050405020304" pitchFamily="18" charset="0"/>
              </a:rPr>
              <a:t>LITERATURE SURVEY SUMMARY</a:t>
            </a:r>
          </a:p>
        </p:txBody>
      </p:sp>
      <p:sp>
        <p:nvSpPr>
          <p:cNvPr id="5" name="Slide Number Placeholder 4">
            <a:extLst>
              <a:ext uri="{FF2B5EF4-FFF2-40B4-BE49-F238E27FC236}">
                <a16:creationId xmlns:a16="http://schemas.microsoft.com/office/drawing/2014/main" id="{E3DE3D31-6DE1-A452-C456-B9F77A8CE63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9AFC8B-2B39-4FD9-BC35-C243DBCAD3D3}"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F5A675F1-0679-8A0D-1CC4-F0168AF2B6A8}"/>
              </a:ext>
            </a:extLst>
          </p:cNvPr>
          <p:cNvPicPr>
            <a:picLocks noChangeAspect="1"/>
          </p:cNvPicPr>
          <p:nvPr/>
        </p:nvPicPr>
        <p:blipFill>
          <a:blip r:embed="rId2"/>
          <a:stretch>
            <a:fillRect/>
          </a:stretch>
        </p:blipFill>
        <p:spPr>
          <a:xfrm>
            <a:off x="10175264" y="92908"/>
            <a:ext cx="1178536" cy="829955"/>
          </a:xfrm>
          <a:prstGeom prst="rect">
            <a:avLst/>
          </a:prstGeom>
        </p:spPr>
      </p:pic>
      <p:graphicFrame>
        <p:nvGraphicFramePr>
          <p:cNvPr id="6" name="Table 7">
            <a:extLst>
              <a:ext uri="{FF2B5EF4-FFF2-40B4-BE49-F238E27FC236}">
                <a16:creationId xmlns:a16="http://schemas.microsoft.com/office/drawing/2014/main" id="{07395AFA-A0E7-B106-EC57-275ECC0063AA}"/>
              </a:ext>
            </a:extLst>
          </p:cNvPr>
          <p:cNvGraphicFramePr>
            <a:graphicFrameLocks noGrp="1"/>
          </p:cNvGraphicFramePr>
          <p:nvPr>
            <p:extLst>
              <p:ext uri="{D42A27DB-BD31-4B8C-83A1-F6EECF244321}">
                <p14:modId xmlns:p14="http://schemas.microsoft.com/office/powerpoint/2010/main" val="2328652358"/>
              </p:ext>
            </p:extLst>
          </p:nvPr>
        </p:nvGraphicFramePr>
        <p:xfrm>
          <a:off x="838200" y="1737359"/>
          <a:ext cx="10515599" cy="4572000"/>
        </p:xfrm>
        <a:graphic>
          <a:graphicData uri="http://schemas.openxmlformats.org/drawingml/2006/table">
            <a:tbl>
              <a:tblPr firstRow="1" bandRow="1">
                <a:tableStyleId>{073A0DAA-6AF3-43AB-8588-CEC1D06C72B9}</a:tableStyleId>
              </a:tblPr>
              <a:tblGrid>
                <a:gridCol w="2212134">
                  <a:extLst>
                    <a:ext uri="{9D8B030D-6E8A-4147-A177-3AD203B41FA5}">
                      <a16:colId xmlns:a16="http://schemas.microsoft.com/office/drawing/2014/main" val="3699260733"/>
                    </a:ext>
                  </a:extLst>
                </a:gridCol>
                <a:gridCol w="2212134">
                  <a:extLst>
                    <a:ext uri="{9D8B030D-6E8A-4147-A177-3AD203B41FA5}">
                      <a16:colId xmlns:a16="http://schemas.microsoft.com/office/drawing/2014/main" val="2708841905"/>
                    </a:ext>
                  </a:extLst>
                </a:gridCol>
                <a:gridCol w="2240449">
                  <a:extLst>
                    <a:ext uri="{9D8B030D-6E8A-4147-A177-3AD203B41FA5}">
                      <a16:colId xmlns:a16="http://schemas.microsoft.com/office/drawing/2014/main" val="2437228671"/>
                    </a:ext>
                  </a:extLst>
                </a:gridCol>
                <a:gridCol w="1889339">
                  <a:extLst>
                    <a:ext uri="{9D8B030D-6E8A-4147-A177-3AD203B41FA5}">
                      <a16:colId xmlns:a16="http://schemas.microsoft.com/office/drawing/2014/main" val="1433027226"/>
                    </a:ext>
                  </a:extLst>
                </a:gridCol>
                <a:gridCol w="1961543">
                  <a:extLst>
                    <a:ext uri="{9D8B030D-6E8A-4147-A177-3AD203B41FA5}">
                      <a16:colId xmlns:a16="http://schemas.microsoft.com/office/drawing/2014/main" val="1227002840"/>
                    </a:ext>
                  </a:extLst>
                </a:gridCol>
              </a:tblGrid>
              <a:tr h="784988">
                <a:tc>
                  <a:txBody>
                    <a:bodyPr/>
                    <a:lstStyle/>
                    <a:p>
                      <a:r>
                        <a:rPr lang="en-IN" dirty="0">
                          <a:solidFill>
                            <a:schemeClr val="tx1"/>
                          </a:solidFill>
                          <a:latin typeface="Times New Roman" panose="02020603050405020304" pitchFamily="18" charset="0"/>
                          <a:cs typeface="Times New Roman" panose="02020603050405020304" pitchFamily="18" charset="0"/>
                        </a:rPr>
                        <a:t>Title</a:t>
                      </a:r>
                    </a:p>
                  </a:txBody>
                  <a:tcPr>
                    <a:solidFill>
                      <a:schemeClr val="accent2">
                        <a:lumMod val="20000"/>
                        <a:lumOff val="80000"/>
                      </a:schemeClr>
                    </a:solidFill>
                  </a:tcPr>
                </a:tc>
                <a:tc>
                  <a:txBody>
                    <a:bodyPr/>
                    <a:lstStyle/>
                    <a:p>
                      <a:r>
                        <a:rPr lang="en-IN" dirty="0">
                          <a:solidFill>
                            <a:schemeClr val="tx1"/>
                          </a:solidFill>
                          <a:latin typeface="Times New Roman" panose="02020603050405020304" pitchFamily="18" charset="0"/>
                          <a:cs typeface="Times New Roman" panose="02020603050405020304" pitchFamily="18" charset="0"/>
                        </a:rPr>
                        <a:t>Author name &amp; Year</a:t>
                      </a:r>
                    </a:p>
                  </a:txBody>
                  <a:tcPr>
                    <a:solidFill>
                      <a:schemeClr val="accent2">
                        <a:lumMod val="20000"/>
                        <a:lumOff val="80000"/>
                      </a:schemeClr>
                    </a:solidFill>
                  </a:tcPr>
                </a:tc>
                <a:tc>
                  <a:txBody>
                    <a:bodyPr/>
                    <a:lstStyle/>
                    <a:p>
                      <a:r>
                        <a:rPr lang="en-IN" dirty="0">
                          <a:solidFill>
                            <a:schemeClr val="tx1"/>
                          </a:solidFill>
                          <a:latin typeface="Times New Roman" panose="02020603050405020304" pitchFamily="18" charset="0"/>
                          <a:cs typeface="Times New Roman" panose="02020603050405020304" pitchFamily="18" charset="0"/>
                        </a:rPr>
                        <a:t>Methodology Used</a:t>
                      </a:r>
                    </a:p>
                  </a:txBody>
                  <a:tcPr>
                    <a:solidFill>
                      <a:schemeClr val="accent2">
                        <a:lumMod val="20000"/>
                        <a:lumOff val="80000"/>
                      </a:schemeClr>
                    </a:solidFill>
                  </a:tcPr>
                </a:tc>
                <a:tc>
                  <a:txBody>
                    <a:bodyPr/>
                    <a:lstStyle/>
                    <a:p>
                      <a:r>
                        <a:rPr lang="en-IN" dirty="0">
                          <a:solidFill>
                            <a:schemeClr val="tx1"/>
                          </a:solidFill>
                          <a:latin typeface="Times New Roman" panose="02020603050405020304" pitchFamily="18" charset="0"/>
                          <a:cs typeface="Times New Roman" panose="02020603050405020304" pitchFamily="18" charset="0"/>
                        </a:rPr>
                        <a:t>Advantages</a:t>
                      </a:r>
                    </a:p>
                  </a:txBody>
                  <a:tcP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solidFill>
                            <a:schemeClr val="tx1"/>
                          </a:solidFill>
                          <a:latin typeface="Times New Roman" panose="02020603050405020304" pitchFamily="18" charset="0"/>
                          <a:cs typeface="Times New Roman" panose="02020603050405020304" pitchFamily="18" charset="0"/>
                        </a:rPr>
                        <a:t>Remarks/</a:t>
                      </a:r>
                      <a:r>
                        <a:rPr lang="en-US" dirty="0">
                          <a:solidFill>
                            <a:schemeClr val="tx1"/>
                          </a:solidFill>
                          <a:latin typeface="Times New Roman" panose="02020603050405020304" pitchFamily="18" charset="0"/>
                          <a:cs typeface="Times New Roman" panose="02020603050405020304" pitchFamily="18" charset="0"/>
                        </a:rPr>
                        <a:t> </a:t>
                      </a:r>
                      <a:r>
                        <a:rPr lang="en-IN" dirty="0">
                          <a:solidFill>
                            <a:schemeClr val="tx1"/>
                          </a:solidFill>
                          <a:latin typeface="Times New Roman" panose="02020603050405020304" pitchFamily="18" charset="0"/>
                          <a:cs typeface="Times New Roman" panose="02020603050405020304" pitchFamily="18" charset="0"/>
                        </a:rPr>
                        <a:t>Disadvantages</a:t>
                      </a:r>
                    </a:p>
                    <a:p>
                      <a:endParaRPr lang="en-IN" dirty="0">
                        <a:solidFill>
                          <a:schemeClr val="tx1"/>
                        </a:solidFill>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extLst>
                  <a:ext uri="{0D108BD9-81ED-4DB2-BD59-A6C34878D82A}">
                    <a16:rowId xmlns:a16="http://schemas.microsoft.com/office/drawing/2014/main" val="3723201228"/>
                  </a:ext>
                </a:extLst>
              </a:tr>
              <a:tr h="1515903">
                <a:tc>
                  <a:txBody>
                    <a:bodyPr/>
                    <a:lstStyle/>
                    <a:p>
                      <a:r>
                        <a:rPr lang="en-US" sz="1200" dirty="0">
                          <a:latin typeface="Times New Roman" panose="02020603050405020304" pitchFamily="18" charset="0"/>
                          <a:cs typeface="Times New Roman" panose="02020603050405020304" pitchFamily="18" charset="0"/>
                        </a:rPr>
                        <a:t>Multimodal Emotion Recognition Based on Facial Expressions, Speech, and Body Gestures </a:t>
                      </a:r>
                      <a:endParaRPr lang="en-IN" sz="1200" dirty="0">
                        <a:latin typeface="Times New Roman" panose="02020603050405020304" pitchFamily="18" charset="0"/>
                        <a:cs typeface="Times New Roman" panose="02020603050405020304" pitchFamily="18" charset="0"/>
                      </a:endParaRPr>
                    </a:p>
                  </a:txBody>
                  <a:tcPr/>
                </a:tc>
                <a:tc>
                  <a:txBody>
                    <a:bodyPr/>
                    <a:lstStyle/>
                    <a:p>
                      <a:r>
                        <a:rPr lang="fr-FR" sz="1200" dirty="0" err="1">
                          <a:latin typeface="Times New Roman" panose="02020603050405020304" pitchFamily="18" charset="0"/>
                          <a:cs typeface="Times New Roman" panose="02020603050405020304" pitchFamily="18" charset="0"/>
                        </a:rPr>
                        <a:t>Jingjie</a:t>
                      </a:r>
                      <a:r>
                        <a:rPr lang="fr-FR" sz="1200" dirty="0">
                          <a:latin typeface="Times New Roman" panose="02020603050405020304" pitchFamily="18" charset="0"/>
                          <a:cs typeface="Times New Roman" panose="02020603050405020304" pitchFamily="18" charset="0"/>
                        </a:rPr>
                        <a:t> Yan, </a:t>
                      </a:r>
                      <a:r>
                        <a:rPr lang="fr-FR" sz="1200" dirty="0" err="1">
                          <a:latin typeface="Times New Roman" panose="02020603050405020304" pitchFamily="18" charset="0"/>
                          <a:cs typeface="Times New Roman" panose="02020603050405020304" pitchFamily="18" charset="0"/>
                        </a:rPr>
                        <a:t>Peiyuan</a:t>
                      </a:r>
                      <a:r>
                        <a:rPr lang="fr-FR" sz="1200" dirty="0">
                          <a:latin typeface="Times New Roman" panose="02020603050405020304" pitchFamily="18" charset="0"/>
                          <a:cs typeface="Times New Roman" panose="02020603050405020304" pitchFamily="18" charset="0"/>
                        </a:rPr>
                        <a:t> Li, </a:t>
                      </a:r>
                      <a:r>
                        <a:rPr lang="fr-FR" sz="1200" dirty="0" err="1">
                          <a:latin typeface="Times New Roman" panose="02020603050405020304" pitchFamily="18" charset="0"/>
                          <a:cs typeface="Times New Roman" panose="02020603050405020304" pitchFamily="18" charset="0"/>
                        </a:rPr>
                        <a:t>Chengkun</a:t>
                      </a:r>
                      <a:r>
                        <a:rPr lang="fr-FR" sz="1200" dirty="0">
                          <a:latin typeface="Times New Roman" panose="02020603050405020304" pitchFamily="18" charset="0"/>
                          <a:cs typeface="Times New Roman" panose="02020603050405020304" pitchFamily="18" charset="0"/>
                        </a:rPr>
                        <a:t> Du, et al. (2024) </a:t>
                      </a:r>
                      <a:endParaRPr lang="en-IN" sz="1200" dirty="0">
                        <a:latin typeface="Times New Roman" panose="02020603050405020304" pitchFamily="18" charset="0"/>
                        <a:cs typeface="Times New Roman" panose="02020603050405020304" pitchFamily="18" charset="0"/>
                      </a:endParaRPr>
                    </a:p>
                  </a:txBody>
                  <a:tcPr/>
                </a:tc>
                <a:tc>
                  <a:txBody>
                    <a:bodyPr/>
                    <a:lstStyle/>
                    <a:p>
                      <a:pPr marL="171450" indent="-171450">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Multimodal Fusion</a:t>
                      </a:r>
                      <a:r>
                        <a:rPr lang="en-US" sz="1200" dirty="0">
                          <a:latin typeface="Times New Roman" panose="02020603050405020304" pitchFamily="18" charset="0"/>
                          <a:cs typeface="Times New Roman" panose="02020603050405020304" pitchFamily="18" charset="0"/>
                        </a:rPr>
                        <a:t>: Integrates data from facial expressions, speech, and body gestures. </a:t>
                      </a:r>
                    </a:p>
                    <a:p>
                      <a:pPr marL="171450" indent="-171450">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Feature Extraction</a:t>
                      </a:r>
                      <a:r>
                        <a:rPr lang="en-US" sz="1200" dirty="0">
                          <a:latin typeface="Times New Roman" panose="02020603050405020304" pitchFamily="18" charset="0"/>
                          <a:cs typeface="Times New Roman" panose="02020603050405020304" pitchFamily="18" charset="0"/>
                        </a:rPr>
                        <a:t>: Uses specialized models like </a:t>
                      </a:r>
                      <a:r>
                        <a:rPr lang="en-US" sz="1200" b="1" dirty="0">
                          <a:latin typeface="Times New Roman" panose="02020603050405020304" pitchFamily="18" charset="0"/>
                          <a:cs typeface="Times New Roman" panose="02020603050405020304" pitchFamily="18" charset="0"/>
                        </a:rPr>
                        <a:t>CNN</a:t>
                      </a:r>
                      <a:r>
                        <a:rPr lang="en-US" sz="1200"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ResNet</a:t>
                      </a:r>
                      <a:r>
                        <a:rPr lang="en-US" sz="1200" dirty="0">
                          <a:latin typeface="Times New Roman" panose="02020603050405020304" pitchFamily="18" charset="0"/>
                          <a:cs typeface="Times New Roman" panose="02020603050405020304" pitchFamily="18" charset="0"/>
                        </a:rPr>
                        <a:t>) for each modality.</a:t>
                      </a:r>
                    </a:p>
                    <a:p>
                      <a:pPr marL="171450" indent="-171450">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Decision Fusion</a:t>
                      </a:r>
                      <a:r>
                        <a:rPr lang="en-US" sz="1200" dirty="0">
                          <a:latin typeface="Times New Roman" panose="02020603050405020304" pitchFamily="18" charset="0"/>
                          <a:cs typeface="Times New Roman" panose="02020603050405020304" pitchFamily="18" charset="0"/>
                        </a:rPr>
                        <a:t>: Combines outputs for a more robust prediction. </a:t>
                      </a:r>
                      <a:endParaRPr lang="en-US" sz="1200" b="0" dirty="0">
                        <a:latin typeface="Times New Roman" panose="02020603050405020304" pitchFamily="18" charset="0"/>
                        <a:cs typeface="Times New Roman" panose="02020603050405020304" pitchFamily="18" charset="0"/>
                      </a:endParaRPr>
                    </a:p>
                  </a:txBody>
                  <a:tcPr/>
                </a:tc>
                <a:tc>
                  <a:txBody>
                    <a:bodyPr/>
                    <a:lstStyle/>
                    <a:p>
                      <a:pPr marL="0" indent="0">
                        <a:buFont typeface="Arial" panose="020B0604020202020204" pitchFamily="34" charset="0"/>
                        <a:buNone/>
                      </a:pPr>
                      <a:r>
                        <a:rPr lang="en-US" sz="1200" dirty="0">
                          <a:latin typeface="Times New Roman" panose="02020603050405020304" pitchFamily="18" charset="0"/>
                          <a:cs typeface="Times New Roman" panose="02020603050405020304" pitchFamily="18" charset="0"/>
                        </a:rPr>
                        <a:t>• Achieves higher accuracy in emotion recognition than single-modality systems.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Creates a more holistic and reliable understanding of the user's emotional state. </a:t>
                      </a:r>
                      <a:endParaRPr lang="en-IN" sz="1200" dirty="0">
                        <a:latin typeface="Times New Roman" panose="02020603050405020304" pitchFamily="18" charset="0"/>
                        <a:cs typeface="Times New Roman" panose="02020603050405020304" pitchFamily="18" charset="0"/>
                      </a:endParaRPr>
                    </a:p>
                  </a:txBody>
                  <a:tcPr/>
                </a:tc>
                <a:tc>
                  <a:txBody>
                    <a:bodyPr/>
                    <a:lstStyle/>
                    <a:p>
                      <a:pPr marL="0" indent="0" algn="l">
                        <a:buFont typeface="Arial" panose="020B0604020202020204" pitchFamily="34" charset="0"/>
                        <a:buNone/>
                      </a:pPr>
                      <a:r>
                        <a:rPr lang="en-US" sz="1200" dirty="0">
                          <a:latin typeface="Times New Roman" panose="02020603050405020304" pitchFamily="18" charset="0"/>
                          <a:cs typeface="Times New Roman" panose="02020603050405020304" pitchFamily="18" charset="0"/>
                        </a:rPr>
                        <a:t>• High system complexity due to processing multiple data sources.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Requires a controlled environment for high-quality data capture. </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32356672"/>
                  </a:ext>
                </a:extLst>
              </a:tr>
              <a:tr h="1515670">
                <a:tc>
                  <a:txBody>
                    <a:bodyPr/>
                    <a:lstStyle/>
                    <a:p>
                      <a:r>
                        <a:rPr lang="en-IN" sz="1200" dirty="0">
                          <a:latin typeface="Times New Roman" panose="02020603050405020304" pitchFamily="18" charset="0"/>
                          <a:cs typeface="Times New Roman" panose="02020603050405020304" pitchFamily="18" charset="0"/>
                        </a:rPr>
                        <a:t>AST: Audio Spectrogram Transformer </a:t>
                      </a:r>
                    </a:p>
                  </a:txBody>
                  <a:tcPr/>
                </a:tc>
                <a:tc>
                  <a:txBody>
                    <a:bodyPr/>
                    <a:lstStyle/>
                    <a:p>
                      <a:r>
                        <a:rPr lang="en-IN" sz="1200" dirty="0">
                          <a:latin typeface="Times New Roman" panose="02020603050405020304" pitchFamily="18" charset="0"/>
                          <a:cs typeface="Times New Roman" panose="02020603050405020304" pitchFamily="18" charset="0"/>
                        </a:rPr>
                        <a:t>Yuan Gong, Yu-An Chung, James Glass (2021) </a:t>
                      </a:r>
                    </a:p>
                  </a:txBody>
                  <a:tcPr/>
                </a:tc>
                <a:tc>
                  <a:txBody>
                    <a:bodyPr/>
                    <a:lstStyle/>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Proposes the </a:t>
                      </a:r>
                      <a:r>
                        <a:rPr lang="en-IN" sz="1200" b="1" dirty="0">
                          <a:latin typeface="Times New Roman" panose="02020603050405020304" pitchFamily="18" charset="0"/>
                          <a:cs typeface="Times New Roman" panose="02020603050405020304" pitchFamily="18" charset="0"/>
                        </a:rPr>
                        <a:t>Audio Spectrogram Transformer </a:t>
                      </a:r>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AST</a:t>
                      </a:r>
                      <a:r>
                        <a:rPr lang="en-US" sz="1200" dirty="0">
                          <a:latin typeface="Times New Roman" panose="02020603050405020304" pitchFamily="18" charset="0"/>
                          <a:cs typeface="Times New Roman" panose="02020603050405020304" pitchFamily="18" charset="0"/>
                        </a:rPr>
                        <a:t>) , a purely attention-based model for audio classification without CNNs.</a:t>
                      </a:r>
                    </a:p>
                    <a:p>
                      <a:pPr marL="171450" lvl="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Treats an audio spectrogram as an image and processes it with a Transformer architecture. </a:t>
                      </a:r>
                      <a:endParaRPr lang="en-IN" sz="1200" dirty="0">
                        <a:latin typeface="Times New Roman" panose="02020603050405020304" pitchFamily="18" charset="0"/>
                        <a:cs typeface="Times New Roman" panose="02020603050405020304" pitchFamily="18" charset="0"/>
                      </a:endParaRPr>
                    </a:p>
                  </a:txBody>
                  <a:tcPr/>
                </a:tc>
                <a:tc>
                  <a:txBody>
                    <a:bodyPr/>
                    <a:lstStyle/>
                    <a:p>
                      <a:pPr marL="0" indent="0">
                        <a:buFont typeface="Arial"/>
                        <a:buNone/>
                      </a:pPr>
                      <a:r>
                        <a:rPr lang="en-US" sz="1200" dirty="0">
                          <a:latin typeface="Times New Roman" panose="02020603050405020304" pitchFamily="18" charset="0"/>
                          <a:cs typeface="Times New Roman" panose="02020603050405020304" pitchFamily="18" charset="0"/>
                        </a:rPr>
                        <a:t>• Outperforms traditional CNN-based models in audio classification tasks.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Better at capturing long-range dependencies in the audio signal. </a:t>
                      </a:r>
                      <a:endParaRPr lang="en-IN" sz="1200" dirty="0">
                        <a:latin typeface="Times New Roman" panose="02020603050405020304" pitchFamily="18" charset="0"/>
                        <a:cs typeface="Times New Roman" panose="02020603050405020304" pitchFamily="18" charset="0"/>
                      </a:endParaRPr>
                    </a:p>
                  </a:txBody>
                  <a:tcPr/>
                </a:tc>
                <a:tc>
                  <a:txBody>
                    <a:bodyPr/>
                    <a:lstStyle/>
                    <a:p>
                      <a:pPr marL="0" indent="0">
                        <a:buFont typeface="Arial"/>
                        <a:buNone/>
                      </a:pPr>
                      <a:r>
                        <a:rPr lang="en-US" sz="1200" dirty="0">
                          <a:latin typeface="Times New Roman" panose="02020603050405020304" pitchFamily="18" charset="0"/>
                          <a:cs typeface="Times New Roman" panose="02020603050405020304" pitchFamily="18" charset="0"/>
                        </a:rPr>
                        <a:t>• Computationally intensive and requires large amounts of training data.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Highly specialized for audio; needs integration with other models for a full system. </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41403369"/>
                  </a:ext>
                </a:extLst>
              </a:tr>
            </a:tbl>
          </a:graphicData>
        </a:graphic>
      </p:graphicFrame>
      <p:pic>
        <p:nvPicPr>
          <p:cNvPr id="8" name="Picture 7">
            <a:extLst>
              <a:ext uri="{FF2B5EF4-FFF2-40B4-BE49-F238E27FC236}">
                <a16:creationId xmlns:a16="http://schemas.microsoft.com/office/drawing/2014/main" id="{BA55639C-B86F-3DE1-1014-4ECFCA0CD8F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3" name="Footer Placeholder 2">
            <a:extLst>
              <a:ext uri="{FF2B5EF4-FFF2-40B4-BE49-F238E27FC236}">
                <a16:creationId xmlns:a16="http://schemas.microsoft.com/office/drawing/2014/main" id="{DA7A9E5A-0C05-873D-021A-00643343DDBE}"/>
              </a:ext>
            </a:extLst>
          </p:cNvPr>
          <p:cNvSpPr>
            <a:spLocks noGrp="1"/>
          </p:cNvSpPr>
          <p:nvPr>
            <p:ph type="ftr" sz="quarter" idx="11"/>
          </p:nvPr>
        </p:nvSpPr>
        <p:spPr/>
        <p:txBody>
          <a:bodyPr/>
          <a:lstStyle/>
          <a:p>
            <a:pPr>
              <a:defRPr/>
            </a:pPr>
            <a:r>
              <a:rPr lang="en-US" dirty="0"/>
              <a:t>AI-powered Interview Assessment Tool</a:t>
            </a:r>
            <a:endParaRPr lang="en-IN" dirty="0"/>
          </a:p>
        </p:txBody>
      </p:sp>
    </p:spTree>
    <p:extLst>
      <p:ext uri="{BB962C8B-B14F-4D97-AF65-F5344CB8AC3E}">
        <p14:creationId xmlns:p14="http://schemas.microsoft.com/office/powerpoint/2010/main" val="982579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6AD7A-3685-D8E0-850C-81F34A11A731}"/>
              </a:ext>
            </a:extLst>
          </p:cNvPr>
          <p:cNvSpPr>
            <a:spLocks noGrp="1"/>
          </p:cNvSpPr>
          <p:nvPr>
            <p:ph type="title"/>
          </p:nvPr>
        </p:nvSpPr>
        <p:spPr>
          <a:xfrm>
            <a:off x="838200" y="1012693"/>
            <a:ext cx="10515600" cy="633681"/>
          </a:xfrm>
          <a:solidFill>
            <a:srgbClr val="C00000"/>
          </a:solidFill>
        </p:spPr>
        <p:txBody>
          <a:bodyPr>
            <a:normAutofit fontScale="90000"/>
          </a:bodyPr>
          <a:lstStyle/>
          <a:p>
            <a:r>
              <a:rPr lang="en-IN" b="1" dirty="0">
                <a:solidFill>
                  <a:srgbClr val="FFCC00"/>
                </a:solidFill>
                <a:latin typeface="Times New Roman" panose="02020603050405020304" pitchFamily="18" charset="0"/>
                <a:cs typeface="Times New Roman" panose="02020603050405020304" pitchFamily="18" charset="0"/>
              </a:rPr>
              <a:t>GAPS IDENTIFIED</a:t>
            </a:r>
          </a:p>
        </p:txBody>
      </p:sp>
      <p:sp>
        <p:nvSpPr>
          <p:cNvPr id="3" name="Content Placeholder 2">
            <a:extLst>
              <a:ext uri="{FF2B5EF4-FFF2-40B4-BE49-F238E27FC236}">
                <a16:creationId xmlns:a16="http://schemas.microsoft.com/office/drawing/2014/main" id="{8EA5CEC6-0CAD-CF94-AAF0-77AADFB82B9A}"/>
              </a:ext>
            </a:extLst>
          </p:cNvPr>
          <p:cNvSpPr>
            <a:spLocks noGrp="1"/>
          </p:cNvSpPr>
          <p:nvPr>
            <p:ph idx="1"/>
          </p:nvPr>
        </p:nvSpPr>
        <p:spPr>
          <a:xfrm>
            <a:off x="838200" y="2005012"/>
            <a:ext cx="10515600" cy="4351338"/>
          </a:xfrm>
        </p:spPr>
        <p:txBody>
          <a:bodyPr vert="horz" lIns="91440" tIns="45720" rIns="91440" bIns="45720" rtlCol="0" anchor="t">
            <a:normAutofit/>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No Unified Systems</a:t>
            </a:r>
            <a:endParaRPr lang="en-IN"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Keyword Dependency</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Superficial Soft Skill Analysis</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Unaddressed Algorithmic Bias</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Static Conversation Flow</a:t>
            </a:r>
            <a:endParaRPr lang="en-IN"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3AB07D01-C55D-48BB-8D5D-F5CE31036138}"/>
              </a:ext>
            </a:extLst>
          </p:cNvPr>
          <p:cNvSpPr>
            <a:spLocks noGrp="1"/>
          </p:cNvSpPr>
          <p:nvPr>
            <p:ph type="sldNum" sz="quarter" idx="12"/>
          </p:nvPr>
        </p:nvSpPr>
        <p:spPr/>
        <p:txBody>
          <a:bodyPr/>
          <a:lstStyle/>
          <a:p>
            <a:fld id="{F09AFC8B-2B39-4FD9-BC35-C243DBCAD3D3}" type="slidenum">
              <a:rPr lang="en-IN" smtClean="0"/>
              <a:t>7</a:t>
            </a:fld>
            <a:endParaRPr lang="en-IN"/>
          </a:p>
        </p:txBody>
      </p:sp>
      <p:pic>
        <p:nvPicPr>
          <p:cNvPr id="7" name="Picture 6">
            <a:extLst>
              <a:ext uri="{FF2B5EF4-FFF2-40B4-BE49-F238E27FC236}">
                <a16:creationId xmlns:a16="http://schemas.microsoft.com/office/drawing/2014/main" id="{4E3D6339-25D1-0216-FC44-70AF8B26D35D}"/>
              </a:ext>
            </a:extLst>
          </p:cNvPr>
          <p:cNvPicPr>
            <a:picLocks noChangeAspect="1"/>
          </p:cNvPicPr>
          <p:nvPr/>
        </p:nvPicPr>
        <p:blipFill>
          <a:blip r:embed="rId2"/>
          <a:stretch>
            <a:fillRect/>
          </a:stretch>
        </p:blipFill>
        <p:spPr>
          <a:xfrm>
            <a:off x="10175264" y="92908"/>
            <a:ext cx="1178536" cy="829955"/>
          </a:xfrm>
          <a:prstGeom prst="rect">
            <a:avLst/>
          </a:prstGeom>
        </p:spPr>
      </p:pic>
      <p:pic>
        <p:nvPicPr>
          <p:cNvPr id="8" name="Picture 7">
            <a:extLst>
              <a:ext uri="{FF2B5EF4-FFF2-40B4-BE49-F238E27FC236}">
                <a16:creationId xmlns:a16="http://schemas.microsoft.com/office/drawing/2014/main" id="{6AC9C8E7-C2F4-292B-F4A8-9390D70C399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4" name="Footer Placeholder 3">
            <a:extLst>
              <a:ext uri="{FF2B5EF4-FFF2-40B4-BE49-F238E27FC236}">
                <a16:creationId xmlns:a16="http://schemas.microsoft.com/office/drawing/2014/main" id="{F59FB9DF-BEC1-F56E-9007-2521C32F5022}"/>
              </a:ext>
            </a:extLst>
          </p:cNvPr>
          <p:cNvSpPr>
            <a:spLocks noGrp="1"/>
          </p:cNvSpPr>
          <p:nvPr>
            <p:ph type="ftr" sz="quarter" idx="11"/>
          </p:nvPr>
        </p:nvSpPr>
        <p:spPr/>
        <p:txBody>
          <a:bodyPr/>
          <a:lstStyle/>
          <a:p>
            <a:r>
              <a:rPr lang="en-US" dirty="0"/>
              <a:t>AI-powered Interview Assessment Tool</a:t>
            </a:r>
            <a:endParaRPr lang="en-IN" dirty="0"/>
          </a:p>
        </p:txBody>
      </p:sp>
    </p:spTree>
    <p:extLst>
      <p:ext uri="{BB962C8B-B14F-4D97-AF65-F5344CB8AC3E}">
        <p14:creationId xmlns:p14="http://schemas.microsoft.com/office/powerpoint/2010/main" val="1634952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6AD7A-3685-D8E0-850C-81F34A11A731}"/>
              </a:ext>
            </a:extLst>
          </p:cNvPr>
          <p:cNvSpPr>
            <a:spLocks noGrp="1"/>
          </p:cNvSpPr>
          <p:nvPr>
            <p:ph type="title"/>
          </p:nvPr>
        </p:nvSpPr>
        <p:spPr>
          <a:xfrm>
            <a:off x="838200" y="1012557"/>
            <a:ext cx="10515600" cy="633681"/>
          </a:xfrm>
          <a:solidFill>
            <a:srgbClr val="C00000"/>
          </a:solidFill>
        </p:spPr>
        <p:txBody>
          <a:bodyPr>
            <a:normAutofit fontScale="90000"/>
          </a:bodyPr>
          <a:lstStyle/>
          <a:p>
            <a:r>
              <a:rPr lang="en-IN" b="1" dirty="0">
                <a:solidFill>
                  <a:srgbClr val="FFCC00"/>
                </a:solidFill>
                <a:latin typeface="Times New Roman" panose="02020603050405020304" pitchFamily="18" charset="0"/>
                <a:cs typeface="Times New Roman" panose="02020603050405020304" pitchFamily="18" charset="0"/>
              </a:rPr>
              <a:t>PROBLEM STATEMENT &amp; OBJECTIVES</a:t>
            </a:r>
          </a:p>
        </p:txBody>
      </p:sp>
      <p:sp>
        <p:nvSpPr>
          <p:cNvPr id="3" name="Content Placeholder 2">
            <a:extLst>
              <a:ext uri="{FF2B5EF4-FFF2-40B4-BE49-F238E27FC236}">
                <a16:creationId xmlns:a16="http://schemas.microsoft.com/office/drawing/2014/main" id="{8EA5CEC6-0CAD-CF94-AAF0-77AADFB82B9A}"/>
              </a:ext>
            </a:extLst>
          </p:cNvPr>
          <p:cNvSpPr>
            <a:spLocks noGrp="1"/>
          </p:cNvSpPr>
          <p:nvPr>
            <p:ph idx="1"/>
          </p:nvPr>
        </p:nvSpPr>
        <p:spPr>
          <a:xfrm>
            <a:off x="838200" y="3727938"/>
            <a:ext cx="10515600" cy="2628412"/>
          </a:xfrm>
        </p:spPr>
        <p:txBody>
          <a:bodyPr vert="horz" lIns="91440" tIns="45720" rIns="91440" bIns="45720" rtlCol="0" anchor="t">
            <a:normAutofit/>
          </a:bodyPr>
          <a:lstStyle/>
          <a:p>
            <a:pPr marL="0" indent="0" algn="just">
              <a:buNone/>
            </a:pPr>
            <a:r>
              <a:rPr lang="en-IN" sz="3200" dirty="0">
                <a:solidFill>
                  <a:srgbClr val="0070C0"/>
                </a:solidFill>
                <a:latin typeface="Times New Roman" panose="02020603050405020304" pitchFamily="18" charset="0"/>
                <a:cs typeface="Times New Roman" panose="02020603050405020304" pitchFamily="18" charset="0"/>
              </a:rPr>
              <a:t>OBJECTIVES</a:t>
            </a:r>
          </a:p>
          <a:p>
            <a:pPr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Voice-Based Interviews</a:t>
            </a:r>
          </a:p>
          <a:p>
            <a:pPr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Non-Verbal &amp; Body Language Analysis</a:t>
            </a:r>
          </a:p>
          <a:p>
            <a:pPr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Vocal Tone &amp; Speech Pattern Analysis</a:t>
            </a:r>
          </a:p>
          <a:p>
            <a:pPr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Automated &amp; Unbiased Feedback</a:t>
            </a:r>
          </a:p>
          <a:p>
            <a:pPr algn="just">
              <a:buFont typeface="Wingdings" panose="05000000000000000000" pitchFamily="2" charset="2"/>
              <a:buChar char="Ø"/>
            </a:pPr>
            <a:endParaRPr lang="en-US" alt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3AB07D01-C55D-48BB-8D5D-F5CE31036138}"/>
              </a:ext>
            </a:extLst>
          </p:cNvPr>
          <p:cNvSpPr>
            <a:spLocks noGrp="1"/>
          </p:cNvSpPr>
          <p:nvPr>
            <p:ph type="sldNum" sz="quarter" idx="12"/>
          </p:nvPr>
        </p:nvSpPr>
        <p:spPr/>
        <p:txBody>
          <a:bodyPr/>
          <a:lstStyle/>
          <a:p>
            <a:fld id="{F09AFC8B-2B39-4FD9-BC35-C243DBCAD3D3}" type="slidenum">
              <a:rPr lang="en-IN" smtClean="0"/>
              <a:t>8</a:t>
            </a:fld>
            <a:endParaRPr lang="en-IN"/>
          </a:p>
        </p:txBody>
      </p:sp>
      <p:pic>
        <p:nvPicPr>
          <p:cNvPr id="7" name="Picture 6">
            <a:extLst>
              <a:ext uri="{FF2B5EF4-FFF2-40B4-BE49-F238E27FC236}">
                <a16:creationId xmlns:a16="http://schemas.microsoft.com/office/drawing/2014/main" id="{4E3D6339-25D1-0216-FC44-70AF8B26D35D}"/>
              </a:ext>
            </a:extLst>
          </p:cNvPr>
          <p:cNvPicPr>
            <a:picLocks noChangeAspect="1"/>
          </p:cNvPicPr>
          <p:nvPr/>
        </p:nvPicPr>
        <p:blipFill>
          <a:blip r:embed="rId2"/>
          <a:stretch>
            <a:fillRect/>
          </a:stretch>
        </p:blipFill>
        <p:spPr>
          <a:xfrm>
            <a:off x="10175264" y="92908"/>
            <a:ext cx="1178536" cy="829955"/>
          </a:xfrm>
          <a:prstGeom prst="rect">
            <a:avLst/>
          </a:prstGeom>
        </p:spPr>
      </p:pic>
      <p:sp>
        <p:nvSpPr>
          <p:cNvPr id="6" name="Rectangle: Rounded Corners 5">
            <a:extLst>
              <a:ext uri="{FF2B5EF4-FFF2-40B4-BE49-F238E27FC236}">
                <a16:creationId xmlns:a16="http://schemas.microsoft.com/office/drawing/2014/main" id="{68B8C18A-2BF3-0931-C8C9-5ED4BC26CEB5}"/>
              </a:ext>
            </a:extLst>
          </p:cNvPr>
          <p:cNvSpPr/>
          <p:nvPr/>
        </p:nvSpPr>
        <p:spPr>
          <a:xfrm>
            <a:off x="838200" y="2053883"/>
            <a:ext cx="10515600" cy="1375117"/>
          </a:xfrm>
          <a:prstGeom prst="roundRect">
            <a:avLst>
              <a:gd name="adj" fmla="val 16667"/>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just"/>
            <a:r>
              <a:rPr lang="en-US" sz="2000" dirty="0">
                <a:solidFill>
                  <a:schemeClr val="accent5">
                    <a:lumMod val="50000"/>
                  </a:schemeClr>
                </a:solidFill>
                <a:latin typeface="Times New Roman" panose="02020603050405020304" pitchFamily="18" charset="0"/>
                <a:cs typeface="Times New Roman" panose="02020603050405020304" pitchFamily="18" charset="0"/>
              </a:rPr>
              <a:t>Traditional interviews are inefficient and biased. We are creating an automated system to provide fair, consistent assessments of communication skills, which standardizes initial screening and reduces the workload for recruiters.</a:t>
            </a:r>
            <a:endParaRPr lang="en-IN" sz="2000" dirty="0">
              <a:solidFill>
                <a:schemeClr val="accent5">
                  <a:lumMod val="50000"/>
                </a:schemeClr>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A64BBA4-4D52-AF29-365E-96BF0C2BDD9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4" name="Footer Placeholder 3">
            <a:extLst>
              <a:ext uri="{FF2B5EF4-FFF2-40B4-BE49-F238E27FC236}">
                <a16:creationId xmlns:a16="http://schemas.microsoft.com/office/drawing/2014/main" id="{87E30140-1905-F282-7A8D-A629F0FF899B}"/>
              </a:ext>
            </a:extLst>
          </p:cNvPr>
          <p:cNvSpPr>
            <a:spLocks noGrp="1"/>
          </p:cNvSpPr>
          <p:nvPr>
            <p:ph type="ftr" sz="quarter" idx="11"/>
          </p:nvPr>
        </p:nvSpPr>
        <p:spPr/>
        <p:txBody>
          <a:bodyPr/>
          <a:lstStyle/>
          <a:p>
            <a:r>
              <a:rPr lang="en-US" dirty="0"/>
              <a:t>AI-powered Interview Assessment Tool</a:t>
            </a:r>
            <a:endParaRPr lang="en-IN" dirty="0"/>
          </a:p>
        </p:txBody>
      </p:sp>
    </p:spTree>
    <p:extLst>
      <p:ext uri="{BB962C8B-B14F-4D97-AF65-F5344CB8AC3E}">
        <p14:creationId xmlns:p14="http://schemas.microsoft.com/office/powerpoint/2010/main" val="2789557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DDBA9-A14D-B84E-CB7C-A50F695A98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C899AC-60F4-9C15-7D67-AD294D8FC163}"/>
              </a:ext>
            </a:extLst>
          </p:cNvPr>
          <p:cNvSpPr>
            <a:spLocks noGrp="1"/>
          </p:cNvSpPr>
          <p:nvPr>
            <p:ph type="title"/>
          </p:nvPr>
        </p:nvSpPr>
        <p:spPr>
          <a:xfrm>
            <a:off x="838200" y="1012557"/>
            <a:ext cx="10515600" cy="633681"/>
          </a:xfrm>
          <a:solidFill>
            <a:srgbClr val="C00000"/>
          </a:solidFill>
        </p:spPr>
        <p:txBody>
          <a:bodyPr>
            <a:normAutofit fontScale="90000"/>
          </a:bodyPr>
          <a:lstStyle/>
          <a:p>
            <a:r>
              <a:rPr lang="en-IN" b="1" dirty="0">
                <a:solidFill>
                  <a:srgbClr val="FFCC00"/>
                </a:solidFill>
                <a:latin typeface="Times New Roman" panose="02020603050405020304" pitchFamily="18" charset="0"/>
                <a:cs typeface="Times New Roman" panose="02020603050405020304" pitchFamily="18" charset="0"/>
              </a:rPr>
              <a:t>PROPOSED   METHODOLOGY</a:t>
            </a:r>
          </a:p>
        </p:txBody>
      </p:sp>
      <p:sp>
        <p:nvSpPr>
          <p:cNvPr id="5" name="Slide Number Placeholder 4">
            <a:extLst>
              <a:ext uri="{FF2B5EF4-FFF2-40B4-BE49-F238E27FC236}">
                <a16:creationId xmlns:a16="http://schemas.microsoft.com/office/drawing/2014/main" id="{66487DA4-B85F-4D92-2767-29F0E68BC073}"/>
              </a:ext>
            </a:extLst>
          </p:cNvPr>
          <p:cNvSpPr>
            <a:spLocks noGrp="1"/>
          </p:cNvSpPr>
          <p:nvPr>
            <p:ph type="sldNum" sz="quarter" idx="12"/>
          </p:nvPr>
        </p:nvSpPr>
        <p:spPr>
          <a:xfrm>
            <a:off x="8610600" y="6562546"/>
            <a:ext cx="2743200" cy="349250"/>
          </a:xfrm>
        </p:spPr>
        <p:txBody>
          <a:bodyPr/>
          <a:lstStyle/>
          <a:p>
            <a:fld id="{F09AFC8B-2B39-4FD9-BC35-C243DBCAD3D3}" type="slidenum">
              <a:rPr lang="en-IN" smtClean="0"/>
              <a:t>9</a:t>
            </a:fld>
            <a:endParaRPr lang="en-IN" dirty="0"/>
          </a:p>
        </p:txBody>
      </p:sp>
      <p:pic>
        <p:nvPicPr>
          <p:cNvPr id="7" name="Picture 6">
            <a:extLst>
              <a:ext uri="{FF2B5EF4-FFF2-40B4-BE49-F238E27FC236}">
                <a16:creationId xmlns:a16="http://schemas.microsoft.com/office/drawing/2014/main" id="{3B4DE132-9498-BAE2-C91F-94AF73F196D4}"/>
              </a:ext>
            </a:extLst>
          </p:cNvPr>
          <p:cNvPicPr>
            <a:picLocks noChangeAspect="1"/>
          </p:cNvPicPr>
          <p:nvPr/>
        </p:nvPicPr>
        <p:blipFill>
          <a:blip r:embed="rId2"/>
          <a:stretch>
            <a:fillRect/>
          </a:stretch>
        </p:blipFill>
        <p:spPr>
          <a:xfrm>
            <a:off x="10175264" y="92908"/>
            <a:ext cx="1178536" cy="829955"/>
          </a:xfrm>
          <a:prstGeom prst="rect">
            <a:avLst/>
          </a:prstGeom>
        </p:spPr>
      </p:pic>
      <p:pic>
        <p:nvPicPr>
          <p:cNvPr id="9" name="Picture 8">
            <a:extLst>
              <a:ext uri="{FF2B5EF4-FFF2-40B4-BE49-F238E27FC236}">
                <a16:creationId xmlns:a16="http://schemas.microsoft.com/office/drawing/2014/main" id="{DEAA215A-23A0-9B5C-7ACA-AB5DF2D9AE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4" name="Footer Placeholder 3">
            <a:extLst>
              <a:ext uri="{FF2B5EF4-FFF2-40B4-BE49-F238E27FC236}">
                <a16:creationId xmlns:a16="http://schemas.microsoft.com/office/drawing/2014/main" id="{FE00B80D-083D-ED86-AFFC-41497F1A5227}"/>
              </a:ext>
            </a:extLst>
          </p:cNvPr>
          <p:cNvSpPr>
            <a:spLocks noGrp="1"/>
          </p:cNvSpPr>
          <p:nvPr>
            <p:ph type="ftr" sz="quarter" idx="11"/>
          </p:nvPr>
        </p:nvSpPr>
        <p:spPr/>
        <p:txBody>
          <a:bodyPr/>
          <a:lstStyle/>
          <a:p>
            <a:r>
              <a:rPr lang="en-US" dirty="0"/>
              <a:t>AI-powered Interview Assessment Tool</a:t>
            </a:r>
            <a:endParaRPr lang="en-IN" dirty="0"/>
          </a:p>
        </p:txBody>
      </p:sp>
      <p:pic>
        <p:nvPicPr>
          <p:cNvPr id="6" name="Content Placeholder 5">
            <a:extLst>
              <a:ext uri="{FF2B5EF4-FFF2-40B4-BE49-F238E27FC236}">
                <a16:creationId xmlns:a16="http://schemas.microsoft.com/office/drawing/2014/main" id="{C5AB4A14-1412-2F7E-8354-EB7DACCA7076}"/>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a:stretch/>
        </p:blipFill>
        <p:spPr>
          <a:xfrm>
            <a:off x="2648197" y="1831681"/>
            <a:ext cx="6434007" cy="4524669"/>
          </a:xfrm>
          <a:prstGeom prst="rect">
            <a:avLst/>
          </a:prstGeom>
        </p:spPr>
      </p:pic>
      <p:sp>
        <p:nvSpPr>
          <p:cNvPr id="10" name="TextBox 9">
            <a:extLst>
              <a:ext uri="{FF2B5EF4-FFF2-40B4-BE49-F238E27FC236}">
                <a16:creationId xmlns:a16="http://schemas.microsoft.com/office/drawing/2014/main" id="{529F0360-523B-B0C0-C5C5-A1A1190CF278}"/>
              </a:ext>
            </a:extLst>
          </p:cNvPr>
          <p:cNvSpPr txBox="1"/>
          <p:nvPr/>
        </p:nvSpPr>
        <p:spPr>
          <a:xfrm>
            <a:off x="5112328" y="3947608"/>
            <a:ext cx="641267" cy="253916"/>
          </a:xfrm>
          <a:prstGeom prst="rect">
            <a:avLst/>
          </a:prstGeom>
          <a:solidFill>
            <a:schemeClr val="bg1">
              <a:lumMod val="95000"/>
            </a:schemeClr>
          </a:solidFill>
        </p:spPr>
        <p:txBody>
          <a:bodyPr wrap="square" rtlCol="0">
            <a:spAutoFit/>
          </a:bodyPr>
          <a:lstStyle/>
          <a:p>
            <a:r>
              <a:rPr lang="en-US" sz="1050" dirty="0" err="1"/>
              <a:t>spaCy</a:t>
            </a:r>
            <a:endParaRPr lang="en-IN" sz="1050" dirty="0"/>
          </a:p>
        </p:txBody>
      </p:sp>
      <p:sp>
        <p:nvSpPr>
          <p:cNvPr id="12" name="TextBox 11">
            <a:extLst>
              <a:ext uri="{FF2B5EF4-FFF2-40B4-BE49-F238E27FC236}">
                <a16:creationId xmlns:a16="http://schemas.microsoft.com/office/drawing/2014/main" id="{002AEE9E-C55B-F7D8-C0B2-CB6471D10A21}"/>
              </a:ext>
            </a:extLst>
          </p:cNvPr>
          <p:cNvSpPr txBox="1"/>
          <p:nvPr/>
        </p:nvSpPr>
        <p:spPr>
          <a:xfrm>
            <a:off x="6240482" y="3785357"/>
            <a:ext cx="890649" cy="253916"/>
          </a:xfrm>
          <a:prstGeom prst="rect">
            <a:avLst/>
          </a:prstGeom>
          <a:solidFill>
            <a:schemeClr val="bg1">
              <a:lumMod val="95000"/>
            </a:schemeClr>
          </a:solidFill>
        </p:spPr>
        <p:txBody>
          <a:bodyPr wrap="square" rtlCol="0">
            <a:spAutoFit/>
          </a:bodyPr>
          <a:lstStyle/>
          <a:p>
            <a:r>
              <a:rPr lang="en-US" sz="1050" dirty="0" err="1"/>
              <a:t>Librosa</a:t>
            </a:r>
            <a:endParaRPr lang="en-IN" sz="1050" dirty="0"/>
          </a:p>
        </p:txBody>
      </p:sp>
    </p:spTree>
    <p:extLst>
      <p:ext uri="{BB962C8B-B14F-4D97-AF65-F5344CB8AC3E}">
        <p14:creationId xmlns:p14="http://schemas.microsoft.com/office/powerpoint/2010/main" val="2164775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6AD7A-3685-D8E0-850C-81F34A11A731}"/>
              </a:ext>
            </a:extLst>
          </p:cNvPr>
          <p:cNvSpPr>
            <a:spLocks noGrp="1"/>
          </p:cNvSpPr>
          <p:nvPr>
            <p:ph type="title"/>
          </p:nvPr>
        </p:nvSpPr>
        <p:spPr>
          <a:xfrm>
            <a:off x="838200" y="1012557"/>
            <a:ext cx="10515600" cy="633681"/>
          </a:xfrm>
          <a:solidFill>
            <a:srgbClr val="C00000"/>
          </a:solidFill>
        </p:spPr>
        <p:txBody>
          <a:bodyPr>
            <a:normAutofit fontScale="90000"/>
          </a:bodyPr>
          <a:lstStyle/>
          <a:p>
            <a:r>
              <a:rPr lang="en-IN" b="1" dirty="0">
                <a:solidFill>
                  <a:srgbClr val="FFCC00"/>
                </a:solidFill>
                <a:latin typeface="Times New Roman" panose="02020603050405020304" pitchFamily="18" charset="0"/>
                <a:cs typeface="Times New Roman" panose="02020603050405020304" pitchFamily="18" charset="0"/>
              </a:rPr>
              <a:t>PROPOSED   METHODOLOGY </a:t>
            </a:r>
          </a:p>
        </p:txBody>
      </p:sp>
      <p:sp>
        <p:nvSpPr>
          <p:cNvPr id="3" name="Content Placeholder 2">
            <a:extLst>
              <a:ext uri="{FF2B5EF4-FFF2-40B4-BE49-F238E27FC236}">
                <a16:creationId xmlns:a16="http://schemas.microsoft.com/office/drawing/2014/main" id="{8EA5CEC6-0CAD-CF94-AAF0-77AADFB82B9A}"/>
              </a:ext>
            </a:extLst>
          </p:cNvPr>
          <p:cNvSpPr>
            <a:spLocks noGrp="1"/>
          </p:cNvSpPr>
          <p:nvPr>
            <p:ph idx="1"/>
          </p:nvPr>
        </p:nvSpPr>
        <p:spPr>
          <a:xfrm>
            <a:off x="838200" y="2015939"/>
            <a:ext cx="10445750" cy="3970710"/>
          </a:xfrm>
        </p:spPr>
        <p:txBody>
          <a:bodyPr>
            <a:noAutofit/>
          </a:bodyPr>
          <a:lstStyle/>
          <a:p>
            <a:pPr marL="0" indent="0" algn="ctr">
              <a:buNone/>
            </a:pPr>
            <a:r>
              <a:rPr lang="en-US" b="1" dirty="0">
                <a:solidFill>
                  <a:srgbClr val="C00000"/>
                </a:solidFill>
                <a:latin typeface="Times New Roman" panose="02020603050405020304" pitchFamily="18" charset="0"/>
                <a:cs typeface="Times New Roman" panose="02020603050405020304" pitchFamily="18" charset="0"/>
              </a:rPr>
              <a:t>ARCHITECTURE</a:t>
            </a:r>
          </a:p>
          <a:p>
            <a:pPr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Frontend / User Interface</a:t>
            </a:r>
            <a:endParaRPr lang="en-US" dirty="0">
              <a:latin typeface="Times New Roman" panose="02020603050405020304" pitchFamily="18" charset="0"/>
              <a:cs typeface="Times New Roman" panose="02020603050405020304" pitchFamily="18" charset="0"/>
            </a:endParaRPr>
          </a:p>
          <a:p>
            <a:pPr lvl="1" algn="just"/>
            <a:r>
              <a:rPr lang="en-US" sz="2800" b="1" dirty="0">
                <a:latin typeface="Times New Roman" panose="02020603050405020304" pitchFamily="18" charset="0"/>
                <a:cs typeface="Times New Roman" panose="02020603050405020304" pitchFamily="18" charset="0"/>
              </a:rPr>
              <a:t>Function:</a:t>
            </a:r>
            <a:r>
              <a:rPr lang="en-US" sz="2800" dirty="0">
                <a:latin typeface="Times New Roman" panose="02020603050405020304" pitchFamily="18" charset="0"/>
                <a:cs typeface="Times New Roman" panose="02020603050405020304" pitchFamily="18" charset="0"/>
              </a:rPr>
              <a:t> The web-based interface where the candidate interacts with the AI.</a:t>
            </a:r>
          </a:p>
          <a:p>
            <a:pPr lvl="1" algn="just"/>
            <a:r>
              <a:rPr lang="en-US" sz="2800" b="1" dirty="0">
                <a:latin typeface="Times New Roman" panose="02020603050405020304" pitchFamily="18" charset="0"/>
                <a:cs typeface="Times New Roman" panose="02020603050405020304" pitchFamily="18" charset="0"/>
              </a:rPr>
              <a:t>Technology:</a:t>
            </a:r>
            <a:r>
              <a:rPr lang="en-US" sz="2800" dirty="0">
                <a:latin typeface="Times New Roman" panose="02020603050405020304" pitchFamily="18" charset="0"/>
                <a:cs typeface="Times New Roman" panose="02020603050405020304" pitchFamily="18" charset="0"/>
              </a:rPr>
              <a:t> React or Vue.js</a:t>
            </a:r>
            <a:endParaRPr lang="en-US" sz="1800" b="0" i="0" dirty="0">
              <a:effectLst/>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3AB07D01-C55D-48BB-8D5D-F5CE31036138}"/>
              </a:ext>
            </a:extLst>
          </p:cNvPr>
          <p:cNvSpPr>
            <a:spLocks noGrp="1"/>
          </p:cNvSpPr>
          <p:nvPr>
            <p:ph type="sldNum" sz="quarter" idx="12"/>
          </p:nvPr>
        </p:nvSpPr>
        <p:spPr>
          <a:xfrm>
            <a:off x="8610600" y="6562546"/>
            <a:ext cx="2743200" cy="349250"/>
          </a:xfrm>
        </p:spPr>
        <p:txBody>
          <a:bodyPr/>
          <a:lstStyle/>
          <a:p>
            <a:fld id="{F09AFC8B-2B39-4FD9-BC35-C243DBCAD3D3}" type="slidenum">
              <a:rPr lang="en-IN" smtClean="0"/>
              <a:t>10</a:t>
            </a:fld>
            <a:endParaRPr lang="en-IN" dirty="0"/>
          </a:p>
        </p:txBody>
      </p:sp>
      <p:pic>
        <p:nvPicPr>
          <p:cNvPr id="7" name="Picture 6">
            <a:extLst>
              <a:ext uri="{FF2B5EF4-FFF2-40B4-BE49-F238E27FC236}">
                <a16:creationId xmlns:a16="http://schemas.microsoft.com/office/drawing/2014/main" id="{4E3D6339-25D1-0216-FC44-70AF8B26D35D}"/>
              </a:ext>
            </a:extLst>
          </p:cNvPr>
          <p:cNvPicPr>
            <a:picLocks noChangeAspect="1"/>
          </p:cNvPicPr>
          <p:nvPr/>
        </p:nvPicPr>
        <p:blipFill>
          <a:blip r:embed="rId2"/>
          <a:stretch>
            <a:fillRect/>
          </a:stretch>
        </p:blipFill>
        <p:spPr>
          <a:xfrm>
            <a:off x="10175264" y="92908"/>
            <a:ext cx="1178536" cy="829955"/>
          </a:xfrm>
          <a:prstGeom prst="rect">
            <a:avLst/>
          </a:prstGeom>
        </p:spPr>
      </p:pic>
      <p:pic>
        <p:nvPicPr>
          <p:cNvPr id="9" name="Picture 8">
            <a:extLst>
              <a:ext uri="{FF2B5EF4-FFF2-40B4-BE49-F238E27FC236}">
                <a16:creationId xmlns:a16="http://schemas.microsoft.com/office/drawing/2014/main" id="{AEFB537B-2717-824D-3855-5ED96349DC1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4" name="Footer Placeholder 3">
            <a:extLst>
              <a:ext uri="{FF2B5EF4-FFF2-40B4-BE49-F238E27FC236}">
                <a16:creationId xmlns:a16="http://schemas.microsoft.com/office/drawing/2014/main" id="{35329EBA-9FDA-B4ED-0FBC-809B96933399}"/>
              </a:ext>
            </a:extLst>
          </p:cNvPr>
          <p:cNvSpPr>
            <a:spLocks noGrp="1"/>
          </p:cNvSpPr>
          <p:nvPr>
            <p:ph type="ftr" sz="quarter" idx="11"/>
          </p:nvPr>
        </p:nvSpPr>
        <p:spPr>
          <a:xfrm>
            <a:off x="4038600" y="6356350"/>
            <a:ext cx="4114800" cy="365125"/>
          </a:xfrm>
        </p:spPr>
        <p:txBody>
          <a:bodyPr/>
          <a:lstStyle/>
          <a:p>
            <a:r>
              <a:rPr lang="en-US" dirty="0"/>
              <a:t>AI-powered Interview Assessment Tool</a:t>
            </a:r>
            <a:endParaRPr lang="en-IN" dirty="0"/>
          </a:p>
        </p:txBody>
      </p:sp>
    </p:spTree>
    <p:extLst>
      <p:ext uri="{BB962C8B-B14F-4D97-AF65-F5344CB8AC3E}">
        <p14:creationId xmlns:p14="http://schemas.microsoft.com/office/powerpoint/2010/main" val="2472674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C4E6E-9E9E-4ABC-B2C9-037113439C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843C08-F278-3BE3-15DD-7B465A1DB666}"/>
              </a:ext>
            </a:extLst>
          </p:cNvPr>
          <p:cNvSpPr>
            <a:spLocks noGrp="1"/>
          </p:cNvSpPr>
          <p:nvPr>
            <p:ph type="title"/>
          </p:nvPr>
        </p:nvSpPr>
        <p:spPr>
          <a:xfrm>
            <a:off x="838200" y="1012557"/>
            <a:ext cx="10515600" cy="633681"/>
          </a:xfrm>
          <a:solidFill>
            <a:srgbClr val="C00000"/>
          </a:solidFill>
        </p:spPr>
        <p:txBody>
          <a:bodyPr>
            <a:normAutofit fontScale="90000"/>
          </a:bodyPr>
          <a:lstStyle/>
          <a:p>
            <a:r>
              <a:rPr lang="en-IN" b="1" dirty="0">
                <a:solidFill>
                  <a:srgbClr val="FFCC00"/>
                </a:solidFill>
                <a:latin typeface="Times New Roman" panose="02020603050405020304" pitchFamily="18" charset="0"/>
                <a:cs typeface="Times New Roman" panose="02020603050405020304" pitchFamily="18" charset="0"/>
              </a:rPr>
              <a:t>PROPOSED   METHODOLOGY </a:t>
            </a:r>
          </a:p>
        </p:txBody>
      </p:sp>
      <p:sp>
        <p:nvSpPr>
          <p:cNvPr id="3" name="Content Placeholder 2">
            <a:extLst>
              <a:ext uri="{FF2B5EF4-FFF2-40B4-BE49-F238E27FC236}">
                <a16:creationId xmlns:a16="http://schemas.microsoft.com/office/drawing/2014/main" id="{061672D8-1888-6797-2371-CB8CCB0FC7D8}"/>
              </a:ext>
            </a:extLst>
          </p:cNvPr>
          <p:cNvSpPr>
            <a:spLocks noGrp="1"/>
          </p:cNvSpPr>
          <p:nvPr>
            <p:ph idx="1"/>
          </p:nvPr>
        </p:nvSpPr>
        <p:spPr>
          <a:xfrm>
            <a:off x="838200" y="2119037"/>
            <a:ext cx="10515600" cy="3970710"/>
          </a:xfrm>
        </p:spPr>
        <p:txBody>
          <a:bodyPr>
            <a:noAutofit/>
          </a:bodyPr>
          <a:lstStyle/>
          <a:p>
            <a:pPr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Orchestrator Agent (The AI Interviewer)</a:t>
            </a:r>
            <a:r>
              <a:rPr lang="en-US" dirty="0">
                <a:latin typeface="Times New Roman" panose="02020603050405020304" pitchFamily="18" charset="0"/>
                <a:cs typeface="Times New Roman" panose="02020603050405020304" pitchFamily="18" charset="0"/>
              </a:rPr>
              <a:t> </a:t>
            </a:r>
          </a:p>
          <a:p>
            <a:pPr lvl="1" algn="just"/>
            <a:r>
              <a:rPr lang="en-US" sz="2800" b="1" dirty="0">
                <a:latin typeface="Times New Roman" panose="02020603050405020304" pitchFamily="18" charset="0"/>
                <a:cs typeface="Times New Roman" panose="02020603050405020304" pitchFamily="18" charset="0"/>
              </a:rPr>
              <a:t>Function:</a:t>
            </a:r>
            <a:r>
              <a:rPr lang="en-US" sz="2800" dirty="0">
                <a:latin typeface="Times New Roman" panose="02020603050405020304" pitchFamily="18" charset="0"/>
                <a:cs typeface="Times New Roman" panose="02020603050405020304" pitchFamily="18" charset="0"/>
              </a:rPr>
              <a:t> The "brain" of the operation. It manages the entire interview process, from greeting the candidate to asking questions and ending the session.</a:t>
            </a:r>
          </a:p>
          <a:p>
            <a:pPr lvl="1" algn="just"/>
            <a:r>
              <a:rPr lang="en-US" sz="2800" b="1" dirty="0">
                <a:latin typeface="Times New Roman" panose="02020603050405020304" pitchFamily="18" charset="0"/>
                <a:cs typeface="Times New Roman" panose="02020603050405020304" pitchFamily="18" charset="0"/>
              </a:rPr>
              <a:t>Technology:</a:t>
            </a:r>
            <a:endParaRPr lang="en-US" sz="2800" dirty="0">
              <a:latin typeface="Times New Roman" panose="02020603050405020304" pitchFamily="18" charset="0"/>
              <a:cs typeface="Times New Roman" panose="02020603050405020304" pitchFamily="18" charset="0"/>
            </a:endParaRPr>
          </a:p>
          <a:p>
            <a:pPr lvl="2" algn="just"/>
            <a:r>
              <a:rPr lang="en-US" sz="2800" b="1" dirty="0">
                <a:latin typeface="Times New Roman" panose="02020603050405020304" pitchFamily="18" charset="0"/>
                <a:cs typeface="Times New Roman" panose="02020603050405020304" pitchFamily="18" charset="0"/>
              </a:rPr>
              <a:t>Large Language Model (LLM):</a:t>
            </a:r>
            <a:r>
              <a:rPr lang="en-US" sz="2800" dirty="0">
                <a:latin typeface="Times New Roman" panose="02020603050405020304" pitchFamily="18" charset="0"/>
                <a:cs typeface="Times New Roman" panose="02020603050405020304" pitchFamily="18" charset="0"/>
              </a:rPr>
              <a:t> A powerful LLM (like GPT-4, Llama 3, or a fine-tuned open-source model) to generate natural, conversational dialogue.</a:t>
            </a:r>
          </a:p>
          <a:p>
            <a:pPr algn="just">
              <a:buFont typeface="Wingdings" panose="05000000000000000000" pitchFamily="2" charset="2"/>
              <a:buChar char="Ø"/>
            </a:pPr>
            <a:endParaRPr lang="en-US" sz="1800" b="0" i="0" dirty="0">
              <a:effectLst/>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26BE0E47-3CA3-7C25-1E0C-3528B056432B}"/>
              </a:ext>
            </a:extLst>
          </p:cNvPr>
          <p:cNvSpPr>
            <a:spLocks noGrp="1"/>
          </p:cNvSpPr>
          <p:nvPr>
            <p:ph type="sldNum" sz="quarter" idx="12"/>
          </p:nvPr>
        </p:nvSpPr>
        <p:spPr>
          <a:xfrm>
            <a:off x="8610600" y="6562546"/>
            <a:ext cx="2743200" cy="349250"/>
          </a:xfrm>
        </p:spPr>
        <p:txBody>
          <a:bodyPr/>
          <a:lstStyle/>
          <a:p>
            <a:fld id="{F09AFC8B-2B39-4FD9-BC35-C243DBCAD3D3}" type="slidenum">
              <a:rPr lang="en-IN" smtClean="0"/>
              <a:t>11</a:t>
            </a:fld>
            <a:endParaRPr lang="en-IN" dirty="0"/>
          </a:p>
        </p:txBody>
      </p:sp>
      <p:pic>
        <p:nvPicPr>
          <p:cNvPr id="7" name="Picture 6">
            <a:extLst>
              <a:ext uri="{FF2B5EF4-FFF2-40B4-BE49-F238E27FC236}">
                <a16:creationId xmlns:a16="http://schemas.microsoft.com/office/drawing/2014/main" id="{CFD28196-4762-D26F-D14F-E0C157EEF648}"/>
              </a:ext>
            </a:extLst>
          </p:cNvPr>
          <p:cNvPicPr>
            <a:picLocks noChangeAspect="1"/>
          </p:cNvPicPr>
          <p:nvPr/>
        </p:nvPicPr>
        <p:blipFill>
          <a:blip r:embed="rId2"/>
          <a:stretch>
            <a:fillRect/>
          </a:stretch>
        </p:blipFill>
        <p:spPr>
          <a:xfrm>
            <a:off x="10175264" y="92908"/>
            <a:ext cx="1178536" cy="829955"/>
          </a:xfrm>
          <a:prstGeom prst="rect">
            <a:avLst/>
          </a:prstGeom>
        </p:spPr>
      </p:pic>
      <p:pic>
        <p:nvPicPr>
          <p:cNvPr id="9" name="Picture 8">
            <a:extLst>
              <a:ext uri="{FF2B5EF4-FFF2-40B4-BE49-F238E27FC236}">
                <a16:creationId xmlns:a16="http://schemas.microsoft.com/office/drawing/2014/main" id="{F6B79C88-7EF2-7100-71EA-ADDEFB98DAA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4" name="Footer Placeholder 3">
            <a:extLst>
              <a:ext uri="{FF2B5EF4-FFF2-40B4-BE49-F238E27FC236}">
                <a16:creationId xmlns:a16="http://schemas.microsoft.com/office/drawing/2014/main" id="{034B44BB-622D-DBA0-4C8F-1FA27CE87700}"/>
              </a:ext>
            </a:extLst>
          </p:cNvPr>
          <p:cNvSpPr>
            <a:spLocks noGrp="1"/>
          </p:cNvSpPr>
          <p:nvPr>
            <p:ph type="ftr" sz="quarter" idx="11"/>
          </p:nvPr>
        </p:nvSpPr>
        <p:spPr/>
        <p:txBody>
          <a:bodyPr/>
          <a:lstStyle/>
          <a:p>
            <a:r>
              <a:rPr lang="en-US" dirty="0"/>
              <a:t>AI-powered Interview Assessment Tool</a:t>
            </a:r>
            <a:endParaRPr lang="en-IN" dirty="0"/>
          </a:p>
        </p:txBody>
      </p:sp>
    </p:spTree>
    <p:extLst>
      <p:ext uri="{BB962C8B-B14F-4D97-AF65-F5344CB8AC3E}">
        <p14:creationId xmlns:p14="http://schemas.microsoft.com/office/powerpoint/2010/main" val="2288740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019ED-91D2-19B4-BF5C-2614604960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B61466-3AB0-0595-10CA-7A9C03C680C4}"/>
              </a:ext>
            </a:extLst>
          </p:cNvPr>
          <p:cNvSpPr>
            <a:spLocks noGrp="1"/>
          </p:cNvSpPr>
          <p:nvPr>
            <p:ph type="title"/>
          </p:nvPr>
        </p:nvSpPr>
        <p:spPr>
          <a:xfrm>
            <a:off x="838200" y="1012557"/>
            <a:ext cx="10515600" cy="633681"/>
          </a:xfrm>
          <a:solidFill>
            <a:srgbClr val="C00000"/>
          </a:solidFill>
        </p:spPr>
        <p:txBody>
          <a:bodyPr>
            <a:normAutofit fontScale="90000"/>
          </a:bodyPr>
          <a:lstStyle/>
          <a:p>
            <a:r>
              <a:rPr lang="en-IN" b="1" dirty="0">
                <a:solidFill>
                  <a:srgbClr val="FFCC00"/>
                </a:solidFill>
                <a:latin typeface="Times New Roman" panose="02020603050405020304" pitchFamily="18" charset="0"/>
                <a:cs typeface="Times New Roman" panose="02020603050405020304" pitchFamily="18" charset="0"/>
              </a:rPr>
              <a:t>PROPOSED   METHODOLOGY </a:t>
            </a:r>
          </a:p>
        </p:txBody>
      </p:sp>
      <p:sp>
        <p:nvSpPr>
          <p:cNvPr id="3" name="Content Placeholder 2">
            <a:extLst>
              <a:ext uri="{FF2B5EF4-FFF2-40B4-BE49-F238E27FC236}">
                <a16:creationId xmlns:a16="http://schemas.microsoft.com/office/drawing/2014/main" id="{3108961B-2550-4DE5-CF79-F8870680D3CA}"/>
              </a:ext>
            </a:extLst>
          </p:cNvPr>
          <p:cNvSpPr>
            <a:spLocks noGrp="1"/>
          </p:cNvSpPr>
          <p:nvPr>
            <p:ph idx="1"/>
          </p:nvPr>
        </p:nvSpPr>
        <p:spPr>
          <a:xfrm>
            <a:off x="838200" y="2288382"/>
            <a:ext cx="10515600" cy="3970710"/>
          </a:xfrm>
        </p:spPr>
        <p:txBody>
          <a:bodyPr>
            <a:noAutofit/>
          </a:bodyPr>
          <a:lstStyle/>
          <a:p>
            <a:pPr lvl="2" algn="just"/>
            <a:r>
              <a:rPr lang="en-US" sz="2800" b="1" dirty="0">
                <a:latin typeface="Times New Roman" panose="02020603050405020304" pitchFamily="18" charset="0"/>
                <a:cs typeface="Times New Roman" panose="02020603050405020304" pitchFamily="18" charset="0"/>
              </a:rPr>
              <a:t>Technology ( Contd. )</a:t>
            </a:r>
          </a:p>
          <a:p>
            <a:pPr lvl="3" algn="just"/>
            <a:r>
              <a:rPr lang="en-US" sz="2800" b="1" dirty="0">
                <a:latin typeface="Times New Roman" panose="02020603050405020304" pitchFamily="18" charset="0"/>
                <a:cs typeface="Times New Roman" panose="02020603050405020304" pitchFamily="18" charset="0"/>
              </a:rPr>
              <a:t>Text-to-Speech (TTS):</a:t>
            </a:r>
            <a:r>
              <a:rPr lang="en-US" sz="2800" dirty="0">
                <a:latin typeface="Times New Roman" panose="02020603050405020304" pitchFamily="18" charset="0"/>
                <a:cs typeface="Times New Roman" panose="02020603050405020304" pitchFamily="18" charset="0"/>
              </a:rPr>
              <a:t> To convert the LLM's text responses into spoken words.</a:t>
            </a:r>
          </a:p>
          <a:p>
            <a:pPr lvl="3" algn="just"/>
            <a:r>
              <a:rPr lang="en-US" sz="2800" b="1" dirty="0">
                <a:latin typeface="Times New Roman" panose="02020603050405020304" pitchFamily="18" charset="0"/>
                <a:cs typeface="Times New Roman" panose="02020603050405020304" pitchFamily="18" charset="0"/>
              </a:rPr>
              <a:t>Question Bank:</a:t>
            </a:r>
            <a:r>
              <a:rPr lang="en-US" sz="2800" dirty="0">
                <a:latin typeface="Times New Roman" panose="02020603050405020304" pitchFamily="18" charset="0"/>
                <a:cs typeface="Times New Roman" panose="02020603050405020304" pitchFamily="18" charset="0"/>
              </a:rPr>
              <a:t> A database of pre-selected interview questions that the orchestrator pulls from.</a:t>
            </a:r>
          </a:p>
          <a:p>
            <a:pPr marL="914400" lvl="2" indent="0" algn="just">
              <a:buNone/>
            </a:pPr>
            <a:endParaRPr lang="en-US" sz="2800" b="1" dirty="0">
              <a:latin typeface="Times New Roman" panose="02020603050405020304" pitchFamily="18" charset="0"/>
              <a:cs typeface="Times New Roman" panose="02020603050405020304" pitchFamily="18" charset="0"/>
            </a:endParaRPr>
          </a:p>
          <a:p>
            <a:pPr lvl="2" algn="just"/>
            <a:r>
              <a:rPr lang="en-US" sz="2800" b="1" dirty="0">
                <a:latin typeface="Times New Roman" panose="02020603050405020304" pitchFamily="18" charset="0"/>
                <a:cs typeface="Times New Roman" panose="02020603050405020304" pitchFamily="18" charset="0"/>
              </a:rPr>
              <a:t>How it works:</a:t>
            </a:r>
            <a:r>
              <a:rPr lang="en-US" sz="2800" dirty="0">
                <a:latin typeface="Times New Roman" panose="02020603050405020304" pitchFamily="18" charset="0"/>
                <a:cs typeface="Times New Roman" panose="02020603050405020304" pitchFamily="18" charset="0"/>
              </a:rPr>
              <a:t> It initiates the conversation, selects a question from the bank, sends it to the TTS service to be spoken aloud, and then activates the other agents to begin analysis.</a:t>
            </a:r>
          </a:p>
          <a:p>
            <a:pPr algn="just">
              <a:buFont typeface="Wingdings" panose="05000000000000000000" pitchFamily="2" charset="2"/>
              <a:buChar char="Ø"/>
            </a:pPr>
            <a:endParaRPr lang="en-US" sz="1800" b="0" i="0" dirty="0">
              <a:effectLst/>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62ACBE4-9DC0-F09F-E56E-248BAFDAB539}"/>
              </a:ext>
            </a:extLst>
          </p:cNvPr>
          <p:cNvSpPr>
            <a:spLocks noGrp="1"/>
          </p:cNvSpPr>
          <p:nvPr>
            <p:ph type="sldNum" sz="quarter" idx="12"/>
          </p:nvPr>
        </p:nvSpPr>
        <p:spPr>
          <a:xfrm>
            <a:off x="8610600" y="6562546"/>
            <a:ext cx="2743200" cy="349250"/>
          </a:xfrm>
        </p:spPr>
        <p:txBody>
          <a:bodyPr/>
          <a:lstStyle/>
          <a:p>
            <a:fld id="{F09AFC8B-2B39-4FD9-BC35-C243DBCAD3D3}" type="slidenum">
              <a:rPr lang="en-IN" smtClean="0"/>
              <a:t>12</a:t>
            </a:fld>
            <a:endParaRPr lang="en-IN" dirty="0"/>
          </a:p>
        </p:txBody>
      </p:sp>
      <p:pic>
        <p:nvPicPr>
          <p:cNvPr id="7" name="Picture 6">
            <a:extLst>
              <a:ext uri="{FF2B5EF4-FFF2-40B4-BE49-F238E27FC236}">
                <a16:creationId xmlns:a16="http://schemas.microsoft.com/office/drawing/2014/main" id="{C2F30AAA-FF0A-33A5-B8D5-0AA9B54C8123}"/>
              </a:ext>
            </a:extLst>
          </p:cNvPr>
          <p:cNvPicPr>
            <a:picLocks noChangeAspect="1"/>
          </p:cNvPicPr>
          <p:nvPr/>
        </p:nvPicPr>
        <p:blipFill>
          <a:blip r:embed="rId2"/>
          <a:stretch>
            <a:fillRect/>
          </a:stretch>
        </p:blipFill>
        <p:spPr>
          <a:xfrm>
            <a:off x="10175264" y="92908"/>
            <a:ext cx="1178536" cy="829955"/>
          </a:xfrm>
          <a:prstGeom prst="rect">
            <a:avLst/>
          </a:prstGeom>
        </p:spPr>
      </p:pic>
      <p:pic>
        <p:nvPicPr>
          <p:cNvPr id="9" name="Picture 8">
            <a:extLst>
              <a:ext uri="{FF2B5EF4-FFF2-40B4-BE49-F238E27FC236}">
                <a16:creationId xmlns:a16="http://schemas.microsoft.com/office/drawing/2014/main" id="{2AB760CA-C897-5012-FCDF-49A4C83323B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4" name="Footer Placeholder 3">
            <a:extLst>
              <a:ext uri="{FF2B5EF4-FFF2-40B4-BE49-F238E27FC236}">
                <a16:creationId xmlns:a16="http://schemas.microsoft.com/office/drawing/2014/main" id="{BBC8231C-F615-2CD2-3A08-64A2D9559869}"/>
              </a:ext>
            </a:extLst>
          </p:cNvPr>
          <p:cNvSpPr>
            <a:spLocks noGrp="1"/>
          </p:cNvSpPr>
          <p:nvPr>
            <p:ph type="ftr" sz="quarter" idx="11"/>
          </p:nvPr>
        </p:nvSpPr>
        <p:spPr/>
        <p:txBody>
          <a:bodyPr/>
          <a:lstStyle/>
          <a:p>
            <a:r>
              <a:rPr lang="en-US" dirty="0"/>
              <a:t>AI-powered Interview Assessment Tool</a:t>
            </a:r>
            <a:endParaRPr lang="en-IN" dirty="0"/>
          </a:p>
        </p:txBody>
      </p:sp>
    </p:spTree>
    <p:extLst>
      <p:ext uri="{BB962C8B-B14F-4D97-AF65-F5344CB8AC3E}">
        <p14:creationId xmlns:p14="http://schemas.microsoft.com/office/powerpoint/2010/main" val="1313058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9FD36-209D-A1F6-F65E-B02FF5476A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B6D2BF-FA7C-9720-0E94-D733EDCBBB95}"/>
              </a:ext>
            </a:extLst>
          </p:cNvPr>
          <p:cNvSpPr>
            <a:spLocks noGrp="1"/>
          </p:cNvSpPr>
          <p:nvPr>
            <p:ph type="title"/>
          </p:nvPr>
        </p:nvSpPr>
        <p:spPr>
          <a:xfrm>
            <a:off x="838200" y="1012557"/>
            <a:ext cx="10515600" cy="633681"/>
          </a:xfrm>
          <a:solidFill>
            <a:srgbClr val="C00000"/>
          </a:solidFill>
        </p:spPr>
        <p:txBody>
          <a:bodyPr>
            <a:normAutofit fontScale="90000"/>
          </a:bodyPr>
          <a:lstStyle/>
          <a:p>
            <a:r>
              <a:rPr lang="en-IN" b="1" dirty="0">
                <a:solidFill>
                  <a:srgbClr val="FFCC00"/>
                </a:solidFill>
                <a:latin typeface="Times New Roman" panose="02020603050405020304" pitchFamily="18" charset="0"/>
                <a:cs typeface="Times New Roman" panose="02020603050405020304" pitchFamily="18" charset="0"/>
              </a:rPr>
              <a:t>PROPOSED   METHODOLOGY</a:t>
            </a:r>
          </a:p>
        </p:txBody>
      </p:sp>
      <p:sp>
        <p:nvSpPr>
          <p:cNvPr id="3" name="Content Placeholder 2">
            <a:extLst>
              <a:ext uri="{FF2B5EF4-FFF2-40B4-BE49-F238E27FC236}">
                <a16:creationId xmlns:a16="http://schemas.microsoft.com/office/drawing/2014/main" id="{3AB69660-9FCA-E21C-D527-AF4EF60D184A}"/>
              </a:ext>
            </a:extLst>
          </p:cNvPr>
          <p:cNvSpPr>
            <a:spLocks noGrp="1"/>
          </p:cNvSpPr>
          <p:nvPr>
            <p:ph idx="1"/>
          </p:nvPr>
        </p:nvSpPr>
        <p:spPr>
          <a:xfrm>
            <a:off x="838200" y="2075047"/>
            <a:ext cx="10515600" cy="3970710"/>
          </a:xfrm>
        </p:spPr>
        <p:txBody>
          <a:bodyPr>
            <a:noAutofit/>
          </a:bodyPr>
          <a:lstStyle/>
          <a:p>
            <a:pPr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Specialized Analysis Agents</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      These agents work in parallel to process the candidate's response.</a:t>
            </a:r>
          </a:p>
          <a:p>
            <a:pPr lvl="1" algn="just">
              <a:buFont typeface="Wingdings" panose="05000000000000000000" pitchFamily="2" charset="2"/>
              <a:buChar char="Ø"/>
            </a:pPr>
            <a:r>
              <a:rPr lang="en-US" sz="2800" b="1" dirty="0">
                <a:solidFill>
                  <a:srgbClr val="FF0000"/>
                </a:solidFill>
                <a:latin typeface="Times New Roman" panose="02020603050405020304" pitchFamily="18" charset="0"/>
                <a:cs typeface="Times New Roman" panose="02020603050405020304" pitchFamily="18" charset="0"/>
              </a:rPr>
              <a:t>A. Verbal Analysis Agent (The Scribe &amp; Analyst)</a:t>
            </a:r>
            <a:endParaRPr lang="en-US" sz="2800" dirty="0">
              <a:solidFill>
                <a:srgbClr val="FF0000"/>
              </a:solidFill>
              <a:latin typeface="Times New Roman" panose="02020603050405020304" pitchFamily="18" charset="0"/>
              <a:cs typeface="Times New Roman" panose="02020603050405020304" pitchFamily="18" charset="0"/>
            </a:endParaRPr>
          </a:p>
          <a:p>
            <a:pPr lvl="2" algn="just"/>
            <a:r>
              <a:rPr lang="en-US" sz="2800" b="1" dirty="0">
                <a:latin typeface="Times New Roman" panose="02020603050405020304" pitchFamily="18" charset="0"/>
                <a:cs typeface="Times New Roman" panose="02020603050405020304" pitchFamily="18" charset="0"/>
              </a:rPr>
              <a:t>Function:</a:t>
            </a:r>
            <a:r>
              <a:rPr lang="en-US" sz="2800" dirty="0">
                <a:latin typeface="Times New Roman" panose="02020603050405020304" pitchFamily="18" charset="0"/>
                <a:cs typeface="Times New Roman" panose="02020603050405020304" pitchFamily="18" charset="0"/>
              </a:rPr>
              <a:t> To understand </a:t>
            </a:r>
            <a:r>
              <a:rPr lang="en-US" sz="2800" i="1" dirty="0">
                <a:latin typeface="Times New Roman" panose="02020603050405020304" pitchFamily="18" charset="0"/>
                <a:cs typeface="Times New Roman" panose="02020603050405020304" pitchFamily="18" charset="0"/>
              </a:rPr>
              <a:t>what</a:t>
            </a:r>
            <a:r>
              <a:rPr lang="en-US" sz="2800" dirty="0">
                <a:latin typeface="Times New Roman" panose="02020603050405020304" pitchFamily="18" charset="0"/>
                <a:cs typeface="Times New Roman" panose="02020603050405020304" pitchFamily="18" charset="0"/>
              </a:rPr>
              <a:t> the candidate is saying.</a:t>
            </a:r>
          </a:p>
          <a:p>
            <a:pPr lvl="2" algn="just"/>
            <a:r>
              <a:rPr lang="en-US" sz="2800" b="1" dirty="0">
                <a:latin typeface="Times New Roman" panose="02020603050405020304" pitchFamily="18" charset="0"/>
                <a:cs typeface="Times New Roman" panose="02020603050405020304" pitchFamily="18" charset="0"/>
              </a:rPr>
              <a:t>Technology:</a:t>
            </a:r>
            <a:endParaRPr lang="en-US" sz="2800" dirty="0">
              <a:latin typeface="Times New Roman" panose="02020603050405020304" pitchFamily="18" charset="0"/>
              <a:cs typeface="Times New Roman" panose="02020603050405020304" pitchFamily="18" charset="0"/>
            </a:endParaRPr>
          </a:p>
          <a:p>
            <a:pPr lvl="3" algn="just"/>
            <a:r>
              <a:rPr lang="en-US" sz="2800" b="1" dirty="0">
                <a:latin typeface="Times New Roman" panose="02020603050405020304" pitchFamily="18" charset="0"/>
                <a:cs typeface="Times New Roman" panose="02020603050405020304" pitchFamily="18" charset="0"/>
              </a:rPr>
              <a:t>Speech-to-Text (STT):</a:t>
            </a:r>
            <a:r>
              <a:rPr lang="en-US" sz="2800" dirty="0">
                <a:latin typeface="Times New Roman" panose="02020603050405020304" pitchFamily="18" charset="0"/>
                <a:cs typeface="Times New Roman" panose="02020603050405020304" pitchFamily="18" charset="0"/>
              </a:rPr>
              <a:t> A highly accurate model (like Whisper) to transcribe the candidate's spoken answer into text.</a:t>
            </a:r>
          </a:p>
          <a:p>
            <a:pPr marL="0" indent="0" algn="just">
              <a:buNone/>
            </a:pPr>
            <a:endParaRPr lang="en-US" b="0" i="0" dirty="0">
              <a:effectLst/>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B1BBA805-EC54-93DB-FFEA-416F79A8A633}"/>
              </a:ext>
            </a:extLst>
          </p:cNvPr>
          <p:cNvSpPr>
            <a:spLocks noGrp="1"/>
          </p:cNvSpPr>
          <p:nvPr>
            <p:ph type="sldNum" sz="quarter" idx="12"/>
          </p:nvPr>
        </p:nvSpPr>
        <p:spPr>
          <a:xfrm>
            <a:off x="8610600" y="6562546"/>
            <a:ext cx="2743200" cy="349250"/>
          </a:xfrm>
        </p:spPr>
        <p:txBody>
          <a:bodyPr/>
          <a:lstStyle/>
          <a:p>
            <a:fld id="{F09AFC8B-2B39-4FD9-BC35-C243DBCAD3D3}" type="slidenum">
              <a:rPr lang="en-IN" smtClean="0"/>
              <a:t>13</a:t>
            </a:fld>
            <a:endParaRPr lang="en-IN" dirty="0"/>
          </a:p>
        </p:txBody>
      </p:sp>
      <p:pic>
        <p:nvPicPr>
          <p:cNvPr id="7" name="Picture 6">
            <a:extLst>
              <a:ext uri="{FF2B5EF4-FFF2-40B4-BE49-F238E27FC236}">
                <a16:creationId xmlns:a16="http://schemas.microsoft.com/office/drawing/2014/main" id="{39049682-258B-4BA8-18C0-6E8262AC6A30}"/>
              </a:ext>
            </a:extLst>
          </p:cNvPr>
          <p:cNvPicPr>
            <a:picLocks noChangeAspect="1"/>
          </p:cNvPicPr>
          <p:nvPr/>
        </p:nvPicPr>
        <p:blipFill>
          <a:blip r:embed="rId2"/>
          <a:stretch>
            <a:fillRect/>
          </a:stretch>
        </p:blipFill>
        <p:spPr>
          <a:xfrm>
            <a:off x="10175264" y="92908"/>
            <a:ext cx="1178536" cy="829955"/>
          </a:xfrm>
          <a:prstGeom prst="rect">
            <a:avLst/>
          </a:prstGeom>
        </p:spPr>
      </p:pic>
      <p:pic>
        <p:nvPicPr>
          <p:cNvPr id="9" name="Picture 8">
            <a:extLst>
              <a:ext uri="{FF2B5EF4-FFF2-40B4-BE49-F238E27FC236}">
                <a16:creationId xmlns:a16="http://schemas.microsoft.com/office/drawing/2014/main" id="{924329A4-A518-BE3C-A588-3756C5AEEBF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4" name="Footer Placeholder 3">
            <a:extLst>
              <a:ext uri="{FF2B5EF4-FFF2-40B4-BE49-F238E27FC236}">
                <a16:creationId xmlns:a16="http://schemas.microsoft.com/office/drawing/2014/main" id="{EDE21723-5345-783E-6D6B-7502E41DBFE2}"/>
              </a:ext>
            </a:extLst>
          </p:cNvPr>
          <p:cNvSpPr>
            <a:spLocks noGrp="1"/>
          </p:cNvSpPr>
          <p:nvPr>
            <p:ph type="ftr" sz="quarter" idx="11"/>
          </p:nvPr>
        </p:nvSpPr>
        <p:spPr/>
        <p:txBody>
          <a:bodyPr/>
          <a:lstStyle/>
          <a:p>
            <a:r>
              <a:rPr lang="en-US" dirty="0"/>
              <a:t>AI-powered Interview Assessment Tool</a:t>
            </a:r>
            <a:endParaRPr lang="en-IN" dirty="0"/>
          </a:p>
        </p:txBody>
      </p:sp>
    </p:spTree>
    <p:extLst>
      <p:ext uri="{BB962C8B-B14F-4D97-AF65-F5344CB8AC3E}">
        <p14:creationId xmlns:p14="http://schemas.microsoft.com/office/powerpoint/2010/main" val="22720138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5C0FA-FDD9-5D3C-1729-D908A1C1B8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07B22F-BD65-E7B2-529F-C7268D58FE4F}"/>
              </a:ext>
            </a:extLst>
          </p:cNvPr>
          <p:cNvSpPr>
            <a:spLocks noGrp="1"/>
          </p:cNvSpPr>
          <p:nvPr>
            <p:ph type="title"/>
          </p:nvPr>
        </p:nvSpPr>
        <p:spPr>
          <a:xfrm>
            <a:off x="838200" y="1012557"/>
            <a:ext cx="10515600" cy="633681"/>
          </a:xfrm>
          <a:solidFill>
            <a:srgbClr val="C00000"/>
          </a:solidFill>
        </p:spPr>
        <p:txBody>
          <a:bodyPr>
            <a:normAutofit fontScale="90000"/>
          </a:bodyPr>
          <a:lstStyle/>
          <a:p>
            <a:r>
              <a:rPr lang="en-IN" b="1" dirty="0">
                <a:solidFill>
                  <a:srgbClr val="FFCC00"/>
                </a:solidFill>
                <a:latin typeface="Times New Roman" panose="02020603050405020304" pitchFamily="18" charset="0"/>
                <a:cs typeface="Times New Roman" panose="02020603050405020304" pitchFamily="18" charset="0"/>
              </a:rPr>
              <a:t>PROPOSED   METHODOLOGY</a:t>
            </a:r>
          </a:p>
        </p:txBody>
      </p:sp>
      <p:sp>
        <p:nvSpPr>
          <p:cNvPr id="3" name="Content Placeholder 2">
            <a:extLst>
              <a:ext uri="{FF2B5EF4-FFF2-40B4-BE49-F238E27FC236}">
                <a16:creationId xmlns:a16="http://schemas.microsoft.com/office/drawing/2014/main" id="{C8E57A26-7552-1107-290D-F5C5224DD494}"/>
              </a:ext>
            </a:extLst>
          </p:cNvPr>
          <p:cNvSpPr>
            <a:spLocks noGrp="1"/>
          </p:cNvSpPr>
          <p:nvPr>
            <p:ph idx="1"/>
          </p:nvPr>
        </p:nvSpPr>
        <p:spPr>
          <a:xfrm>
            <a:off x="838200" y="2075047"/>
            <a:ext cx="10515600" cy="3970710"/>
          </a:xfrm>
        </p:spPr>
        <p:txBody>
          <a:bodyPr>
            <a:noAutofit/>
          </a:bodyPr>
          <a:lstStyle/>
          <a:p>
            <a:pPr marL="1371600" lvl="3" indent="0" algn="just">
              <a:buNone/>
            </a:pPr>
            <a:endParaRPr lang="en-US" b="1" dirty="0">
              <a:latin typeface="Times New Roman" panose="02020603050405020304" pitchFamily="18" charset="0"/>
              <a:cs typeface="Times New Roman" panose="02020603050405020304" pitchFamily="18" charset="0"/>
            </a:endParaRPr>
          </a:p>
          <a:p>
            <a:pPr lvl="2" algn="just"/>
            <a:r>
              <a:rPr lang="en-US" sz="2800" b="1" dirty="0">
                <a:latin typeface="Times New Roman" panose="02020603050405020304" pitchFamily="18" charset="0"/>
                <a:cs typeface="Times New Roman" panose="02020603050405020304" pitchFamily="18" charset="0"/>
              </a:rPr>
              <a:t>Technology ( Contd. )</a:t>
            </a:r>
          </a:p>
          <a:p>
            <a:pPr lvl="3" algn="just"/>
            <a:r>
              <a:rPr lang="en-US" sz="2800" b="1" dirty="0" err="1">
                <a:latin typeface="Times New Roman" panose="02020603050405020304" pitchFamily="18" charset="0"/>
                <a:cs typeface="Times New Roman" panose="02020603050405020304" pitchFamily="18" charset="0"/>
              </a:rPr>
              <a:t>spaCy</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 fast and robust NLP library for tasks like tokenization, named entity recognition, and part-of-speech tagging.</a:t>
            </a:r>
          </a:p>
          <a:p>
            <a:pPr lvl="2" algn="just"/>
            <a:r>
              <a:rPr lang="en-US" sz="3000" b="1" dirty="0">
                <a:latin typeface="Times New Roman" panose="02020603050405020304" pitchFamily="18" charset="0"/>
                <a:cs typeface="Times New Roman" panose="02020603050405020304" pitchFamily="18" charset="0"/>
              </a:rPr>
              <a:t>Output:</a:t>
            </a:r>
            <a:r>
              <a:rPr lang="en-US" sz="3000" dirty="0">
                <a:latin typeface="Times New Roman" panose="02020603050405020304" pitchFamily="18" charset="0"/>
                <a:cs typeface="Times New Roman" panose="02020603050405020304" pitchFamily="18" charset="0"/>
              </a:rPr>
              <a:t> A score based on the content and quality of the answer.</a:t>
            </a:r>
          </a:p>
        </p:txBody>
      </p:sp>
      <p:sp>
        <p:nvSpPr>
          <p:cNvPr id="5" name="Slide Number Placeholder 4">
            <a:extLst>
              <a:ext uri="{FF2B5EF4-FFF2-40B4-BE49-F238E27FC236}">
                <a16:creationId xmlns:a16="http://schemas.microsoft.com/office/drawing/2014/main" id="{843C4A02-9F4C-A9B8-B7D0-9787B2830619}"/>
              </a:ext>
            </a:extLst>
          </p:cNvPr>
          <p:cNvSpPr>
            <a:spLocks noGrp="1"/>
          </p:cNvSpPr>
          <p:nvPr>
            <p:ph type="sldNum" sz="quarter" idx="12"/>
          </p:nvPr>
        </p:nvSpPr>
        <p:spPr>
          <a:xfrm>
            <a:off x="8610600" y="6562546"/>
            <a:ext cx="2743200" cy="349250"/>
          </a:xfrm>
        </p:spPr>
        <p:txBody>
          <a:bodyPr/>
          <a:lstStyle/>
          <a:p>
            <a:fld id="{F09AFC8B-2B39-4FD9-BC35-C243DBCAD3D3}" type="slidenum">
              <a:rPr lang="en-IN" smtClean="0"/>
              <a:t>14</a:t>
            </a:fld>
            <a:endParaRPr lang="en-IN" dirty="0"/>
          </a:p>
        </p:txBody>
      </p:sp>
      <p:pic>
        <p:nvPicPr>
          <p:cNvPr id="7" name="Picture 6">
            <a:extLst>
              <a:ext uri="{FF2B5EF4-FFF2-40B4-BE49-F238E27FC236}">
                <a16:creationId xmlns:a16="http://schemas.microsoft.com/office/drawing/2014/main" id="{216BAADD-E0DC-04DE-5744-3125F3DBEFF6}"/>
              </a:ext>
            </a:extLst>
          </p:cNvPr>
          <p:cNvPicPr>
            <a:picLocks noChangeAspect="1"/>
          </p:cNvPicPr>
          <p:nvPr/>
        </p:nvPicPr>
        <p:blipFill>
          <a:blip r:embed="rId2"/>
          <a:stretch>
            <a:fillRect/>
          </a:stretch>
        </p:blipFill>
        <p:spPr>
          <a:xfrm>
            <a:off x="10175264" y="92908"/>
            <a:ext cx="1178536" cy="829955"/>
          </a:xfrm>
          <a:prstGeom prst="rect">
            <a:avLst/>
          </a:prstGeom>
        </p:spPr>
      </p:pic>
      <p:pic>
        <p:nvPicPr>
          <p:cNvPr id="9" name="Picture 8">
            <a:extLst>
              <a:ext uri="{FF2B5EF4-FFF2-40B4-BE49-F238E27FC236}">
                <a16:creationId xmlns:a16="http://schemas.microsoft.com/office/drawing/2014/main" id="{42E994F4-0AB4-DCF3-FB29-DAB7CEFE995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4" name="Footer Placeholder 3">
            <a:extLst>
              <a:ext uri="{FF2B5EF4-FFF2-40B4-BE49-F238E27FC236}">
                <a16:creationId xmlns:a16="http://schemas.microsoft.com/office/drawing/2014/main" id="{5B88100B-F400-267C-F8C5-698662AF9F01}"/>
              </a:ext>
            </a:extLst>
          </p:cNvPr>
          <p:cNvSpPr>
            <a:spLocks noGrp="1"/>
          </p:cNvSpPr>
          <p:nvPr>
            <p:ph type="ftr" sz="quarter" idx="11"/>
          </p:nvPr>
        </p:nvSpPr>
        <p:spPr/>
        <p:txBody>
          <a:bodyPr/>
          <a:lstStyle/>
          <a:p>
            <a:r>
              <a:rPr lang="en-US" dirty="0"/>
              <a:t>AI-powered Interview Assessment Tool</a:t>
            </a:r>
            <a:endParaRPr lang="en-IN" dirty="0"/>
          </a:p>
        </p:txBody>
      </p:sp>
    </p:spTree>
    <p:extLst>
      <p:ext uri="{BB962C8B-B14F-4D97-AF65-F5344CB8AC3E}">
        <p14:creationId xmlns:p14="http://schemas.microsoft.com/office/powerpoint/2010/main" val="3200013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7AF09-52CB-0ED8-5B71-87A090A196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2DA078-161C-11F4-B3F3-056D94A604F4}"/>
              </a:ext>
            </a:extLst>
          </p:cNvPr>
          <p:cNvSpPr>
            <a:spLocks noGrp="1"/>
          </p:cNvSpPr>
          <p:nvPr>
            <p:ph type="title"/>
          </p:nvPr>
        </p:nvSpPr>
        <p:spPr>
          <a:xfrm>
            <a:off x="838200" y="1012557"/>
            <a:ext cx="10515600" cy="633681"/>
          </a:xfrm>
          <a:solidFill>
            <a:srgbClr val="C00000"/>
          </a:solidFill>
        </p:spPr>
        <p:txBody>
          <a:bodyPr>
            <a:normAutofit fontScale="90000"/>
          </a:bodyPr>
          <a:lstStyle/>
          <a:p>
            <a:r>
              <a:rPr lang="en-IN" b="1" dirty="0">
                <a:solidFill>
                  <a:srgbClr val="FFCC00"/>
                </a:solidFill>
                <a:latin typeface="Times New Roman" panose="02020603050405020304" pitchFamily="18" charset="0"/>
                <a:cs typeface="Times New Roman" panose="02020603050405020304" pitchFamily="18" charset="0"/>
              </a:rPr>
              <a:t>PROPOSED   METHODOLOGY</a:t>
            </a:r>
          </a:p>
        </p:txBody>
      </p:sp>
      <p:sp>
        <p:nvSpPr>
          <p:cNvPr id="5" name="Slide Number Placeholder 4">
            <a:extLst>
              <a:ext uri="{FF2B5EF4-FFF2-40B4-BE49-F238E27FC236}">
                <a16:creationId xmlns:a16="http://schemas.microsoft.com/office/drawing/2014/main" id="{913104F0-51AC-1076-F147-21E3BE1370CE}"/>
              </a:ext>
            </a:extLst>
          </p:cNvPr>
          <p:cNvSpPr>
            <a:spLocks noGrp="1"/>
          </p:cNvSpPr>
          <p:nvPr>
            <p:ph type="sldNum" sz="quarter" idx="12"/>
          </p:nvPr>
        </p:nvSpPr>
        <p:spPr>
          <a:xfrm>
            <a:off x="8610600" y="6562546"/>
            <a:ext cx="2743200" cy="349250"/>
          </a:xfrm>
        </p:spPr>
        <p:txBody>
          <a:bodyPr/>
          <a:lstStyle/>
          <a:p>
            <a:fld id="{F09AFC8B-2B39-4FD9-BC35-C243DBCAD3D3}" type="slidenum">
              <a:rPr lang="en-IN" smtClean="0"/>
              <a:t>15</a:t>
            </a:fld>
            <a:endParaRPr lang="en-IN" dirty="0"/>
          </a:p>
        </p:txBody>
      </p:sp>
      <p:pic>
        <p:nvPicPr>
          <p:cNvPr id="7" name="Picture 6">
            <a:extLst>
              <a:ext uri="{FF2B5EF4-FFF2-40B4-BE49-F238E27FC236}">
                <a16:creationId xmlns:a16="http://schemas.microsoft.com/office/drawing/2014/main" id="{C8CE6B38-044D-33B9-F8BD-84FA8EF0B77D}"/>
              </a:ext>
            </a:extLst>
          </p:cNvPr>
          <p:cNvPicPr>
            <a:picLocks noChangeAspect="1"/>
          </p:cNvPicPr>
          <p:nvPr/>
        </p:nvPicPr>
        <p:blipFill>
          <a:blip r:embed="rId2"/>
          <a:stretch>
            <a:fillRect/>
          </a:stretch>
        </p:blipFill>
        <p:spPr>
          <a:xfrm>
            <a:off x="10175264" y="92908"/>
            <a:ext cx="1178536" cy="829955"/>
          </a:xfrm>
          <a:prstGeom prst="rect">
            <a:avLst/>
          </a:prstGeom>
        </p:spPr>
      </p:pic>
      <p:pic>
        <p:nvPicPr>
          <p:cNvPr id="9" name="Picture 8">
            <a:extLst>
              <a:ext uri="{FF2B5EF4-FFF2-40B4-BE49-F238E27FC236}">
                <a16:creationId xmlns:a16="http://schemas.microsoft.com/office/drawing/2014/main" id="{AA93BA06-2E56-1273-77CA-BA8A0CBA5D4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4" name="Footer Placeholder 3">
            <a:extLst>
              <a:ext uri="{FF2B5EF4-FFF2-40B4-BE49-F238E27FC236}">
                <a16:creationId xmlns:a16="http://schemas.microsoft.com/office/drawing/2014/main" id="{A66B579D-09B9-78D9-29F8-46EDA8C00809}"/>
              </a:ext>
            </a:extLst>
          </p:cNvPr>
          <p:cNvSpPr>
            <a:spLocks noGrp="1"/>
          </p:cNvSpPr>
          <p:nvPr>
            <p:ph type="ftr" sz="quarter" idx="11"/>
          </p:nvPr>
        </p:nvSpPr>
        <p:spPr/>
        <p:txBody>
          <a:bodyPr/>
          <a:lstStyle/>
          <a:p>
            <a:r>
              <a:rPr lang="en-US" dirty="0"/>
              <a:t>AI-powered Interview Assessment Tool</a:t>
            </a:r>
            <a:endParaRPr lang="en-IN" dirty="0"/>
          </a:p>
        </p:txBody>
      </p:sp>
      <p:sp>
        <p:nvSpPr>
          <p:cNvPr id="6" name="Content Placeholder 2">
            <a:extLst>
              <a:ext uri="{FF2B5EF4-FFF2-40B4-BE49-F238E27FC236}">
                <a16:creationId xmlns:a16="http://schemas.microsoft.com/office/drawing/2014/main" id="{CA743F79-8567-E618-4165-F8183DB5FC47}"/>
              </a:ext>
            </a:extLst>
          </p:cNvPr>
          <p:cNvSpPr txBox="1">
            <a:spLocks/>
          </p:cNvSpPr>
          <p:nvPr/>
        </p:nvSpPr>
        <p:spPr>
          <a:xfrm>
            <a:off x="838200" y="2130677"/>
            <a:ext cx="10515600" cy="21242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Ø"/>
            </a:pPr>
            <a:r>
              <a:rPr lang="en-US" b="1" dirty="0">
                <a:solidFill>
                  <a:srgbClr val="FF0000"/>
                </a:solidFill>
                <a:latin typeface="Times New Roman" panose="02020603050405020304" pitchFamily="18" charset="0"/>
                <a:cs typeface="Times New Roman" panose="02020603050405020304" pitchFamily="18" charset="0"/>
              </a:rPr>
              <a:t>B. Vocal Analysis Agent (The Tone Analyzer)</a:t>
            </a:r>
            <a:endParaRPr lang="en-US" dirty="0">
              <a:solidFill>
                <a:srgbClr val="FF0000"/>
              </a:solidFill>
              <a:latin typeface="Times New Roman" panose="02020603050405020304" pitchFamily="18" charset="0"/>
              <a:cs typeface="Times New Roman" panose="02020603050405020304" pitchFamily="18" charset="0"/>
            </a:endParaRPr>
          </a:p>
          <a:p>
            <a:pPr lvl="1" algn="just"/>
            <a:r>
              <a:rPr lang="en-US" sz="2800" b="1" dirty="0">
                <a:latin typeface="Times New Roman" panose="02020603050405020304" pitchFamily="18" charset="0"/>
                <a:cs typeface="Times New Roman" panose="02020603050405020304" pitchFamily="18" charset="0"/>
              </a:rPr>
              <a:t>Function:</a:t>
            </a:r>
            <a:r>
              <a:rPr lang="en-US" sz="2800" dirty="0">
                <a:latin typeface="Times New Roman" panose="02020603050405020304" pitchFamily="18" charset="0"/>
                <a:cs typeface="Times New Roman" panose="02020603050405020304" pitchFamily="18" charset="0"/>
              </a:rPr>
              <a:t> To analyze how the candidate is speaking.</a:t>
            </a:r>
          </a:p>
          <a:p>
            <a:pPr lvl="1" algn="just"/>
            <a:r>
              <a:rPr lang="en-US" sz="2800" b="1" dirty="0">
                <a:latin typeface="Times New Roman" panose="02020603050405020304" pitchFamily="18" charset="0"/>
                <a:cs typeface="Times New Roman" panose="02020603050405020304" pitchFamily="18" charset="0"/>
              </a:rPr>
              <a:t>Technology:</a:t>
            </a:r>
            <a:endParaRPr lang="en-US" sz="2800" dirty="0">
              <a:latin typeface="Times New Roman" panose="02020603050405020304" pitchFamily="18" charset="0"/>
              <a:cs typeface="Times New Roman" panose="02020603050405020304" pitchFamily="18" charset="0"/>
            </a:endParaRPr>
          </a:p>
          <a:p>
            <a:pPr lvl="2" algn="just"/>
            <a:r>
              <a:rPr lang="en-US" sz="2800" b="1" dirty="0">
                <a:latin typeface="Times New Roman" panose="02020603050405020304" pitchFamily="18" charset="0"/>
                <a:cs typeface="Times New Roman" panose="02020603050405020304" pitchFamily="18" charset="0"/>
              </a:rPr>
              <a:t>Vocal Analysis Agent:</a:t>
            </a:r>
            <a:r>
              <a:rPr lang="en-US" sz="2800" dirty="0">
                <a:latin typeface="Times New Roman" panose="02020603050405020304" pitchFamily="18" charset="0"/>
                <a:cs typeface="Times New Roman" panose="02020603050405020304" pitchFamily="18" charset="0"/>
              </a:rPr>
              <a:t> Processes the raw audio stream to extract features like pitch, pace, and filler word usage.</a:t>
            </a:r>
          </a:p>
          <a:p>
            <a:pPr lvl="1" algn="just"/>
            <a:r>
              <a:rPr lang="en-US" sz="2800" b="1" dirty="0">
                <a:latin typeface="Times New Roman" panose="02020603050405020304" pitchFamily="18" charset="0"/>
                <a:cs typeface="Times New Roman" panose="02020603050405020304" pitchFamily="18" charset="0"/>
              </a:rPr>
              <a:t>Output:</a:t>
            </a:r>
            <a:r>
              <a:rPr lang="en-US" sz="2800" dirty="0">
                <a:latin typeface="Times New Roman" panose="02020603050405020304" pitchFamily="18" charset="0"/>
                <a:cs typeface="Times New Roman" panose="02020603050405020304" pitchFamily="18" charset="0"/>
              </a:rPr>
              <a:t> A confidence score based on vocal delivery.</a:t>
            </a:r>
          </a:p>
        </p:txBody>
      </p:sp>
    </p:spTree>
    <p:extLst>
      <p:ext uri="{BB962C8B-B14F-4D97-AF65-F5344CB8AC3E}">
        <p14:creationId xmlns:p14="http://schemas.microsoft.com/office/powerpoint/2010/main" val="39452471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18868-FD52-A36E-2FFD-48B44FDF40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C5F714-E2FF-5F74-F4E2-0FE13DB2D598}"/>
              </a:ext>
            </a:extLst>
          </p:cNvPr>
          <p:cNvSpPr>
            <a:spLocks noGrp="1"/>
          </p:cNvSpPr>
          <p:nvPr>
            <p:ph type="title"/>
          </p:nvPr>
        </p:nvSpPr>
        <p:spPr>
          <a:xfrm>
            <a:off x="838200" y="1012557"/>
            <a:ext cx="10515600" cy="633681"/>
          </a:xfrm>
          <a:solidFill>
            <a:srgbClr val="C00000"/>
          </a:solidFill>
        </p:spPr>
        <p:txBody>
          <a:bodyPr>
            <a:normAutofit fontScale="90000"/>
          </a:bodyPr>
          <a:lstStyle/>
          <a:p>
            <a:r>
              <a:rPr lang="en-IN" b="1" dirty="0">
                <a:solidFill>
                  <a:srgbClr val="FFCC00"/>
                </a:solidFill>
                <a:latin typeface="Times New Roman" panose="02020603050405020304" pitchFamily="18" charset="0"/>
                <a:cs typeface="Times New Roman" panose="02020603050405020304" pitchFamily="18" charset="0"/>
              </a:rPr>
              <a:t>PROPOSED   METHODOLOGY</a:t>
            </a:r>
          </a:p>
        </p:txBody>
      </p:sp>
      <p:sp>
        <p:nvSpPr>
          <p:cNvPr id="5" name="Slide Number Placeholder 4">
            <a:extLst>
              <a:ext uri="{FF2B5EF4-FFF2-40B4-BE49-F238E27FC236}">
                <a16:creationId xmlns:a16="http://schemas.microsoft.com/office/drawing/2014/main" id="{C86ADA29-7731-A2A2-A5DF-D264B306EA23}"/>
              </a:ext>
            </a:extLst>
          </p:cNvPr>
          <p:cNvSpPr>
            <a:spLocks noGrp="1"/>
          </p:cNvSpPr>
          <p:nvPr>
            <p:ph type="sldNum" sz="quarter" idx="12"/>
          </p:nvPr>
        </p:nvSpPr>
        <p:spPr>
          <a:xfrm>
            <a:off x="8610600" y="6562546"/>
            <a:ext cx="2743200" cy="349250"/>
          </a:xfrm>
        </p:spPr>
        <p:txBody>
          <a:bodyPr/>
          <a:lstStyle/>
          <a:p>
            <a:fld id="{F09AFC8B-2B39-4FD9-BC35-C243DBCAD3D3}" type="slidenum">
              <a:rPr lang="en-IN" smtClean="0"/>
              <a:t>16</a:t>
            </a:fld>
            <a:endParaRPr lang="en-IN" dirty="0"/>
          </a:p>
        </p:txBody>
      </p:sp>
      <p:pic>
        <p:nvPicPr>
          <p:cNvPr id="7" name="Picture 6">
            <a:extLst>
              <a:ext uri="{FF2B5EF4-FFF2-40B4-BE49-F238E27FC236}">
                <a16:creationId xmlns:a16="http://schemas.microsoft.com/office/drawing/2014/main" id="{0B819895-DD1D-926D-67F7-59B3E7AA0356}"/>
              </a:ext>
            </a:extLst>
          </p:cNvPr>
          <p:cNvPicPr>
            <a:picLocks noChangeAspect="1"/>
          </p:cNvPicPr>
          <p:nvPr/>
        </p:nvPicPr>
        <p:blipFill>
          <a:blip r:embed="rId2"/>
          <a:stretch>
            <a:fillRect/>
          </a:stretch>
        </p:blipFill>
        <p:spPr>
          <a:xfrm>
            <a:off x="10175264" y="92908"/>
            <a:ext cx="1178536" cy="829955"/>
          </a:xfrm>
          <a:prstGeom prst="rect">
            <a:avLst/>
          </a:prstGeom>
        </p:spPr>
      </p:pic>
      <p:pic>
        <p:nvPicPr>
          <p:cNvPr id="9" name="Picture 8">
            <a:extLst>
              <a:ext uri="{FF2B5EF4-FFF2-40B4-BE49-F238E27FC236}">
                <a16:creationId xmlns:a16="http://schemas.microsoft.com/office/drawing/2014/main" id="{0894B9BD-946A-515C-FD86-2F623450921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4" name="Footer Placeholder 3">
            <a:extLst>
              <a:ext uri="{FF2B5EF4-FFF2-40B4-BE49-F238E27FC236}">
                <a16:creationId xmlns:a16="http://schemas.microsoft.com/office/drawing/2014/main" id="{34C677C4-F45E-589B-5B32-87973C7D223C}"/>
              </a:ext>
            </a:extLst>
          </p:cNvPr>
          <p:cNvSpPr>
            <a:spLocks noGrp="1"/>
          </p:cNvSpPr>
          <p:nvPr>
            <p:ph type="ftr" sz="quarter" idx="11"/>
          </p:nvPr>
        </p:nvSpPr>
        <p:spPr/>
        <p:txBody>
          <a:bodyPr/>
          <a:lstStyle/>
          <a:p>
            <a:r>
              <a:rPr lang="en-US" dirty="0"/>
              <a:t>AI-powered Interview Assessment Tool</a:t>
            </a:r>
            <a:endParaRPr lang="en-IN" dirty="0"/>
          </a:p>
        </p:txBody>
      </p:sp>
      <p:sp>
        <p:nvSpPr>
          <p:cNvPr id="6" name="Content Placeholder 2">
            <a:extLst>
              <a:ext uri="{FF2B5EF4-FFF2-40B4-BE49-F238E27FC236}">
                <a16:creationId xmlns:a16="http://schemas.microsoft.com/office/drawing/2014/main" id="{CB54FE81-D3B7-8410-86F6-35C490497816}"/>
              </a:ext>
            </a:extLst>
          </p:cNvPr>
          <p:cNvSpPr txBox="1">
            <a:spLocks/>
          </p:cNvSpPr>
          <p:nvPr/>
        </p:nvSpPr>
        <p:spPr>
          <a:xfrm>
            <a:off x="838200" y="2131240"/>
            <a:ext cx="10515600" cy="33142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Ø"/>
            </a:pPr>
            <a:r>
              <a:rPr lang="en-US" b="1" dirty="0">
                <a:solidFill>
                  <a:srgbClr val="FF0000"/>
                </a:solidFill>
                <a:latin typeface="Times New Roman" panose="02020603050405020304" pitchFamily="18" charset="0"/>
                <a:cs typeface="Times New Roman" panose="02020603050405020304" pitchFamily="18" charset="0"/>
              </a:rPr>
              <a:t>C. Non-Verbal Analysis Agent (The Body Language Expert)</a:t>
            </a:r>
            <a:endParaRPr lang="en-US" dirty="0">
              <a:solidFill>
                <a:srgbClr val="FF0000"/>
              </a:solidFill>
              <a:latin typeface="Times New Roman" panose="02020603050405020304" pitchFamily="18" charset="0"/>
              <a:cs typeface="Times New Roman" panose="02020603050405020304" pitchFamily="18" charset="0"/>
            </a:endParaRPr>
          </a:p>
          <a:p>
            <a:pPr lvl="1" algn="just"/>
            <a:r>
              <a:rPr lang="en-US" sz="2800" b="1" dirty="0">
                <a:latin typeface="Times New Roman" panose="02020603050405020304" pitchFamily="18" charset="0"/>
                <a:cs typeface="Times New Roman" panose="02020603050405020304" pitchFamily="18" charset="0"/>
              </a:rPr>
              <a:t>Function:</a:t>
            </a:r>
            <a:r>
              <a:rPr lang="en-US" sz="2800" dirty="0">
                <a:latin typeface="Times New Roman" panose="02020603050405020304" pitchFamily="18" charset="0"/>
                <a:cs typeface="Times New Roman" panose="02020603050405020304" pitchFamily="18" charset="0"/>
              </a:rPr>
              <a:t> To analyze the candidate's body language and facial expressions.</a:t>
            </a:r>
          </a:p>
          <a:p>
            <a:pPr lvl="1" algn="just"/>
            <a:r>
              <a:rPr lang="en-US" sz="2800" b="1" dirty="0">
                <a:latin typeface="Times New Roman" panose="02020603050405020304" pitchFamily="18" charset="0"/>
                <a:cs typeface="Times New Roman" panose="02020603050405020304" pitchFamily="18" charset="0"/>
              </a:rPr>
              <a:t>Technology:</a:t>
            </a:r>
            <a:endParaRPr lang="en-US" sz="2800" dirty="0">
              <a:latin typeface="Times New Roman" panose="02020603050405020304" pitchFamily="18" charset="0"/>
              <a:cs typeface="Times New Roman" panose="02020603050405020304" pitchFamily="18" charset="0"/>
            </a:endParaRPr>
          </a:p>
          <a:p>
            <a:pPr lvl="2" algn="just"/>
            <a:r>
              <a:rPr lang="en-US" sz="2800" b="1" dirty="0">
                <a:latin typeface="Times New Roman" panose="02020603050405020304" pitchFamily="18" charset="0"/>
                <a:cs typeface="Times New Roman" panose="02020603050405020304" pitchFamily="18" charset="0"/>
              </a:rPr>
              <a:t>Computer Vision Models:</a:t>
            </a:r>
            <a:r>
              <a:rPr lang="en-US" sz="2800" dirty="0">
                <a:latin typeface="Times New Roman" panose="02020603050405020304" pitchFamily="18" charset="0"/>
                <a:cs typeface="Times New Roman" panose="02020603050405020304" pitchFamily="18" charset="0"/>
              </a:rPr>
              <a:t> Using libraries like OpenCV and </a:t>
            </a:r>
            <a:r>
              <a:rPr lang="en-US" sz="2800" dirty="0" err="1">
                <a:latin typeface="Times New Roman" panose="02020603050405020304" pitchFamily="18" charset="0"/>
                <a:cs typeface="Times New Roman" panose="02020603050405020304" pitchFamily="18" charset="0"/>
              </a:rPr>
              <a:t>MediaPipe</a:t>
            </a:r>
            <a:r>
              <a:rPr lang="en-US" sz="2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404923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640FF-D3AA-596A-0921-ECBD1D6A87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C2E5AE-2340-2708-2CCD-7B4CB2A63309}"/>
              </a:ext>
            </a:extLst>
          </p:cNvPr>
          <p:cNvSpPr>
            <a:spLocks noGrp="1"/>
          </p:cNvSpPr>
          <p:nvPr>
            <p:ph type="title"/>
          </p:nvPr>
        </p:nvSpPr>
        <p:spPr>
          <a:xfrm>
            <a:off x="838200" y="1012557"/>
            <a:ext cx="10515600" cy="633681"/>
          </a:xfrm>
          <a:solidFill>
            <a:srgbClr val="C00000"/>
          </a:solidFill>
        </p:spPr>
        <p:txBody>
          <a:bodyPr>
            <a:normAutofit fontScale="90000"/>
          </a:bodyPr>
          <a:lstStyle/>
          <a:p>
            <a:r>
              <a:rPr lang="en-IN" b="1" dirty="0">
                <a:solidFill>
                  <a:srgbClr val="FFCC00"/>
                </a:solidFill>
                <a:latin typeface="Times New Roman" panose="02020603050405020304" pitchFamily="18" charset="0"/>
                <a:cs typeface="Times New Roman" panose="02020603050405020304" pitchFamily="18" charset="0"/>
              </a:rPr>
              <a:t>PROPOSED   METHODOLOGY</a:t>
            </a:r>
          </a:p>
        </p:txBody>
      </p:sp>
      <p:sp>
        <p:nvSpPr>
          <p:cNvPr id="5" name="Slide Number Placeholder 4">
            <a:extLst>
              <a:ext uri="{FF2B5EF4-FFF2-40B4-BE49-F238E27FC236}">
                <a16:creationId xmlns:a16="http://schemas.microsoft.com/office/drawing/2014/main" id="{717C36F7-517B-FC42-BF95-813FDBF68951}"/>
              </a:ext>
            </a:extLst>
          </p:cNvPr>
          <p:cNvSpPr>
            <a:spLocks noGrp="1"/>
          </p:cNvSpPr>
          <p:nvPr>
            <p:ph type="sldNum" sz="quarter" idx="12"/>
          </p:nvPr>
        </p:nvSpPr>
        <p:spPr>
          <a:xfrm>
            <a:off x="8610600" y="6562546"/>
            <a:ext cx="2743200" cy="349250"/>
          </a:xfrm>
        </p:spPr>
        <p:txBody>
          <a:bodyPr/>
          <a:lstStyle/>
          <a:p>
            <a:fld id="{F09AFC8B-2B39-4FD9-BC35-C243DBCAD3D3}" type="slidenum">
              <a:rPr lang="en-IN" smtClean="0"/>
              <a:t>17</a:t>
            </a:fld>
            <a:endParaRPr lang="en-IN" dirty="0"/>
          </a:p>
        </p:txBody>
      </p:sp>
      <p:pic>
        <p:nvPicPr>
          <p:cNvPr id="7" name="Picture 6">
            <a:extLst>
              <a:ext uri="{FF2B5EF4-FFF2-40B4-BE49-F238E27FC236}">
                <a16:creationId xmlns:a16="http://schemas.microsoft.com/office/drawing/2014/main" id="{4CD5D305-2990-AFC1-7A3B-8A3FDCDFEA75}"/>
              </a:ext>
            </a:extLst>
          </p:cNvPr>
          <p:cNvPicPr>
            <a:picLocks noChangeAspect="1"/>
          </p:cNvPicPr>
          <p:nvPr/>
        </p:nvPicPr>
        <p:blipFill>
          <a:blip r:embed="rId2"/>
          <a:stretch>
            <a:fillRect/>
          </a:stretch>
        </p:blipFill>
        <p:spPr>
          <a:xfrm>
            <a:off x="10175264" y="92908"/>
            <a:ext cx="1178536" cy="829955"/>
          </a:xfrm>
          <a:prstGeom prst="rect">
            <a:avLst/>
          </a:prstGeom>
        </p:spPr>
      </p:pic>
      <p:pic>
        <p:nvPicPr>
          <p:cNvPr id="9" name="Picture 8">
            <a:extLst>
              <a:ext uri="{FF2B5EF4-FFF2-40B4-BE49-F238E27FC236}">
                <a16:creationId xmlns:a16="http://schemas.microsoft.com/office/drawing/2014/main" id="{32C80771-6B56-75EB-B42A-3092E3B49C2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4" name="Footer Placeholder 3">
            <a:extLst>
              <a:ext uri="{FF2B5EF4-FFF2-40B4-BE49-F238E27FC236}">
                <a16:creationId xmlns:a16="http://schemas.microsoft.com/office/drawing/2014/main" id="{BF1905D7-8163-DF38-8B83-43896FE24BF5}"/>
              </a:ext>
            </a:extLst>
          </p:cNvPr>
          <p:cNvSpPr>
            <a:spLocks noGrp="1"/>
          </p:cNvSpPr>
          <p:nvPr>
            <p:ph type="ftr" sz="quarter" idx="11"/>
          </p:nvPr>
        </p:nvSpPr>
        <p:spPr/>
        <p:txBody>
          <a:bodyPr/>
          <a:lstStyle/>
          <a:p>
            <a:r>
              <a:rPr lang="en-US" dirty="0"/>
              <a:t>AI-powered Interview Assessment Tool</a:t>
            </a:r>
            <a:endParaRPr lang="en-IN" dirty="0"/>
          </a:p>
        </p:txBody>
      </p:sp>
      <p:sp>
        <p:nvSpPr>
          <p:cNvPr id="6" name="Content Placeholder 2">
            <a:extLst>
              <a:ext uri="{FF2B5EF4-FFF2-40B4-BE49-F238E27FC236}">
                <a16:creationId xmlns:a16="http://schemas.microsoft.com/office/drawing/2014/main" id="{55FA86CF-EF18-3F54-68FD-71D04A7FE815}"/>
              </a:ext>
            </a:extLst>
          </p:cNvPr>
          <p:cNvSpPr txBox="1">
            <a:spLocks/>
          </p:cNvSpPr>
          <p:nvPr/>
        </p:nvSpPr>
        <p:spPr>
          <a:xfrm>
            <a:off x="838200" y="2150290"/>
            <a:ext cx="10515600" cy="39520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just"/>
            <a:r>
              <a:rPr lang="en-US" sz="2800" b="1" dirty="0">
                <a:latin typeface="Times New Roman" panose="02020603050405020304" pitchFamily="18" charset="0"/>
                <a:cs typeface="Times New Roman" panose="02020603050405020304" pitchFamily="18" charset="0"/>
              </a:rPr>
              <a:t>Technology ( Contd. )</a:t>
            </a:r>
          </a:p>
          <a:p>
            <a:pPr lvl="2" algn="just"/>
            <a:r>
              <a:rPr lang="en-US" sz="2800" dirty="0">
                <a:latin typeface="Times New Roman" panose="02020603050405020304" pitchFamily="18" charset="0"/>
                <a:cs typeface="Times New Roman" panose="02020603050405020304" pitchFamily="18" charset="0"/>
              </a:rPr>
              <a:t>As seen in the "AI Based Interview Evaluator" paper, it can use </a:t>
            </a:r>
            <a:r>
              <a:rPr lang="en-US" sz="2800" b="1" dirty="0" err="1">
                <a:latin typeface="Times New Roman" panose="02020603050405020304" pitchFamily="18" charset="0"/>
                <a:cs typeface="Times New Roman" panose="02020603050405020304" pitchFamily="18" charset="0"/>
              </a:rPr>
              <a:t>Deepface</a:t>
            </a:r>
            <a:r>
              <a:rPr lang="en-US" sz="2800" dirty="0">
                <a:latin typeface="Times New Roman" panose="02020603050405020304" pitchFamily="18" charset="0"/>
                <a:cs typeface="Times New Roman" panose="02020603050405020304" pitchFamily="18" charset="0"/>
              </a:rPr>
              <a:t> for emotion recognition and </a:t>
            </a:r>
            <a:r>
              <a:rPr lang="en-US" sz="2800" b="1" dirty="0">
                <a:latin typeface="Times New Roman" panose="02020603050405020304" pitchFamily="18" charset="0"/>
                <a:cs typeface="Times New Roman" panose="02020603050405020304" pitchFamily="18" charset="0"/>
              </a:rPr>
              <a:t>Haar Cascades</a:t>
            </a:r>
            <a:r>
              <a:rPr lang="en-US" sz="2800" dirty="0">
                <a:latin typeface="Times New Roman" panose="02020603050405020304" pitchFamily="18" charset="0"/>
                <a:cs typeface="Times New Roman" panose="02020603050405020304" pitchFamily="18" charset="0"/>
              </a:rPr>
              <a:t> to track facial landmarks for cues like eye contact, head movement, and expressions. This aligns with the findings of the "Multimodal Emotion Recognition" paper, which confirms that combining these cues is highly effective.</a:t>
            </a:r>
          </a:p>
          <a:p>
            <a:pPr lvl="1" algn="just"/>
            <a:endParaRPr lang="en-US" sz="2800" b="1" dirty="0">
              <a:latin typeface="Times New Roman" panose="02020603050405020304" pitchFamily="18" charset="0"/>
              <a:cs typeface="Times New Roman" panose="02020603050405020304" pitchFamily="18" charset="0"/>
            </a:endParaRPr>
          </a:p>
          <a:p>
            <a:pPr lvl="1" algn="just"/>
            <a:r>
              <a:rPr lang="en-US" sz="2800" b="1" dirty="0">
                <a:latin typeface="Times New Roman" panose="02020603050405020304" pitchFamily="18" charset="0"/>
                <a:cs typeface="Times New Roman" panose="02020603050405020304" pitchFamily="18" charset="0"/>
              </a:rPr>
              <a:t>Output:</a:t>
            </a:r>
            <a:r>
              <a:rPr lang="en-US" sz="2800" dirty="0">
                <a:latin typeface="Times New Roman" panose="02020603050405020304" pitchFamily="18" charset="0"/>
                <a:cs typeface="Times New Roman" panose="02020603050405020304" pitchFamily="18" charset="0"/>
              </a:rPr>
              <a:t> An engagement score based on non-verbal cues.</a:t>
            </a:r>
          </a:p>
        </p:txBody>
      </p:sp>
    </p:spTree>
    <p:extLst>
      <p:ext uri="{BB962C8B-B14F-4D97-AF65-F5344CB8AC3E}">
        <p14:creationId xmlns:p14="http://schemas.microsoft.com/office/powerpoint/2010/main" val="32469134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30B79-EBD4-B53D-8F11-5EDE42836A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D1804C-3B60-2202-5546-EE70F446CDAE}"/>
              </a:ext>
            </a:extLst>
          </p:cNvPr>
          <p:cNvSpPr>
            <a:spLocks noGrp="1"/>
          </p:cNvSpPr>
          <p:nvPr>
            <p:ph type="title"/>
          </p:nvPr>
        </p:nvSpPr>
        <p:spPr>
          <a:xfrm>
            <a:off x="838200" y="1012557"/>
            <a:ext cx="10515600" cy="633681"/>
          </a:xfrm>
          <a:solidFill>
            <a:srgbClr val="C00000"/>
          </a:solidFill>
        </p:spPr>
        <p:txBody>
          <a:bodyPr>
            <a:normAutofit fontScale="90000"/>
          </a:bodyPr>
          <a:lstStyle/>
          <a:p>
            <a:r>
              <a:rPr lang="en-IN" b="1" dirty="0">
                <a:solidFill>
                  <a:srgbClr val="FFCC00"/>
                </a:solidFill>
                <a:latin typeface="Times New Roman" panose="02020603050405020304" pitchFamily="18" charset="0"/>
                <a:cs typeface="Times New Roman" panose="02020603050405020304" pitchFamily="18" charset="0"/>
              </a:rPr>
              <a:t>PROPOSED   METHODOLOGY</a:t>
            </a:r>
          </a:p>
        </p:txBody>
      </p:sp>
      <p:sp>
        <p:nvSpPr>
          <p:cNvPr id="3" name="Content Placeholder 2">
            <a:extLst>
              <a:ext uri="{FF2B5EF4-FFF2-40B4-BE49-F238E27FC236}">
                <a16:creationId xmlns:a16="http://schemas.microsoft.com/office/drawing/2014/main" id="{120241ED-4866-D454-AEC9-7ADEAB358510}"/>
              </a:ext>
            </a:extLst>
          </p:cNvPr>
          <p:cNvSpPr>
            <a:spLocks noGrp="1"/>
          </p:cNvSpPr>
          <p:nvPr>
            <p:ph idx="1"/>
          </p:nvPr>
        </p:nvSpPr>
        <p:spPr>
          <a:xfrm>
            <a:off x="838200" y="2119037"/>
            <a:ext cx="10515600" cy="3970710"/>
          </a:xfrm>
        </p:spPr>
        <p:txBody>
          <a:bodyPr>
            <a:noAutofit/>
          </a:bodyPr>
          <a:lstStyle/>
          <a:p>
            <a:pPr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Scoring &amp; Reporting Engine</a:t>
            </a:r>
            <a:r>
              <a:rPr lang="en-US" dirty="0">
                <a:latin typeface="Times New Roman" panose="02020603050405020304" pitchFamily="18" charset="0"/>
                <a:cs typeface="Times New Roman" panose="02020603050405020304" pitchFamily="18" charset="0"/>
              </a:rPr>
              <a:t> </a:t>
            </a:r>
          </a:p>
          <a:p>
            <a:pPr lvl="1" algn="just"/>
            <a:r>
              <a:rPr lang="en-US" sz="2800" b="1" dirty="0">
                <a:latin typeface="Times New Roman" panose="02020603050405020304" pitchFamily="18" charset="0"/>
                <a:cs typeface="Times New Roman" panose="02020603050405020304" pitchFamily="18" charset="0"/>
              </a:rPr>
              <a:t>Function:</a:t>
            </a:r>
            <a:r>
              <a:rPr lang="en-US" sz="2800" dirty="0">
                <a:latin typeface="Times New Roman" panose="02020603050405020304" pitchFamily="18" charset="0"/>
                <a:cs typeface="Times New Roman" panose="02020603050405020304" pitchFamily="18" charset="0"/>
              </a:rPr>
              <a:t> This component gathers the individual scores and analyses from all the specialized agents.</a:t>
            </a:r>
          </a:p>
          <a:p>
            <a:pPr lvl="1" algn="just"/>
            <a:r>
              <a:rPr lang="en-US" sz="2800" b="1" dirty="0">
                <a:latin typeface="Times New Roman" panose="02020603050405020304" pitchFamily="18" charset="0"/>
                <a:cs typeface="Times New Roman" panose="02020603050405020304" pitchFamily="18" charset="0"/>
              </a:rPr>
              <a:t>Technology:</a:t>
            </a:r>
            <a:r>
              <a:rPr lang="en-US" sz="2800" dirty="0">
                <a:latin typeface="Times New Roman" panose="02020603050405020304" pitchFamily="18" charset="0"/>
                <a:cs typeface="Times New Roman" panose="02020603050405020304" pitchFamily="18" charset="0"/>
              </a:rPr>
              <a:t> A backend service that applies a weighted algorithm to combine the scores from the Verbal, Vocal, and Non-Verbal agents into a single, overall performance score.</a:t>
            </a:r>
          </a:p>
          <a:p>
            <a:pPr lvl="1" algn="just"/>
            <a:r>
              <a:rPr lang="en-US" sz="2800" b="1" dirty="0">
                <a:latin typeface="Times New Roman" panose="02020603050405020304" pitchFamily="18" charset="0"/>
                <a:cs typeface="Times New Roman" panose="02020603050405020304" pitchFamily="18" charset="0"/>
              </a:rPr>
              <a:t>Output:</a:t>
            </a:r>
            <a:r>
              <a:rPr lang="en-US" sz="2800" dirty="0">
                <a:latin typeface="Times New Roman" panose="02020603050405020304" pitchFamily="18" charset="0"/>
                <a:cs typeface="Times New Roman" panose="02020603050405020304" pitchFamily="18" charset="0"/>
              </a:rPr>
              <a:t> It generates a comprehensive report detailing the candidate's performance in each area, along with the final score.</a:t>
            </a:r>
          </a:p>
        </p:txBody>
      </p:sp>
      <p:sp>
        <p:nvSpPr>
          <p:cNvPr id="5" name="Slide Number Placeholder 4">
            <a:extLst>
              <a:ext uri="{FF2B5EF4-FFF2-40B4-BE49-F238E27FC236}">
                <a16:creationId xmlns:a16="http://schemas.microsoft.com/office/drawing/2014/main" id="{76D75090-8703-BC85-83B8-FB6ECF9DD0F7}"/>
              </a:ext>
            </a:extLst>
          </p:cNvPr>
          <p:cNvSpPr>
            <a:spLocks noGrp="1"/>
          </p:cNvSpPr>
          <p:nvPr>
            <p:ph type="sldNum" sz="quarter" idx="12"/>
          </p:nvPr>
        </p:nvSpPr>
        <p:spPr>
          <a:xfrm>
            <a:off x="8610600" y="6562546"/>
            <a:ext cx="2743200" cy="349250"/>
          </a:xfrm>
        </p:spPr>
        <p:txBody>
          <a:bodyPr/>
          <a:lstStyle/>
          <a:p>
            <a:fld id="{F09AFC8B-2B39-4FD9-BC35-C243DBCAD3D3}" type="slidenum">
              <a:rPr lang="en-IN" smtClean="0"/>
              <a:t>18</a:t>
            </a:fld>
            <a:endParaRPr lang="en-IN" dirty="0"/>
          </a:p>
        </p:txBody>
      </p:sp>
      <p:pic>
        <p:nvPicPr>
          <p:cNvPr id="7" name="Picture 6">
            <a:extLst>
              <a:ext uri="{FF2B5EF4-FFF2-40B4-BE49-F238E27FC236}">
                <a16:creationId xmlns:a16="http://schemas.microsoft.com/office/drawing/2014/main" id="{6F6FB2FC-4DD2-7FC4-489D-4447A656FDB8}"/>
              </a:ext>
            </a:extLst>
          </p:cNvPr>
          <p:cNvPicPr>
            <a:picLocks noChangeAspect="1"/>
          </p:cNvPicPr>
          <p:nvPr/>
        </p:nvPicPr>
        <p:blipFill>
          <a:blip r:embed="rId2"/>
          <a:stretch>
            <a:fillRect/>
          </a:stretch>
        </p:blipFill>
        <p:spPr>
          <a:xfrm>
            <a:off x="10175264" y="92908"/>
            <a:ext cx="1178536" cy="829955"/>
          </a:xfrm>
          <a:prstGeom prst="rect">
            <a:avLst/>
          </a:prstGeom>
        </p:spPr>
      </p:pic>
      <p:pic>
        <p:nvPicPr>
          <p:cNvPr id="9" name="Picture 8">
            <a:extLst>
              <a:ext uri="{FF2B5EF4-FFF2-40B4-BE49-F238E27FC236}">
                <a16:creationId xmlns:a16="http://schemas.microsoft.com/office/drawing/2014/main" id="{C61E0339-CFC3-C26B-DF71-EEB511AB36E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4" name="Footer Placeholder 3">
            <a:extLst>
              <a:ext uri="{FF2B5EF4-FFF2-40B4-BE49-F238E27FC236}">
                <a16:creationId xmlns:a16="http://schemas.microsoft.com/office/drawing/2014/main" id="{E57CEEA4-84FB-178C-C5BC-469264C8F22E}"/>
              </a:ext>
            </a:extLst>
          </p:cNvPr>
          <p:cNvSpPr>
            <a:spLocks noGrp="1"/>
          </p:cNvSpPr>
          <p:nvPr>
            <p:ph type="ftr" sz="quarter" idx="11"/>
          </p:nvPr>
        </p:nvSpPr>
        <p:spPr/>
        <p:txBody>
          <a:bodyPr/>
          <a:lstStyle/>
          <a:p>
            <a:r>
              <a:rPr lang="en-US" dirty="0"/>
              <a:t>AI-powered Interview Assessment Tool</a:t>
            </a:r>
            <a:endParaRPr lang="en-IN" dirty="0"/>
          </a:p>
        </p:txBody>
      </p:sp>
    </p:spTree>
    <p:extLst>
      <p:ext uri="{BB962C8B-B14F-4D97-AF65-F5344CB8AC3E}">
        <p14:creationId xmlns:p14="http://schemas.microsoft.com/office/powerpoint/2010/main" val="9313135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09828-D07E-3593-39D6-0CF3EE76F6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222A6A-E674-03F0-8D85-6A6075391620}"/>
              </a:ext>
            </a:extLst>
          </p:cNvPr>
          <p:cNvSpPr>
            <a:spLocks noGrp="1"/>
          </p:cNvSpPr>
          <p:nvPr>
            <p:ph type="title"/>
          </p:nvPr>
        </p:nvSpPr>
        <p:spPr>
          <a:xfrm>
            <a:off x="838200" y="1012557"/>
            <a:ext cx="10515600" cy="633681"/>
          </a:xfrm>
          <a:solidFill>
            <a:srgbClr val="C00000"/>
          </a:solidFill>
        </p:spPr>
        <p:txBody>
          <a:bodyPr>
            <a:normAutofit fontScale="90000"/>
          </a:bodyPr>
          <a:lstStyle/>
          <a:p>
            <a:r>
              <a:rPr lang="en-IN" b="1" dirty="0">
                <a:solidFill>
                  <a:srgbClr val="FFCC00"/>
                </a:solidFill>
                <a:latin typeface="Times New Roman" panose="02020603050405020304" pitchFamily="18" charset="0"/>
                <a:cs typeface="Times New Roman" panose="02020603050405020304" pitchFamily="18" charset="0"/>
              </a:rPr>
              <a:t>PROPOSED   METHODOLOGY </a:t>
            </a:r>
          </a:p>
        </p:txBody>
      </p:sp>
      <p:sp>
        <p:nvSpPr>
          <p:cNvPr id="3" name="Content Placeholder 2">
            <a:extLst>
              <a:ext uri="{FF2B5EF4-FFF2-40B4-BE49-F238E27FC236}">
                <a16:creationId xmlns:a16="http://schemas.microsoft.com/office/drawing/2014/main" id="{6A7C15BC-D49B-10EF-81BA-55A823C4D9C7}"/>
              </a:ext>
            </a:extLst>
          </p:cNvPr>
          <p:cNvSpPr>
            <a:spLocks noGrp="1"/>
          </p:cNvSpPr>
          <p:nvPr>
            <p:ph idx="1"/>
          </p:nvPr>
        </p:nvSpPr>
        <p:spPr>
          <a:xfrm>
            <a:off x="838200" y="2015939"/>
            <a:ext cx="10515600" cy="3970710"/>
          </a:xfrm>
        </p:spPr>
        <p:txBody>
          <a:bodyPr>
            <a:noAutofit/>
          </a:bodyPr>
          <a:lstStyle/>
          <a:p>
            <a:pPr marL="0" indent="0" algn="ctr">
              <a:buNone/>
            </a:pPr>
            <a:r>
              <a:rPr lang="en-US" b="1" dirty="0">
                <a:solidFill>
                  <a:srgbClr val="C00000"/>
                </a:solidFill>
                <a:latin typeface="Times New Roman" panose="02020603050405020304" pitchFamily="18" charset="0"/>
                <a:cs typeface="Times New Roman" panose="02020603050405020304" pitchFamily="18" charset="0"/>
              </a:rPr>
              <a:t>DATASETS</a:t>
            </a:r>
            <a:endParaRPr lang="en-IN" dirty="0"/>
          </a:p>
          <a:p>
            <a:pPr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Interview Question Datasets (Text-Based)</a:t>
            </a:r>
          </a:p>
          <a:p>
            <a:pPr lvl="1" algn="just"/>
            <a:r>
              <a:rPr lang="en-IN" sz="2800" dirty="0">
                <a:latin typeface="Times New Roman" panose="02020603050405020304" pitchFamily="18" charset="0"/>
                <a:cs typeface="Times New Roman" panose="02020603050405020304" pitchFamily="18" charset="0"/>
              </a:rPr>
              <a:t>Sources: </a:t>
            </a:r>
            <a:r>
              <a:rPr lang="en-US" sz="2800" dirty="0">
                <a:latin typeface="Times New Roman" panose="02020603050405020304" pitchFamily="18" charset="0"/>
                <a:cs typeface="Times New Roman" panose="02020603050405020304" pitchFamily="18" charset="0"/>
              </a:rPr>
              <a:t>GitHub, Kaggle</a:t>
            </a:r>
          </a:p>
          <a:p>
            <a:pPr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Behavioural / Psychological Interview Dataset</a:t>
            </a:r>
          </a:p>
          <a:p>
            <a:pPr lvl="1" algn="just"/>
            <a:r>
              <a:rPr lang="en-IN" sz="2800" dirty="0">
                <a:latin typeface="Times New Roman" panose="02020603050405020304" pitchFamily="18" charset="0"/>
                <a:cs typeface="Times New Roman" panose="02020603050405020304" pitchFamily="18" charset="0"/>
              </a:rPr>
              <a:t>Sources: DAIC-WOZ Dataset</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Video Datasets with Body Language</a:t>
            </a:r>
          </a:p>
          <a:p>
            <a:pPr lvl="1" algn="just"/>
            <a:r>
              <a:rPr lang="en-IN" sz="2800" dirty="0">
                <a:latin typeface="Times New Roman" panose="02020603050405020304" pitchFamily="18" charset="0"/>
                <a:cs typeface="Times New Roman" panose="02020603050405020304" pitchFamily="18" charset="0"/>
              </a:rPr>
              <a:t>RAVDESS Dataset</a:t>
            </a:r>
          </a:p>
        </p:txBody>
      </p:sp>
      <p:sp>
        <p:nvSpPr>
          <p:cNvPr id="5" name="Slide Number Placeholder 4">
            <a:extLst>
              <a:ext uri="{FF2B5EF4-FFF2-40B4-BE49-F238E27FC236}">
                <a16:creationId xmlns:a16="http://schemas.microsoft.com/office/drawing/2014/main" id="{054B96A6-9F67-DA31-AF0E-84680978CAEB}"/>
              </a:ext>
            </a:extLst>
          </p:cNvPr>
          <p:cNvSpPr>
            <a:spLocks noGrp="1"/>
          </p:cNvSpPr>
          <p:nvPr>
            <p:ph type="sldNum" sz="quarter" idx="12"/>
          </p:nvPr>
        </p:nvSpPr>
        <p:spPr>
          <a:xfrm>
            <a:off x="8610600" y="6562546"/>
            <a:ext cx="2743200" cy="349250"/>
          </a:xfrm>
        </p:spPr>
        <p:txBody>
          <a:bodyPr/>
          <a:lstStyle/>
          <a:p>
            <a:fld id="{F09AFC8B-2B39-4FD9-BC35-C243DBCAD3D3}" type="slidenum">
              <a:rPr lang="en-IN" smtClean="0"/>
              <a:t>19</a:t>
            </a:fld>
            <a:endParaRPr lang="en-IN" dirty="0"/>
          </a:p>
        </p:txBody>
      </p:sp>
      <p:pic>
        <p:nvPicPr>
          <p:cNvPr id="7" name="Picture 6">
            <a:extLst>
              <a:ext uri="{FF2B5EF4-FFF2-40B4-BE49-F238E27FC236}">
                <a16:creationId xmlns:a16="http://schemas.microsoft.com/office/drawing/2014/main" id="{C0533289-C5F4-ED04-D995-D747362656EF}"/>
              </a:ext>
            </a:extLst>
          </p:cNvPr>
          <p:cNvPicPr>
            <a:picLocks noChangeAspect="1"/>
          </p:cNvPicPr>
          <p:nvPr/>
        </p:nvPicPr>
        <p:blipFill>
          <a:blip r:embed="rId2"/>
          <a:stretch>
            <a:fillRect/>
          </a:stretch>
        </p:blipFill>
        <p:spPr>
          <a:xfrm>
            <a:off x="10175264" y="92908"/>
            <a:ext cx="1178536" cy="829955"/>
          </a:xfrm>
          <a:prstGeom prst="rect">
            <a:avLst/>
          </a:prstGeom>
        </p:spPr>
      </p:pic>
      <p:pic>
        <p:nvPicPr>
          <p:cNvPr id="9" name="Picture 8">
            <a:extLst>
              <a:ext uri="{FF2B5EF4-FFF2-40B4-BE49-F238E27FC236}">
                <a16:creationId xmlns:a16="http://schemas.microsoft.com/office/drawing/2014/main" id="{38E5E777-369D-750F-FEF0-22A18E3FE65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4" name="Footer Placeholder 3">
            <a:extLst>
              <a:ext uri="{FF2B5EF4-FFF2-40B4-BE49-F238E27FC236}">
                <a16:creationId xmlns:a16="http://schemas.microsoft.com/office/drawing/2014/main" id="{C7F3B876-931D-FD9C-A3C2-3026F388E5DE}"/>
              </a:ext>
            </a:extLst>
          </p:cNvPr>
          <p:cNvSpPr>
            <a:spLocks noGrp="1"/>
          </p:cNvSpPr>
          <p:nvPr>
            <p:ph type="ftr" sz="quarter" idx="11"/>
          </p:nvPr>
        </p:nvSpPr>
        <p:spPr/>
        <p:txBody>
          <a:bodyPr/>
          <a:lstStyle/>
          <a:p>
            <a:r>
              <a:rPr lang="en-US" dirty="0"/>
              <a:t>AI-powered Interview Assessment Tool</a:t>
            </a:r>
            <a:endParaRPr lang="en-IN" dirty="0"/>
          </a:p>
        </p:txBody>
      </p:sp>
    </p:spTree>
    <p:extLst>
      <p:ext uri="{BB962C8B-B14F-4D97-AF65-F5344CB8AC3E}">
        <p14:creationId xmlns:p14="http://schemas.microsoft.com/office/powerpoint/2010/main" val="1257033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79010-AAD3-3142-B214-F1B7C92E2F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E4C4A-60DB-7870-AEEB-F3149B263FB9}"/>
              </a:ext>
            </a:extLst>
          </p:cNvPr>
          <p:cNvSpPr>
            <a:spLocks noGrp="1"/>
          </p:cNvSpPr>
          <p:nvPr>
            <p:ph type="title"/>
          </p:nvPr>
        </p:nvSpPr>
        <p:spPr>
          <a:xfrm>
            <a:off x="838200" y="1012557"/>
            <a:ext cx="10515600" cy="633681"/>
          </a:xfrm>
          <a:solidFill>
            <a:srgbClr val="C00000"/>
          </a:solidFill>
        </p:spPr>
        <p:txBody>
          <a:bodyPr>
            <a:normAutofit fontScale="90000"/>
          </a:bodyPr>
          <a:lstStyle/>
          <a:p>
            <a:r>
              <a:rPr lang="en-IN" b="1" dirty="0">
                <a:solidFill>
                  <a:srgbClr val="FFCC00"/>
                </a:solidFill>
                <a:latin typeface="Times New Roman" panose="02020603050405020304" pitchFamily="18" charset="0"/>
                <a:cs typeface="Times New Roman" panose="02020603050405020304" pitchFamily="18" charset="0"/>
              </a:rPr>
              <a:t>PROPOSED   METHODOLOGY </a:t>
            </a:r>
          </a:p>
        </p:txBody>
      </p:sp>
      <p:sp>
        <p:nvSpPr>
          <p:cNvPr id="3" name="Content Placeholder 2">
            <a:extLst>
              <a:ext uri="{FF2B5EF4-FFF2-40B4-BE49-F238E27FC236}">
                <a16:creationId xmlns:a16="http://schemas.microsoft.com/office/drawing/2014/main" id="{C9253B87-4A31-E3B2-3208-EA0925F2A2B4}"/>
              </a:ext>
            </a:extLst>
          </p:cNvPr>
          <p:cNvSpPr>
            <a:spLocks noGrp="1"/>
          </p:cNvSpPr>
          <p:nvPr>
            <p:ph idx="1"/>
          </p:nvPr>
        </p:nvSpPr>
        <p:spPr>
          <a:xfrm>
            <a:off x="838200" y="2015939"/>
            <a:ext cx="10515600" cy="3970710"/>
          </a:xfrm>
        </p:spPr>
        <p:txBody>
          <a:bodyPr>
            <a:noAutofit/>
          </a:bodyPr>
          <a:lstStyle/>
          <a:p>
            <a:pPr marL="0" indent="0" algn="ctr">
              <a:buNone/>
            </a:pPr>
            <a:r>
              <a:rPr lang="en-US" b="1" dirty="0">
                <a:solidFill>
                  <a:srgbClr val="C00000"/>
                </a:solidFill>
                <a:latin typeface="Times New Roman" panose="02020603050405020304" pitchFamily="18" charset="0"/>
                <a:cs typeface="Times New Roman" panose="02020603050405020304" pitchFamily="18" charset="0"/>
              </a:rPr>
              <a:t>HARDWARE REQUIREMENTS</a:t>
            </a:r>
          </a:p>
          <a:p>
            <a:pPr algn="just">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For Development &amp; Training</a:t>
            </a:r>
          </a:p>
          <a:p>
            <a:pPr lvl="1" algn="just"/>
            <a:r>
              <a:rPr lang="en-IN" sz="2800" b="1" dirty="0">
                <a:latin typeface="Times New Roman" panose="02020603050405020304" pitchFamily="18" charset="0"/>
                <a:cs typeface="Times New Roman" panose="02020603050405020304" pitchFamily="18" charset="0"/>
              </a:rPr>
              <a:t>GPU:</a:t>
            </a:r>
            <a:r>
              <a:rPr lang="en-IN" sz="2800" dirty="0">
                <a:latin typeface="Times New Roman" panose="02020603050405020304" pitchFamily="18" charset="0"/>
                <a:cs typeface="Times New Roman" panose="02020603050405020304" pitchFamily="18" charset="0"/>
              </a:rPr>
              <a:t> NVIDIA RTX 3080 / 4070 or higher (at least 12 GB VRAM).</a:t>
            </a:r>
          </a:p>
          <a:p>
            <a:pPr lvl="1" algn="just"/>
            <a:r>
              <a:rPr lang="en-IN" sz="2800" b="1" dirty="0">
                <a:latin typeface="Times New Roman" panose="02020603050405020304" pitchFamily="18" charset="0"/>
                <a:cs typeface="Times New Roman" panose="02020603050405020304" pitchFamily="18" charset="0"/>
              </a:rPr>
              <a:t>CPU:</a:t>
            </a:r>
            <a:r>
              <a:rPr lang="en-IN" sz="2800" dirty="0">
                <a:latin typeface="Times New Roman" panose="02020603050405020304" pitchFamily="18" charset="0"/>
                <a:cs typeface="Times New Roman" panose="02020603050405020304" pitchFamily="18" charset="0"/>
              </a:rPr>
              <a:t> Intel i7/i9 or AMD </a:t>
            </a:r>
            <a:r>
              <a:rPr lang="en-IN" sz="2800" dirty="0" err="1">
                <a:latin typeface="Times New Roman" panose="02020603050405020304" pitchFamily="18" charset="0"/>
                <a:cs typeface="Times New Roman" panose="02020603050405020304" pitchFamily="18" charset="0"/>
              </a:rPr>
              <a:t>Ryzen</a:t>
            </a:r>
            <a:r>
              <a:rPr lang="en-IN" sz="2800" dirty="0">
                <a:latin typeface="Times New Roman" panose="02020603050405020304" pitchFamily="18" charset="0"/>
                <a:cs typeface="Times New Roman" panose="02020603050405020304" pitchFamily="18" charset="0"/>
              </a:rPr>
              <a:t> 7/9</a:t>
            </a:r>
          </a:p>
          <a:p>
            <a:pPr lvl="1" algn="just"/>
            <a:r>
              <a:rPr lang="en-IN" sz="2800" b="1" dirty="0">
                <a:latin typeface="Times New Roman" panose="02020603050405020304" pitchFamily="18" charset="0"/>
                <a:cs typeface="Times New Roman" panose="02020603050405020304" pitchFamily="18" charset="0"/>
              </a:rPr>
              <a:t>RAM:</a:t>
            </a:r>
            <a:r>
              <a:rPr lang="en-IN" sz="2800" dirty="0">
                <a:latin typeface="Times New Roman" panose="02020603050405020304" pitchFamily="18" charset="0"/>
                <a:cs typeface="Times New Roman" panose="02020603050405020304" pitchFamily="18" charset="0"/>
              </a:rPr>
              <a:t> 32 GB minimum, 64 GB recommended.</a:t>
            </a:r>
          </a:p>
          <a:p>
            <a:pPr lvl="1" algn="just"/>
            <a:r>
              <a:rPr lang="en-IN" sz="2800" b="1" dirty="0">
                <a:latin typeface="Times New Roman" panose="02020603050405020304" pitchFamily="18" charset="0"/>
                <a:cs typeface="Times New Roman" panose="02020603050405020304" pitchFamily="18" charset="0"/>
              </a:rPr>
              <a:t>Storage:</a:t>
            </a:r>
            <a:r>
              <a:rPr lang="en-IN" sz="2800" dirty="0">
                <a:latin typeface="Times New Roman" panose="02020603050405020304" pitchFamily="18" charset="0"/>
                <a:cs typeface="Times New Roman" panose="02020603050405020304" pitchFamily="18" charset="0"/>
              </a:rPr>
              <a:t> At least 1 TB of fast </a:t>
            </a:r>
            <a:r>
              <a:rPr lang="en-IN" sz="2800" dirty="0" err="1">
                <a:latin typeface="Times New Roman" panose="02020603050405020304" pitchFamily="18" charset="0"/>
                <a:cs typeface="Times New Roman" panose="02020603050405020304" pitchFamily="18" charset="0"/>
              </a:rPr>
              <a:t>NVMe</a:t>
            </a:r>
            <a:r>
              <a:rPr lang="en-IN" sz="2800" dirty="0">
                <a:latin typeface="Times New Roman" panose="02020603050405020304" pitchFamily="18" charset="0"/>
                <a:cs typeface="Times New Roman" panose="02020603050405020304" pitchFamily="18" charset="0"/>
              </a:rPr>
              <a:t> SSD storage.</a:t>
            </a:r>
          </a:p>
          <a:p>
            <a:pPr marL="0" indent="0" algn="ctr">
              <a:buNone/>
            </a:pPr>
            <a:endParaRPr lang="en-IN" dirty="0"/>
          </a:p>
        </p:txBody>
      </p:sp>
      <p:sp>
        <p:nvSpPr>
          <p:cNvPr id="5" name="Slide Number Placeholder 4">
            <a:extLst>
              <a:ext uri="{FF2B5EF4-FFF2-40B4-BE49-F238E27FC236}">
                <a16:creationId xmlns:a16="http://schemas.microsoft.com/office/drawing/2014/main" id="{6CD4D026-EEF4-22CF-F3C1-95F995A75750}"/>
              </a:ext>
            </a:extLst>
          </p:cNvPr>
          <p:cNvSpPr>
            <a:spLocks noGrp="1"/>
          </p:cNvSpPr>
          <p:nvPr>
            <p:ph type="sldNum" sz="quarter" idx="12"/>
          </p:nvPr>
        </p:nvSpPr>
        <p:spPr>
          <a:xfrm>
            <a:off x="8610600" y="6562546"/>
            <a:ext cx="2743200" cy="349250"/>
          </a:xfrm>
        </p:spPr>
        <p:txBody>
          <a:bodyPr/>
          <a:lstStyle/>
          <a:p>
            <a:fld id="{F09AFC8B-2B39-4FD9-BC35-C243DBCAD3D3}" type="slidenum">
              <a:rPr lang="en-IN" smtClean="0"/>
              <a:t>20</a:t>
            </a:fld>
            <a:endParaRPr lang="en-IN" dirty="0"/>
          </a:p>
        </p:txBody>
      </p:sp>
      <p:pic>
        <p:nvPicPr>
          <p:cNvPr id="7" name="Picture 6">
            <a:extLst>
              <a:ext uri="{FF2B5EF4-FFF2-40B4-BE49-F238E27FC236}">
                <a16:creationId xmlns:a16="http://schemas.microsoft.com/office/drawing/2014/main" id="{B7C8250B-54C4-8650-509A-87176CE51A19}"/>
              </a:ext>
            </a:extLst>
          </p:cNvPr>
          <p:cNvPicPr>
            <a:picLocks noChangeAspect="1"/>
          </p:cNvPicPr>
          <p:nvPr/>
        </p:nvPicPr>
        <p:blipFill>
          <a:blip r:embed="rId2"/>
          <a:stretch>
            <a:fillRect/>
          </a:stretch>
        </p:blipFill>
        <p:spPr>
          <a:xfrm>
            <a:off x="10175264" y="92908"/>
            <a:ext cx="1178536" cy="829955"/>
          </a:xfrm>
          <a:prstGeom prst="rect">
            <a:avLst/>
          </a:prstGeom>
        </p:spPr>
      </p:pic>
      <p:pic>
        <p:nvPicPr>
          <p:cNvPr id="9" name="Picture 8">
            <a:extLst>
              <a:ext uri="{FF2B5EF4-FFF2-40B4-BE49-F238E27FC236}">
                <a16:creationId xmlns:a16="http://schemas.microsoft.com/office/drawing/2014/main" id="{7BFB9295-4651-872E-3FD6-76E57B21955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4" name="Footer Placeholder 3">
            <a:extLst>
              <a:ext uri="{FF2B5EF4-FFF2-40B4-BE49-F238E27FC236}">
                <a16:creationId xmlns:a16="http://schemas.microsoft.com/office/drawing/2014/main" id="{6EC18916-E087-7EB7-2CAB-1BC287968453}"/>
              </a:ext>
            </a:extLst>
          </p:cNvPr>
          <p:cNvSpPr>
            <a:spLocks noGrp="1"/>
          </p:cNvSpPr>
          <p:nvPr>
            <p:ph type="ftr" sz="quarter" idx="11"/>
          </p:nvPr>
        </p:nvSpPr>
        <p:spPr/>
        <p:txBody>
          <a:bodyPr/>
          <a:lstStyle/>
          <a:p>
            <a:r>
              <a:rPr lang="en-US" dirty="0"/>
              <a:t>AI-powered Interview Assessment Tool</a:t>
            </a:r>
            <a:endParaRPr lang="en-IN" dirty="0"/>
          </a:p>
        </p:txBody>
      </p:sp>
    </p:spTree>
    <p:extLst>
      <p:ext uri="{BB962C8B-B14F-4D97-AF65-F5344CB8AC3E}">
        <p14:creationId xmlns:p14="http://schemas.microsoft.com/office/powerpoint/2010/main" val="36206262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87899-F1AE-3306-8EF3-13784B5B95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72D4B5-27EC-458E-06A2-A7109361756F}"/>
              </a:ext>
            </a:extLst>
          </p:cNvPr>
          <p:cNvSpPr>
            <a:spLocks noGrp="1"/>
          </p:cNvSpPr>
          <p:nvPr>
            <p:ph type="title"/>
          </p:nvPr>
        </p:nvSpPr>
        <p:spPr>
          <a:xfrm>
            <a:off x="838200" y="1012557"/>
            <a:ext cx="10515600" cy="633681"/>
          </a:xfrm>
          <a:solidFill>
            <a:srgbClr val="C00000"/>
          </a:solidFill>
        </p:spPr>
        <p:txBody>
          <a:bodyPr>
            <a:normAutofit fontScale="90000"/>
          </a:bodyPr>
          <a:lstStyle/>
          <a:p>
            <a:r>
              <a:rPr lang="en-IN" b="1" dirty="0">
                <a:solidFill>
                  <a:srgbClr val="FFCC00"/>
                </a:solidFill>
                <a:latin typeface="Times New Roman" panose="02020603050405020304" pitchFamily="18" charset="0"/>
                <a:cs typeface="Times New Roman" panose="02020603050405020304" pitchFamily="18" charset="0"/>
              </a:rPr>
              <a:t>PROPOSED   METHODOLOGY </a:t>
            </a:r>
          </a:p>
        </p:txBody>
      </p:sp>
      <p:sp>
        <p:nvSpPr>
          <p:cNvPr id="3" name="Content Placeholder 2">
            <a:extLst>
              <a:ext uri="{FF2B5EF4-FFF2-40B4-BE49-F238E27FC236}">
                <a16:creationId xmlns:a16="http://schemas.microsoft.com/office/drawing/2014/main" id="{55CE5025-FCE0-2AE7-1652-107EAC10388E}"/>
              </a:ext>
            </a:extLst>
          </p:cNvPr>
          <p:cNvSpPr>
            <a:spLocks noGrp="1"/>
          </p:cNvSpPr>
          <p:nvPr>
            <p:ph idx="1"/>
          </p:nvPr>
        </p:nvSpPr>
        <p:spPr>
          <a:xfrm>
            <a:off x="838200" y="2591836"/>
            <a:ext cx="10515600" cy="3970710"/>
          </a:xfrm>
        </p:spPr>
        <p:txBody>
          <a:bodyPr>
            <a:noAutofit/>
          </a:bodyPr>
          <a:lstStyle/>
          <a:p>
            <a:pPr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For Deployment (Live Application)</a:t>
            </a:r>
          </a:p>
          <a:p>
            <a:pPr lvl="1" algn="just">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Server-Side:</a:t>
            </a:r>
            <a:endParaRPr lang="en-US" sz="2800" dirty="0">
              <a:latin typeface="Times New Roman" panose="02020603050405020304" pitchFamily="18" charset="0"/>
              <a:cs typeface="Times New Roman" panose="02020603050405020304" pitchFamily="18" charset="0"/>
            </a:endParaRPr>
          </a:p>
          <a:p>
            <a:pPr lvl="2" algn="just"/>
            <a:r>
              <a:rPr lang="en-US" sz="2800" b="1" dirty="0">
                <a:latin typeface="Times New Roman" panose="02020603050405020304" pitchFamily="18" charset="0"/>
                <a:cs typeface="Times New Roman" panose="02020603050405020304" pitchFamily="18" charset="0"/>
              </a:rPr>
              <a:t>GPU:</a:t>
            </a:r>
            <a:r>
              <a:rPr lang="en-US" sz="2800" dirty="0">
                <a:latin typeface="Times New Roman" panose="02020603050405020304" pitchFamily="18" charset="0"/>
                <a:cs typeface="Times New Roman" panose="02020603050405020304" pitchFamily="18" charset="0"/>
              </a:rPr>
              <a:t> Server-grade GPU for real-time inference (e.g., NVIDIA T4 or A10G).</a:t>
            </a:r>
          </a:p>
          <a:p>
            <a:pPr lvl="2" algn="just"/>
            <a:r>
              <a:rPr lang="en-US" sz="2800" b="1" dirty="0">
                <a:latin typeface="Times New Roman" panose="02020603050405020304" pitchFamily="18" charset="0"/>
                <a:cs typeface="Times New Roman" panose="02020603050405020304" pitchFamily="18" charset="0"/>
              </a:rPr>
              <a:t>CPU &amp; RAM:</a:t>
            </a:r>
            <a:r>
              <a:rPr lang="en-US" sz="2800" dirty="0">
                <a:latin typeface="Times New Roman" panose="02020603050405020304" pitchFamily="18" charset="0"/>
                <a:cs typeface="Times New Roman" panose="02020603050405020304" pitchFamily="18" charset="0"/>
              </a:rPr>
              <a:t> Multi-core server CPU with at least 32 GB of RAM.</a:t>
            </a:r>
          </a:p>
        </p:txBody>
      </p:sp>
      <p:sp>
        <p:nvSpPr>
          <p:cNvPr id="5" name="Slide Number Placeholder 4">
            <a:extLst>
              <a:ext uri="{FF2B5EF4-FFF2-40B4-BE49-F238E27FC236}">
                <a16:creationId xmlns:a16="http://schemas.microsoft.com/office/drawing/2014/main" id="{F2904F39-6C26-B586-52E7-661EE8810776}"/>
              </a:ext>
            </a:extLst>
          </p:cNvPr>
          <p:cNvSpPr>
            <a:spLocks noGrp="1"/>
          </p:cNvSpPr>
          <p:nvPr>
            <p:ph type="sldNum" sz="quarter" idx="12"/>
          </p:nvPr>
        </p:nvSpPr>
        <p:spPr>
          <a:xfrm>
            <a:off x="8610600" y="6562546"/>
            <a:ext cx="2743200" cy="349250"/>
          </a:xfrm>
        </p:spPr>
        <p:txBody>
          <a:bodyPr/>
          <a:lstStyle/>
          <a:p>
            <a:fld id="{F09AFC8B-2B39-4FD9-BC35-C243DBCAD3D3}" type="slidenum">
              <a:rPr lang="en-IN" smtClean="0"/>
              <a:t>21</a:t>
            </a:fld>
            <a:endParaRPr lang="en-IN" dirty="0"/>
          </a:p>
        </p:txBody>
      </p:sp>
      <p:pic>
        <p:nvPicPr>
          <p:cNvPr id="7" name="Picture 6">
            <a:extLst>
              <a:ext uri="{FF2B5EF4-FFF2-40B4-BE49-F238E27FC236}">
                <a16:creationId xmlns:a16="http://schemas.microsoft.com/office/drawing/2014/main" id="{D488F2D0-DC66-DF64-D29A-9E1CDE358FE5}"/>
              </a:ext>
            </a:extLst>
          </p:cNvPr>
          <p:cNvPicPr>
            <a:picLocks noChangeAspect="1"/>
          </p:cNvPicPr>
          <p:nvPr/>
        </p:nvPicPr>
        <p:blipFill>
          <a:blip r:embed="rId2"/>
          <a:stretch>
            <a:fillRect/>
          </a:stretch>
        </p:blipFill>
        <p:spPr>
          <a:xfrm>
            <a:off x="10175264" y="92908"/>
            <a:ext cx="1178536" cy="829955"/>
          </a:xfrm>
          <a:prstGeom prst="rect">
            <a:avLst/>
          </a:prstGeom>
        </p:spPr>
      </p:pic>
      <p:pic>
        <p:nvPicPr>
          <p:cNvPr id="9" name="Picture 8">
            <a:extLst>
              <a:ext uri="{FF2B5EF4-FFF2-40B4-BE49-F238E27FC236}">
                <a16:creationId xmlns:a16="http://schemas.microsoft.com/office/drawing/2014/main" id="{28DBC025-B6E6-DDF2-D1C5-FE3D8C0A9DB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4" name="Footer Placeholder 3">
            <a:extLst>
              <a:ext uri="{FF2B5EF4-FFF2-40B4-BE49-F238E27FC236}">
                <a16:creationId xmlns:a16="http://schemas.microsoft.com/office/drawing/2014/main" id="{A92E32B3-416B-B9BD-C4F4-0A9B78CF650C}"/>
              </a:ext>
            </a:extLst>
          </p:cNvPr>
          <p:cNvSpPr>
            <a:spLocks noGrp="1"/>
          </p:cNvSpPr>
          <p:nvPr>
            <p:ph type="ftr" sz="quarter" idx="11"/>
          </p:nvPr>
        </p:nvSpPr>
        <p:spPr/>
        <p:txBody>
          <a:bodyPr/>
          <a:lstStyle/>
          <a:p>
            <a:r>
              <a:rPr lang="en-US" dirty="0"/>
              <a:t>AI-powered Interview Assessment Tool</a:t>
            </a:r>
            <a:endParaRPr lang="en-IN" dirty="0"/>
          </a:p>
        </p:txBody>
      </p:sp>
    </p:spTree>
    <p:extLst>
      <p:ext uri="{BB962C8B-B14F-4D97-AF65-F5344CB8AC3E}">
        <p14:creationId xmlns:p14="http://schemas.microsoft.com/office/powerpoint/2010/main" val="1312968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A1862-055C-1062-E910-49B8BC46A6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4F1C22-B404-D299-C198-5A7169C7ED91}"/>
              </a:ext>
            </a:extLst>
          </p:cNvPr>
          <p:cNvSpPr>
            <a:spLocks noGrp="1"/>
          </p:cNvSpPr>
          <p:nvPr>
            <p:ph type="title"/>
          </p:nvPr>
        </p:nvSpPr>
        <p:spPr>
          <a:xfrm>
            <a:off x="838200" y="1012557"/>
            <a:ext cx="10515600" cy="633681"/>
          </a:xfrm>
          <a:solidFill>
            <a:srgbClr val="C00000"/>
          </a:solidFill>
        </p:spPr>
        <p:txBody>
          <a:bodyPr>
            <a:normAutofit fontScale="90000"/>
          </a:bodyPr>
          <a:lstStyle/>
          <a:p>
            <a:r>
              <a:rPr lang="en-IN" b="1" dirty="0">
                <a:solidFill>
                  <a:srgbClr val="FFCC00"/>
                </a:solidFill>
                <a:latin typeface="Times New Roman" panose="02020603050405020304" pitchFamily="18" charset="0"/>
                <a:cs typeface="Times New Roman" panose="02020603050405020304" pitchFamily="18" charset="0"/>
              </a:rPr>
              <a:t>PROPOSED   METHODOLOGY </a:t>
            </a:r>
          </a:p>
        </p:txBody>
      </p:sp>
      <p:sp>
        <p:nvSpPr>
          <p:cNvPr id="3" name="Content Placeholder 2">
            <a:extLst>
              <a:ext uri="{FF2B5EF4-FFF2-40B4-BE49-F238E27FC236}">
                <a16:creationId xmlns:a16="http://schemas.microsoft.com/office/drawing/2014/main" id="{35F19EC1-F5CA-8B94-B612-9837EC8A3B9D}"/>
              </a:ext>
            </a:extLst>
          </p:cNvPr>
          <p:cNvSpPr>
            <a:spLocks noGrp="1"/>
          </p:cNvSpPr>
          <p:nvPr>
            <p:ph idx="1"/>
          </p:nvPr>
        </p:nvSpPr>
        <p:spPr>
          <a:xfrm>
            <a:off x="838200" y="2591836"/>
            <a:ext cx="10515600" cy="3970710"/>
          </a:xfrm>
        </p:spPr>
        <p:txBody>
          <a:bodyPr>
            <a:noAutofit/>
          </a:bodyPr>
          <a:lstStyle/>
          <a:p>
            <a:pPr algn="just">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Client-Side (The Candidate):</a:t>
            </a:r>
            <a:endParaRPr lang="en-IN" dirty="0">
              <a:latin typeface="Times New Roman" panose="02020603050405020304" pitchFamily="18" charset="0"/>
              <a:cs typeface="Times New Roman" panose="02020603050405020304" pitchFamily="18" charset="0"/>
            </a:endParaRPr>
          </a:p>
          <a:p>
            <a:pPr lvl="1" algn="just"/>
            <a:r>
              <a:rPr lang="en-IN" sz="2800" b="1" dirty="0">
                <a:latin typeface="Times New Roman" panose="02020603050405020304" pitchFamily="18" charset="0"/>
                <a:cs typeface="Times New Roman" panose="02020603050405020304" pitchFamily="18" charset="0"/>
              </a:rPr>
              <a:t>Computer:</a:t>
            </a:r>
            <a:r>
              <a:rPr lang="en-IN" sz="2800" dirty="0">
                <a:latin typeface="Times New Roman" panose="02020603050405020304" pitchFamily="18" charset="0"/>
                <a:cs typeface="Times New Roman" panose="02020603050405020304" pitchFamily="18" charset="0"/>
              </a:rPr>
              <a:t> Standard modern laptop/desktop.</a:t>
            </a:r>
          </a:p>
          <a:p>
            <a:pPr lvl="1" algn="just"/>
            <a:r>
              <a:rPr lang="en-IN" sz="2800" b="1" dirty="0">
                <a:latin typeface="Times New Roman" panose="02020603050405020304" pitchFamily="18" charset="0"/>
                <a:cs typeface="Times New Roman" panose="02020603050405020304" pitchFamily="18" charset="0"/>
              </a:rPr>
              <a:t>Webcam:</a:t>
            </a:r>
            <a:r>
              <a:rPr lang="en-IN" sz="2800" dirty="0">
                <a:latin typeface="Times New Roman" panose="02020603050405020304" pitchFamily="18" charset="0"/>
                <a:cs typeface="Times New Roman" panose="02020603050405020304" pitchFamily="18" charset="0"/>
              </a:rPr>
              <a:t> HD quality (720p minimum).</a:t>
            </a:r>
          </a:p>
          <a:p>
            <a:pPr lvl="1" algn="just"/>
            <a:r>
              <a:rPr lang="en-IN" sz="2800" b="1" dirty="0">
                <a:latin typeface="Times New Roman" panose="02020603050405020304" pitchFamily="18" charset="0"/>
                <a:cs typeface="Times New Roman" panose="02020603050405020304" pitchFamily="18" charset="0"/>
              </a:rPr>
              <a:t>Microphone:</a:t>
            </a:r>
            <a:r>
              <a:rPr lang="en-IN" sz="2800" dirty="0">
                <a:latin typeface="Times New Roman" panose="02020603050405020304" pitchFamily="18" charset="0"/>
                <a:cs typeface="Times New Roman" panose="02020603050405020304" pitchFamily="18" charset="0"/>
              </a:rPr>
              <a:t> Clear, high-quality audio input.</a:t>
            </a:r>
          </a:p>
          <a:p>
            <a:pPr lvl="1" algn="just"/>
            <a:r>
              <a:rPr lang="en-IN" sz="2800" b="1" dirty="0">
                <a:latin typeface="Times New Roman" panose="02020603050405020304" pitchFamily="18" charset="0"/>
                <a:cs typeface="Times New Roman" panose="02020603050405020304" pitchFamily="18" charset="0"/>
              </a:rPr>
              <a:t>Internet:</a:t>
            </a:r>
            <a:r>
              <a:rPr lang="en-IN" sz="2800" dirty="0">
                <a:latin typeface="Times New Roman" panose="02020603050405020304" pitchFamily="18" charset="0"/>
                <a:cs typeface="Times New Roman" panose="02020603050405020304" pitchFamily="18" charset="0"/>
              </a:rPr>
              <a:t> Stable, high-speed connection.</a:t>
            </a:r>
          </a:p>
        </p:txBody>
      </p:sp>
      <p:sp>
        <p:nvSpPr>
          <p:cNvPr id="5" name="Slide Number Placeholder 4">
            <a:extLst>
              <a:ext uri="{FF2B5EF4-FFF2-40B4-BE49-F238E27FC236}">
                <a16:creationId xmlns:a16="http://schemas.microsoft.com/office/drawing/2014/main" id="{48D2CF7C-A490-E9D6-2946-E36E0244AC61}"/>
              </a:ext>
            </a:extLst>
          </p:cNvPr>
          <p:cNvSpPr>
            <a:spLocks noGrp="1"/>
          </p:cNvSpPr>
          <p:nvPr>
            <p:ph type="sldNum" sz="quarter" idx="12"/>
          </p:nvPr>
        </p:nvSpPr>
        <p:spPr>
          <a:xfrm>
            <a:off x="8610600" y="6562546"/>
            <a:ext cx="2743200" cy="349250"/>
          </a:xfrm>
        </p:spPr>
        <p:txBody>
          <a:bodyPr/>
          <a:lstStyle/>
          <a:p>
            <a:fld id="{F09AFC8B-2B39-4FD9-BC35-C243DBCAD3D3}" type="slidenum">
              <a:rPr lang="en-IN" smtClean="0"/>
              <a:t>22</a:t>
            </a:fld>
            <a:endParaRPr lang="en-IN" dirty="0"/>
          </a:p>
        </p:txBody>
      </p:sp>
      <p:pic>
        <p:nvPicPr>
          <p:cNvPr id="7" name="Picture 6">
            <a:extLst>
              <a:ext uri="{FF2B5EF4-FFF2-40B4-BE49-F238E27FC236}">
                <a16:creationId xmlns:a16="http://schemas.microsoft.com/office/drawing/2014/main" id="{3337DC98-19AC-BC94-EC75-6AD6A66D9D91}"/>
              </a:ext>
            </a:extLst>
          </p:cNvPr>
          <p:cNvPicPr>
            <a:picLocks noChangeAspect="1"/>
          </p:cNvPicPr>
          <p:nvPr/>
        </p:nvPicPr>
        <p:blipFill>
          <a:blip r:embed="rId2"/>
          <a:stretch>
            <a:fillRect/>
          </a:stretch>
        </p:blipFill>
        <p:spPr>
          <a:xfrm>
            <a:off x="10175264" y="92908"/>
            <a:ext cx="1178536" cy="829955"/>
          </a:xfrm>
          <a:prstGeom prst="rect">
            <a:avLst/>
          </a:prstGeom>
        </p:spPr>
      </p:pic>
      <p:pic>
        <p:nvPicPr>
          <p:cNvPr id="9" name="Picture 8">
            <a:extLst>
              <a:ext uri="{FF2B5EF4-FFF2-40B4-BE49-F238E27FC236}">
                <a16:creationId xmlns:a16="http://schemas.microsoft.com/office/drawing/2014/main" id="{28F3F79F-DB63-8766-FF98-AD54372627A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4" name="Footer Placeholder 3">
            <a:extLst>
              <a:ext uri="{FF2B5EF4-FFF2-40B4-BE49-F238E27FC236}">
                <a16:creationId xmlns:a16="http://schemas.microsoft.com/office/drawing/2014/main" id="{884A7090-9924-08BB-B1B8-767514572116}"/>
              </a:ext>
            </a:extLst>
          </p:cNvPr>
          <p:cNvSpPr>
            <a:spLocks noGrp="1"/>
          </p:cNvSpPr>
          <p:nvPr>
            <p:ph type="ftr" sz="quarter" idx="11"/>
          </p:nvPr>
        </p:nvSpPr>
        <p:spPr/>
        <p:txBody>
          <a:bodyPr/>
          <a:lstStyle/>
          <a:p>
            <a:r>
              <a:rPr lang="en-US" dirty="0"/>
              <a:t>AI-powered Interview Assessment Tool</a:t>
            </a:r>
            <a:endParaRPr lang="en-IN" dirty="0"/>
          </a:p>
        </p:txBody>
      </p:sp>
    </p:spTree>
    <p:extLst>
      <p:ext uri="{BB962C8B-B14F-4D97-AF65-F5344CB8AC3E}">
        <p14:creationId xmlns:p14="http://schemas.microsoft.com/office/powerpoint/2010/main" val="24992287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AAA93-87B8-B4C0-A269-02F4DC6979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A488B8-9070-D1DB-F600-654F94D52041}"/>
              </a:ext>
            </a:extLst>
          </p:cNvPr>
          <p:cNvSpPr>
            <a:spLocks noGrp="1"/>
          </p:cNvSpPr>
          <p:nvPr>
            <p:ph type="title"/>
          </p:nvPr>
        </p:nvSpPr>
        <p:spPr>
          <a:xfrm>
            <a:off x="838200" y="1012557"/>
            <a:ext cx="10515600" cy="633681"/>
          </a:xfrm>
          <a:solidFill>
            <a:srgbClr val="C00000"/>
          </a:solidFill>
        </p:spPr>
        <p:txBody>
          <a:bodyPr>
            <a:normAutofit fontScale="90000"/>
          </a:bodyPr>
          <a:lstStyle/>
          <a:p>
            <a:r>
              <a:rPr lang="en-IN" b="1" dirty="0">
                <a:solidFill>
                  <a:srgbClr val="FFCC00"/>
                </a:solidFill>
                <a:latin typeface="Times New Roman" panose="02020603050405020304" pitchFamily="18" charset="0"/>
                <a:cs typeface="Times New Roman" panose="02020603050405020304" pitchFamily="18" charset="0"/>
              </a:rPr>
              <a:t>PROPOSED   METHODOLOGY </a:t>
            </a:r>
          </a:p>
        </p:txBody>
      </p:sp>
      <p:sp>
        <p:nvSpPr>
          <p:cNvPr id="3" name="Content Placeholder 2">
            <a:extLst>
              <a:ext uri="{FF2B5EF4-FFF2-40B4-BE49-F238E27FC236}">
                <a16:creationId xmlns:a16="http://schemas.microsoft.com/office/drawing/2014/main" id="{5B906AD1-22AD-2DDD-5B72-EDD2D319E7F1}"/>
              </a:ext>
            </a:extLst>
          </p:cNvPr>
          <p:cNvSpPr>
            <a:spLocks noGrp="1"/>
          </p:cNvSpPr>
          <p:nvPr>
            <p:ph idx="1"/>
          </p:nvPr>
        </p:nvSpPr>
        <p:spPr>
          <a:xfrm>
            <a:off x="838200" y="2015939"/>
            <a:ext cx="10515600" cy="3970710"/>
          </a:xfrm>
        </p:spPr>
        <p:txBody>
          <a:bodyPr>
            <a:noAutofit/>
          </a:bodyPr>
          <a:lstStyle/>
          <a:p>
            <a:pPr marL="0" indent="0" algn="ctr">
              <a:buNone/>
            </a:pPr>
            <a:r>
              <a:rPr lang="en-US" b="1" dirty="0">
                <a:solidFill>
                  <a:srgbClr val="C00000"/>
                </a:solidFill>
                <a:latin typeface="Times New Roman" panose="02020603050405020304" pitchFamily="18" charset="0"/>
                <a:cs typeface="Times New Roman" panose="02020603050405020304" pitchFamily="18" charset="0"/>
              </a:rPr>
              <a:t>SOFTWARE REQUIREMENTS</a:t>
            </a:r>
          </a:p>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Core Stack &amp; AI Frameworks</a:t>
            </a:r>
          </a:p>
          <a:p>
            <a:pPr lvl="1"/>
            <a:r>
              <a:rPr lang="en-IN" sz="2800" b="1" dirty="0">
                <a:latin typeface="Times New Roman" panose="02020603050405020304" pitchFamily="18" charset="0"/>
                <a:cs typeface="Times New Roman" panose="02020603050405020304" pitchFamily="18" charset="0"/>
              </a:rPr>
              <a:t>Language:</a:t>
            </a:r>
            <a:r>
              <a:rPr lang="en-IN" sz="2800" dirty="0">
                <a:latin typeface="Times New Roman" panose="02020603050405020304" pitchFamily="18" charset="0"/>
                <a:cs typeface="Times New Roman" panose="02020603050405020304" pitchFamily="18" charset="0"/>
              </a:rPr>
              <a:t> Python 3.9+</a:t>
            </a:r>
          </a:p>
          <a:p>
            <a:pPr lvl="1"/>
            <a:r>
              <a:rPr lang="en-IN" sz="2800" b="1" dirty="0">
                <a:latin typeface="Times New Roman" panose="02020603050405020304" pitchFamily="18" charset="0"/>
                <a:cs typeface="Times New Roman" panose="02020603050405020304" pitchFamily="18" charset="0"/>
              </a:rPr>
              <a:t>Core Libraries:</a:t>
            </a:r>
            <a:r>
              <a:rPr lang="en-IN" sz="2800" dirty="0">
                <a:latin typeface="Times New Roman" panose="02020603050405020304" pitchFamily="18" charset="0"/>
                <a:cs typeface="Times New Roman" panose="02020603050405020304" pitchFamily="18" charset="0"/>
              </a:rPr>
              <a:t> NumPy, Pandas, Scikit-learn</a:t>
            </a:r>
          </a:p>
          <a:p>
            <a:pPr lvl="1"/>
            <a:r>
              <a:rPr lang="en-IN" sz="2800" b="1" dirty="0">
                <a:latin typeface="Times New Roman" panose="02020603050405020304" pitchFamily="18" charset="0"/>
                <a:cs typeface="Times New Roman" panose="02020603050405020304" pitchFamily="18" charset="0"/>
              </a:rPr>
              <a:t>Deep Learning:</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PyTorch</a:t>
            </a:r>
            <a:r>
              <a:rPr lang="en-IN" sz="2800" dirty="0">
                <a:latin typeface="Times New Roman" panose="02020603050405020304" pitchFamily="18" charset="0"/>
                <a:cs typeface="Times New Roman" panose="02020603050405020304" pitchFamily="18" charset="0"/>
              </a:rPr>
              <a:t> or TensorFlow</a:t>
            </a:r>
          </a:p>
          <a:p>
            <a:pPr lvl="1"/>
            <a:r>
              <a:rPr lang="en-IN" sz="2800" b="1" dirty="0">
                <a:latin typeface="Times New Roman" panose="02020603050405020304" pitchFamily="18" charset="0"/>
                <a:cs typeface="Times New Roman" panose="02020603050405020304" pitchFamily="18" charset="0"/>
              </a:rPr>
              <a:t>NLP Models:</a:t>
            </a:r>
            <a:r>
              <a:rPr lang="en-IN" sz="2800" dirty="0">
                <a:latin typeface="Times New Roman" panose="02020603050405020304" pitchFamily="18" charset="0"/>
                <a:cs typeface="Times New Roman" panose="02020603050405020304" pitchFamily="18" charset="0"/>
              </a:rPr>
              <a:t> Hugging Face Transformers</a:t>
            </a:r>
          </a:p>
          <a:p>
            <a:pPr marL="0" indent="0" algn="ctr">
              <a:buNone/>
            </a:pPr>
            <a:endParaRPr lang="en-IN" dirty="0"/>
          </a:p>
        </p:txBody>
      </p:sp>
      <p:sp>
        <p:nvSpPr>
          <p:cNvPr id="5" name="Slide Number Placeholder 4">
            <a:extLst>
              <a:ext uri="{FF2B5EF4-FFF2-40B4-BE49-F238E27FC236}">
                <a16:creationId xmlns:a16="http://schemas.microsoft.com/office/drawing/2014/main" id="{8FBD127E-2022-24C1-B5C0-F186D795704F}"/>
              </a:ext>
            </a:extLst>
          </p:cNvPr>
          <p:cNvSpPr>
            <a:spLocks noGrp="1"/>
          </p:cNvSpPr>
          <p:nvPr>
            <p:ph type="sldNum" sz="quarter" idx="12"/>
          </p:nvPr>
        </p:nvSpPr>
        <p:spPr>
          <a:xfrm>
            <a:off x="8610600" y="6562546"/>
            <a:ext cx="2743200" cy="349250"/>
          </a:xfrm>
        </p:spPr>
        <p:txBody>
          <a:bodyPr/>
          <a:lstStyle/>
          <a:p>
            <a:fld id="{F09AFC8B-2B39-4FD9-BC35-C243DBCAD3D3}" type="slidenum">
              <a:rPr lang="en-IN" smtClean="0"/>
              <a:t>23</a:t>
            </a:fld>
            <a:endParaRPr lang="en-IN" dirty="0"/>
          </a:p>
        </p:txBody>
      </p:sp>
      <p:pic>
        <p:nvPicPr>
          <p:cNvPr id="7" name="Picture 6">
            <a:extLst>
              <a:ext uri="{FF2B5EF4-FFF2-40B4-BE49-F238E27FC236}">
                <a16:creationId xmlns:a16="http://schemas.microsoft.com/office/drawing/2014/main" id="{BC417108-6397-029E-90D8-3691566C0213}"/>
              </a:ext>
            </a:extLst>
          </p:cNvPr>
          <p:cNvPicPr>
            <a:picLocks noChangeAspect="1"/>
          </p:cNvPicPr>
          <p:nvPr/>
        </p:nvPicPr>
        <p:blipFill>
          <a:blip r:embed="rId2"/>
          <a:stretch>
            <a:fillRect/>
          </a:stretch>
        </p:blipFill>
        <p:spPr>
          <a:xfrm>
            <a:off x="10175264" y="92908"/>
            <a:ext cx="1178536" cy="829955"/>
          </a:xfrm>
          <a:prstGeom prst="rect">
            <a:avLst/>
          </a:prstGeom>
        </p:spPr>
      </p:pic>
      <p:pic>
        <p:nvPicPr>
          <p:cNvPr id="9" name="Picture 8">
            <a:extLst>
              <a:ext uri="{FF2B5EF4-FFF2-40B4-BE49-F238E27FC236}">
                <a16:creationId xmlns:a16="http://schemas.microsoft.com/office/drawing/2014/main" id="{69A7FA09-B188-3AFE-079A-BF163A2191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4" name="Footer Placeholder 3">
            <a:extLst>
              <a:ext uri="{FF2B5EF4-FFF2-40B4-BE49-F238E27FC236}">
                <a16:creationId xmlns:a16="http://schemas.microsoft.com/office/drawing/2014/main" id="{EB5C2904-825D-D25E-AD44-7DBBC4A5FFE7}"/>
              </a:ext>
            </a:extLst>
          </p:cNvPr>
          <p:cNvSpPr>
            <a:spLocks noGrp="1"/>
          </p:cNvSpPr>
          <p:nvPr>
            <p:ph type="ftr" sz="quarter" idx="11"/>
          </p:nvPr>
        </p:nvSpPr>
        <p:spPr/>
        <p:txBody>
          <a:bodyPr/>
          <a:lstStyle/>
          <a:p>
            <a:r>
              <a:rPr lang="en-US" dirty="0"/>
              <a:t>AI-powered Interview Assessment Tool</a:t>
            </a:r>
            <a:endParaRPr lang="en-IN" dirty="0"/>
          </a:p>
        </p:txBody>
      </p:sp>
    </p:spTree>
    <p:extLst>
      <p:ext uri="{BB962C8B-B14F-4D97-AF65-F5344CB8AC3E}">
        <p14:creationId xmlns:p14="http://schemas.microsoft.com/office/powerpoint/2010/main" val="26932199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B3C35-55B5-E3F4-026C-195B08BF2F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51A83D-C18F-D925-FD6C-79067EBC7315}"/>
              </a:ext>
            </a:extLst>
          </p:cNvPr>
          <p:cNvSpPr>
            <a:spLocks noGrp="1"/>
          </p:cNvSpPr>
          <p:nvPr>
            <p:ph type="title"/>
          </p:nvPr>
        </p:nvSpPr>
        <p:spPr>
          <a:xfrm>
            <a:off x="838200" y="1012557"/>
            <a:ext cx="10515600" cy="633681"/>
          </a:xfrm>
          <a:solidFill>
            <a:srgbClr val="C00000"/>
          </a:solidFill>
        </p:spPr>
        <p:txBody>
          <a:bodyPr>
            <a:normAutofit fontScale="90000"/>
          </a:bodyPr>
          <a:lstStyle/>
          <a:p>
            <a:r>
              <a:rPr lang="en-IN" b="1" dirty="0">
                <a:solidFill>
                  <a:srgbClr val="FFCC00"/>
                </a:solidFill>
                <a:latin typeface="Times New Roman" panose="02020603050405020304" pitchFamily="18" charset="0"/>
                <a:cs typeface="Times New Roman" panose="02020603050405020304" pitchFamily="18" charset="0"/>
              </a:rPr>
              <a:t>PROPOSED   METHODOLOGY </a:t>
            </a:r>
          </a:p>
        </p:txBody>
      </p:sp>
      <p:sp>
        <p:nvSpPr>
          <p:cNvPr id="3" name="Content Placeholder 2">
            <a:extLst>
              <a:ext uri="{FF2B5EF4-FFF2-40B4-BE49-F238E27FC236}">
                <a16:creationId xmlns:a16="http://schemas.microsoft.com/office/drawing/2014/main" id="{D9D2671F-30C7-2C36-90B7-CB3AF120EF34}"/>
              </a:ext>
            </a:extLst>
          </p:cNvPr>
          <p:cNvSpPr>
            <a:spLocks noGrp="1"/>
          </p:cNvSpPr>
          <p:nvPr>
            <p:ph idx="1"/>
          </p:nvPr>
        </p:nvSpPr>
        <p:spPr>
          <a:xfrm>
            <a:off x="838200" y="2591836"/>
            <a:ext cx="10515600" cy="3970710"/>
          </a:xfrm>
        </p:spPr>
        <p:txBody>
          <a:bodyPr>
            <a:noAutofit/>
          </a:bodyPr>
          <a:lstStyle/>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Specialized Libraries by Agent</a:t>
            </a:r>
          </a:p>
          <a:p>
            <a:pPr lvl="1"/>
            <a:r>
              <a:rPr lang="en-IN" sz="2800" b="1" dirty="0">
                <a:latin typeface="Times New Roman" panose="02020603050405020304" pitchFamily="18" charset="0"/>
                <a:cs typeface="Times New Roman" panose="02020603050405020304" pitchFamily="18" charset="0"/>
              </a:rPr>
              <a:t>Verbal (Speech &amp; Text):</a:t>
            </a:r>
            <a:r>
              <a:rPr lang="en-IN" sz="2800" dirty="0">
                <a:latin typeface="Times New Roman" panose="02020603050405020304" pitchFamily="18" charset="0"/>
                <a:cs typeface="Times New Roman" panose="02020603050405020304" pitchFamily="18" charset="0"/>
              </a:rPr>
              <a:t> Whisper, </a:t>
            </a:r>
            <a:r>
              <a:rPr lang="en-IN" sz="2800" dirty="0" err="1">
                <a:latin typeface="Times New Roman" panose="02020603050405020304" pitchFamily="18" charset="0"/>
                <a:cs typeface="Times New Roman" panose="02020603050405020304" pitchFamily="18" charset="0"/>
              </a:rPr>
              <a:t>spaCy</a:t>
            </a:r>
            <a:endParaRPr lang="en-IN" sz="2800" dirty="0">
              <a:latin typeface="Times New Roman" panose="02020603050405020304" pitchFamily="18" charset="0"/>
              <a:cs typeface="Times New Roman" panose="02020603050405020304" pitchFamily="18" charset="0"/>
            </a:endParaRPr>
          </a:p>
          <a:p>
            <a:pPr lvl="1"/>
            <a:r>
              <a:rPr lang="en-IN" sz="2800" b="1" dirty="0">
                <a:latin typeface="Times New Roman" panose="02020603050405020304" pitchFamily="18" charset="0"/>
                <a:cs typeface="Times New Roman" panose="02020603050405020304" pitchFamily="18" charset="0"/>
              </a:rPr>
              <a:t>Vocal (Audio Analysis):</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Librosa</a:t>
            </a:r>
            <a:endParaRPr lang="en-IN" sz="2800" dirty="0">
              <a:latin typeface="Times New Roman" panose="02020603050405020304" pitchFamily="18" charset="0"/>
              <a:cs typeface="Times New Roman" panose="02020603050405020304" pitchFamily="18" charset="0"/>
            </a:endParaRPr>
          </a:p>
          <a:p>
            <a:pPr lvl="1"/>
            <a:r>
              <a:rPr lang="en-IN" sz="2800" b="1" dirty="0">
                <a:latin typeface="Times New Roman" panose="02020603050405020304" pitchFamily="18" charset="0"/>
                <a:cs typeface="Times New Roman" panose="02020603050405020304" pitchFamily="18" charset="0"/>
              </a:rPr>
              <a:t>Non-Verbal (Video Analysis):</a:t>
            </a:r>
            <a:r>
              <a:rPr lang="en-IN" sz="2800" dirty="0">
                <a:latin typeface="Times New Roman" panose="02020603050405020304" pitchFamily="18" charset="0"/>
                <a:cs typeface="Times New Roman" panose="02020603050405020304" pitchFamily="18" charset="0"/>
              </a:rPr>
              <a:t> OpenCV, </a:t>
            </a:r>
            <a:r>
              <a:rPr lang="en-IN" sz="2800" dirty="0" err="1">
                <a:latin typeface="Times New Roman" panose="02020603050405020304" pitchFamily="18" charset="0"/>
                <a:cs typeface="Times New Roman" panose="02020603050405020304" pitchFamily="18" charset="0"/>
              </a:rPr>
              <a:t>MediaPipe</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DeepFace</a:t>
            </a:r>
            <a:endParaRPr lang="en-IN" sz="28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ADBD007F-956A-C1BA-FDC3-A9A990C6FFE0}"/>
              </a:ext>
            </a:extLst>
          </p:cNvPr>
          <p:cNvSpPr>
            <a:spLocks noGrp="1"/>
          </p:cNvSpPr>
          <p:nvPr>
            <p:ph type="sldNum" sz="quarter" idx="12"/>
          </p:nvPr>
        </p:nvSpPr>
        <p:spPr>
          <a:xfrm>
            <a:off x="8610600" y="6562546"/>
            <a:ext cx="2743200" cy="349250"/>
          </a:xfrm>
        </p:spPr>
        <p:txBody>
          <a:bodyPr/>
          <a:lstStyle/>
          <a:p>
            <a:fld id="{F09AFC8B-2B39-4FD9-BC35-C243DBCAD3D3}" type="slidenum">
              <a:rPr lang="en-IN" smtClean="0"/>
              <a:t>24</a:t>
            </a:fld>
            <a:endParaRPr lang="en-IN" dirty="0"/>
          </a:p>
        </p:txBody>
      </p:sp>
      <p:pic>
        <p:nvPicPr>
          <p:cNvPr id="7" name="Picture 6">
            <a:extLst>
              <a:ext uri="{FF2B5EF4-FFF2-40B4-BE49-F238E27FC236}">
                <a16:creationId xmlns:a16="http://schemas.microsoft.com/office/drawing/2014/main" id="{1154CEF0-9707-ACE2-FCEC-7583E9B09C0D}"/>
              </a:ext>
            </a:extLst>
          </p:cNvPr>
          <p:cNvPicPr>
            <a:picLocks noChangeAspect="1"/>
          </p:cNvPicPr>
          <p:nvPr/>
        </p:nvPicPr>
        <p:blipFill>
          <a:blip r:embed="rId2"/>
          <a:stretch>
            <a:fillRect/>
          </a:stretch>
        </p:blipFill>
        <p:spPr>
          <a:xfrm>
            <a:off x="10175264" y="92908"/>
            <a:ext cx="1178536" cy="829955"/>
          </a:xfrm>
          <a:prstGeom prst="rect">
            <a:avLst/>
          </a:prstGeom>
        </p:spPr>
      </p:pic>
      <p:pic>
        <p:nvPicPr>
          <p:cNvPr id="9" name="Picture 8">
            <a:extLst>
              <a:ext uri="{FF2B5EF4-FFF2-40B4-BE49-F238E27FC236}">
                <a16:creationId xmlns:a16="http://schemas.microsoft.com/office/drawing/2014/main" id="{5FB6B826-6F92-2FD8-FCEA-D174B83D715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4" name="Footer Placeholder 3">
            <a:extLst>
              <a:ext uri="{FF2B5EF4-FFF2-40B4-BE49-F238E27FC236}">
                <a16:creationId xmlns:a16="http://schemas.microsoft.com/office/drawing/2014/main" id="{CC67DFC3-D41F-164E-87E1-1E52722DF284}"/>
              </a:ext>
            </a:extLst>
          </p:cNvPr>
          <p:cNvSpPr>
            <a:spLocks noGrp="1"/>
          </p:cNvSpPr>
          <p:nvPr>
            <p:ph type="ftr" sz="quarter" idx="11"/>
          </p:nvPr>
        </p:nvSpPr>
        <p:spPr/>
        <p:txBody>
          <a:bodyPr/>
          <a:lstStyle/>
          <a:p>
            <a:r>
              <a:rPr lang="en-US" dirty="0"/>
              <a:t>AI-powered Interview Assessment Tool</a:t>
            </a:r>
            <a:endParaRPr lang="en-IN" dirty="0"/>
          </a:p>
        </p:txBody>
      </p:sp>
    </p:spTree>
    <p:extLst>
      <p:ext uri="{BB962C8B-B14F-4D97-AF65-F5344CB8AC3E}">
        <p14:creationId xmlns:p14="http://schemas.microsoft.com/office/powerpoint/2010/main" val="14128942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F8270-DFCB-1962-3ABB-01E6D0C7CA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FCFA19-DC8E-8F67-7531-53C0EDAF6BC2}"/>
              </a:ext>
            </a:extLst>
          </p:cNvPr>
          <p:cNvSpPr>
            <a:spLocks noGrp="1"/>
          </p:cNvSpPr>
          <p:nvPr>
            <p:ph type="title"/>
          </p:nvPr>
        </p:nvSpPr>
        <p:spPr>
          <a:xfrm>
            <a:off x="838200" y="1012557"/>
            <a:ext cx="10515600" cy="633681"/>
          </a:xfrm>
          <a:solidFill>
            <a:srgbClr val="C00000"/>
          </a:solidFill>
        </p:spPr>
        <p:txBody>
          <a:bodyPr>
            <a:normAutofit fontScale="90000"/>
          </a:bodyPr>
          <a:lstStyle/>
          <a:p>
            <a:r>
              <a:rPr lang="en-IN" b="1" dirty="0">
                <a:solidFill>
                  <a:srgbClr val="FFCC00"/>
                </a:solidFill>
                <a:latin typeface="Times New Roman" panose="02020603050405020304" pitchFamily="18" charset="0"/>
                <a:cs typeface="Times New Roman" panose="02020603050405020304" pitchFamily="18" charset="0"/>
              </a:rPr>
              <a:t>PROPOSED   METHODOLOGY </a:t>
            </a:r>
          </a:p>
        </p:txBody>
      </p:sp>
      <p:sp>
        <p:nvSpPr>
          <p:cNvPr id="3" name="Content Placeholder 2">
            <a:extLst>
              <a:ext uri="{FF2B5EF4-FFF2-40B4-BE49-F238E27FC236}">
                <a16:creationId xmlns:a16="http://schemas.microsoft.com/office/drawing/2014/main" id="{D36BFFC9-05CA-B36B-3EB0-0A19CC426B64}"/>
              </a:ext>
            </a:extLst>
          </p:cNvPr>
          <p:cNvSpPr>
            <a:spLocks noGrp="1"/>
          </p:cNvSpPr>
          <p:nvPr>
            <p:ph idx="1"/>
          </p:nvPr>
        </p:nvSpPr>
        <p:spPr>
          <a:xfrm>
            <a:off x="838200" y="2591836"/>
            <a:ext cx="10515600" cy="3970710"/>
          </a:xfrm>
        </p:spPr>
        <p:txBody>
          <a:bodyPr>
            <a:noAutofit/>
          </a:bodyPr>
          <a:lstStyle/>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Application &amp; Development Tools</a:t>
            </a:r>
          </a:p>
          <a:p>
            <a:pPr lvl="1"/>
            <a:r>
              <a:rPr lang="en-IN" sz="2800" b="1" dirty="0">
                <a:latin typeface="Times New Roman" panose="02020603050405020304" pitchFamily="18" charset="0"/>
                <a:cs typeface="Times New Roman" panose="02020603050405020304" pitchFamily="18" charset="0"/>
              </a:rPr>
              <a:t>Backend:</a:t>
            </a:r>
            <a:r>
              <a:rPr lang="en-IN" sz="2800" dirty="0">
                <a:latin typeface="Times New Roman" panose="02020603050405020304" pitchFamily="18" charset="0"/>
                <a:cs typeface="Times New Roman" panose="02020603050405020304" pitchFamily="18" charset="0"/>
              </a:rPr>
              <a:t> Django or Flask</a:t>
            </a:r>
          </a:p>
          <a:p>
            <a:pPr lvl="1"/>
            <a:r>
              <a:rPr lang="en-IN" sz="2800" b="1" dirty="0">
                <a:latin typeface="Times New Roman" panose="02020603050405020304" pitchFamily="18" charset="0"/>
                <a:cs typeface="Times New Roman" panose="02020603050405020304" pitchFamily="18" charset="0"/>
              </a:rPr>
              <a:t>Frontend:</a:t>
            </a:r>
            <a:r>
              <a:rPr lang="en-IN" sz="2800" dirty="0">
                <a:latin typeface="Times New Roman" panose="02020603050405020304" pitchFamily="18" charset="0"/>
                <a:cs typeface="Times New Roman" panose="02020603050405020304" pitchFamily="18" charset="0"/>
              </a:rPr>
              <a:t> React or Vue.js</a:t>
            </a:r>
          </a:p>
          <a:p>
            <a:pPr lvl="1"/>
            <a:r>
              <a:rPr lang="en-IN" sz="2800" b="1" dirty="0">
                <a:latin typeface="Times New Roman" panose="02020603050405020304" pitchFamily="18" charset="0"/>
                <a:cs typeface="Times New Roman" panose="02020603050405020304" pitchFamily="18" charset="0"/>
              </a:rPr>
              <a:t>IDE &amp; Notebooks:</a:t>
            </a:r>
            <a:r>
              <a:rPr lang="en-IN" sz="2800" dirty="0">
                <a:latin typeface="Times New Roman" panose="02020603050405020304" pitchFamily="18" charset="0"/>
                <a:cs typeface="Times New Roman" panose="02020603050405020304" pitchFamily="18" charset="0"/>
              </a:rPr>
              <a:t> VS Code, </a:t>
            </a:r>
            <a:r>
              <a:rPr lang="en-IN" sz="2800" dirty="0" err="1">
                <a:latin typeface="Times New Roman" panose="02020603050405020304" pitchFamily="18" charset="0"/>
                <a:cs typeface="Times New Roman" panose="02020603050405020304" pitchFamily="18" charset="0"/>
              </a:rPr>
              <a:t>Jupyter</a:t>
            </a:r>
            <a:r>
              <a:rPr lang="en-IN" sz="2800" dirty="0">
                <a:latin typeface="Times New Roman" panose="02020603050405020304" pitchFamily="18" charset="0"/>
                <a:cs typeface="Times New Roman" panose="02020603050405020304" pitchFamily="18" charset="0"/>
              </a:rPr>
              <a:t>, Google </a:t>
            </a:r>
            <a:r>
              <a:rPr lang="en-IN" sz="2800" dirty="0" err="1">
                <a:latin typeface="Times New Roman" panose="02020603050405020304" pitchFamily="18" charset="0"/>
                <a:cs typeface="Times New Roman" panose="02020603050405020304" pitchFamily="18" charset="0"/>
              </a:rPr>
              <a:t>Colab</a:t>
            </a:r>
            <a:endParaRPr lang="en-IN" sz="2800" dirty="0">
              <a:latin typeface="Times New Roman" panose="02020603050405020304" pitchFamily="18" charset="0"/>
              <a:cs typeface="Times New Roman" panose="02020603050405020304" pitchFamily="18" charset="0"/>
            </a:endParaRPr>
          </a:p>
          <a:p>
            <a:pPr lvl="1"/>
            <a:r>
              <a:rPr lang="en-IN" sz="2800" b="1" dirty="0">
                <a:latin typeface="Times New Roman" panose="02020603050405020304" pitchFamily="18" charset="0"/>
                <a:cs typeface="Times New Roman" panose="02020603050405020304" pitchFamily="18" charset="0"/>
              </a:rPr>
              <a:t>Version Control:</a:t>
            </a:r>
            <a:r>
              <a:rPr lang="en-IN" sz="2800" dirty="0">
                <a:latin typeface="Times New Roman" panose="02020603050405020304" pitchFamily="18" charset="0"/>
                <a:cs typeface="Times New Roman" panose="02020603050405020304" pitchFamily="18" charset="0"/>
              </a:rPr>
              <a:t> Git / GitHub</a:t>
            </a:r>
          </a:p>
        </p:txBody>
      </p:sp>
      <p:sp>
        <p:nvSpPr>
          <p:cNvPr id="5" name="Slide Number Placeholder 4">
            <a:extLst>
              <a:ext uri="{FF2B5EF4-FFF2-40B4-BE49-F238E27FC236}">
                <a16:creationId xmlns:a16="http://schemas.microsoft.com/office/drawing/2014/main" id="{DF2B1FAB-B717-F60C-A30B-FF47300A323C}"/>
              </a:ext>
            </a:extLst>
          </p:cNvPr>
          <p:cNvSpPr>
            <a:spLocks noGrp="1"/>
          </p:cNvSpPr>
          <p:nvPr>
            <p:ph type="sldNum" sz="quarter" idx="12"/>
          </p:nvPr>
        </p:nvSpPr>
        <p:spPr>
          <a:xfrm>
            <a:off x="8610600" y="6562546"/>
            <a:ext cx="2743200" cy="349250"/>
          </a:xfrm>
        </p:spPr>
        <p:txBody>
          <a:bodyPr/>
          <a:lstStyle/>
          <a:p>
            <a:fld id="{F09AFC8B-2B39-4FD9-BC35-C243DBCAD3D3}" type="slidenum">
              <a:rPr lang="en-IN" smtClean="0"/>
              <a:t>25</a:t>
            </a:fld>
            <a:endParaRPr lang="en-IN" dirty="0"/>
          </a:p>
        </p:txBody>
      </p:sp>
      <p:pic>
        <p:nvPicPr>
          <p:cNvPr id="7" name="Picture 6">
            <a:extLst>
              <a:ext uri="{FF2B5EF4-FFF2-40B4-BE49-F238E27FC236}">
                <a16:creationId xmlns:a16="http://schemas.microsoft.com/office/drawing/2014/main" id="{EDD9D4C5-5D5B-545A-924A-D11F6F64786F}"/>
              </a:ext>
            </a:extLst>
          </p:cNvPr>
          <p:cNvPicPr>
            <a:picLocks noChangeAspect="1"/>
          </p:cNvPicPr>
          <p:nvPr/>
        </p:nvPicPr>
        <p:blipFill>
          <a:blip r:embed="rId2"/>
          <a:stretch>
            <a:fillRect/>
          </a:stretch>
        </p:blipFill>
        <p:spPr>
          <a:xfrm>
            <a:off x="10175264" y="92908"/>
            <a:ext cx="1178536" cy="829955"/>
          </a:xfrm>
          <a:prstGeom prst="rect">
            <a:avLst/>
          </a:prstGeom>
        </p:spPr>
      </p:pic>
      <p:pic>
        <p:nvPicPr>
          <p:cNvPr id="9" name="Picture 8">
            <a:extLst>
              <a:ext uri="{FF2B5EF4-FFF2-40B4-BE49-F238E27FC236}">
                <a16:creationId xmlns:a16="http://schemas.microsoft.com/office/drawing/2014/main" id="{FEE98380-A461-66EC-854F-350BE0B6B2E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4" name="Footer Placeholder 3">
            <a:extLst>
              <a:ext uri="{FF2B5EF4-FFF2-40B4-BE49-F238E27FC236}">
                <a16:creationId xmlns:a16="http://schemas.microsoft.com/office/drawing/2014/main" id="{B71F3CED-100C-ECDA-5D30-7928E2C3CDE4}"/>
              </a:ext>
            </a:extLst>
          </p:cNvPr>
          <p:cNvSpPr>
            <a:spLocks noGrp="1"/>
          </p:cNvSpPr>
          <p:nvPr>
            <p:ph type="ftr" sz="quarter" idx="11"/>
          </p:nvPr>
        </p:nvSpPr>
        <p:spPr/>
        <p:txBody>
          <a:bodyPr/>
          <a:lstStyle/>
          <a:p>
            <a:r>
              <a:rPr lang="en-US" dirty="0"/>
              <a:t>AI-powered Interview Assessment Tool</a:t>
            </a:r>
            <a:endParaRPr lang="en-IN" dirty="0"/>
          </a:p>
        </p:txBody>
      </p:sp>
    </p:spTree>
    <p:extLst>
      <p:ext uri="{BB962C8B-B14F-4D97-AF65-F5344CB8AC3E}">
        <p14:creationId xmlns:p14="http://schemas.microsoft.com/office/powerpoint/2010/main" val="6727529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AB07D01-C55D-48BB-8D5D-F5CE31036138}"/>
              </a:ext>
            </a:extLst>
          </p:cNvPr>
          <p:cNvSpPr>
            <a:spLocks noGrp="1"/>
          </p:cNvSpPr>
          <p:nvPr>
            <p:ph type="sldNum" sz="quarter" idx="12"/>
          </p:nvPr>
        </p:nvSpPr>
        <p:spPr/>
        <p:txBody>
          <a:bodyPr/>
          <a:lstStyle/>
          <a:p>
            <a:fld id="{F09AFC8B-2B39-4FD9-BC35-C243DBCAD3D3}" type="slidenum">
              <a:rPr lang="en-IN" smtClean="0"/>
              <a:t>26</a:t>
            </a:fld>
            <a:endParaRPr lang="en-IN"/>
          </a:p>
        </p:txBody>
      </p:sp>
      <p:pic>
        <p:nvPicPr>
          <p:cNvPr id="7" name="Picture 6">
            <a:extLst>
              <a:ext uri="{FF2B5EF4-FFF2-40B4-BE49-F238E27FC236}">
                <a16:creationId xmlns:a16="http://schemas.microsoft.com/office/drawing/2014/main" id="{4E3D6339-25D1-0216-FC44-70AF8B26D35D}"/>
              </a:ext>
            </a:extLst>
          </p:cNvPr>
          <p:cNvPicPr>
            <a:picLocks noChangeAspect="1"/>
          </p:cNvPicPr>
          <p:nvPr/>
        </p:nvPicPr>
        <p:blipFill>
          <a:blip r:embed="rId2"/>
          <a:stretch>
            <a:fillRect/>
          </a:stretch>
        </p:blipFill>
        <p:spPr>
          <a:xfrm>
            <a:off x="5489314" y="75564"/>
            <a:ext cx="1178536" cy="829955"/>
          </a:xfrm>
          <a:prstGeom prst="rect">
            <a:avLst/>
          </a:prstGeom>
        </p:spPr>
      </p:pic>
      <p:sp>
        <p:nvSpPr>
          <p:cNvPr id="10" name="TextBox 9">
            <a:extLst>
              <a:ext uri="{FF2B5EF4-FFF2-40B4-BE49-F238E27FC236}">
                <a16:creationId xmlns:a16="http://schemas.microsoft.com/office/drawing/2014/main" id="{44492D2C-DBA8-39D4-F84B-3F7024473F0C}"/>
              </a:ext>
            </a:extLst>
          </p:cNvPr>
          <p:cNvSpPr txBox="1"/>
          <p:nvPr/>
        </p:nvSpPr>
        <p:spPr>
          <a:xfrm>
            <a:off x="4955176" y="3053231"/>
            <a:ext cx="2246812"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  Thank You</a:t>
            </a:r>
            <a:endParaRPr lang="en-IN" sz="3200" dirty="0">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BDB7371F-41DF-EBBC-0E3E-14CA48B2B319}"/>
              </a:ext>
            </a:extLst>
          </p:cNvPr>
          <p:cNvSpPr>
            <a:spLocks noGrp="1"/>
          </p:cNvSpPr>
          <p:nvPr>
            <p:ph type="ftr" sz="quarter" idx="11"/>
          </p:nvPr>
        </p:nvSpPr>
        <p:spPr/>
        <p:txBody>
          <a:bodyPr/>
          <a:lstStyle/>
          <a:p>
            <a:endParaRPr lang="en-IN" dirty="0"/>
          </a:p>
        </p:txBody>
      </p:sp>
    </p:spTree>
    <p:extLst>
      <p:ext uri="{BB962C8B-B14F-4D97-AF65-F5344CB8AC3E}">
        <p14:creationId xmlns:p14="http://schemas.microsoft.com/office/powerpoint/2010/main" val="25297927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24272-8044-268B-5973-C20B767B61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AF37F0-41F7-D157-33A5-EA3C30D9526E}"/>
              </a:ext>
            </a:extLst>
          </p:cNvPr>
          <p:cNvSpPr>
            <a:spLocks noGrp="1"/>
          </p:cNvSpPr>
          <p:nvPr>
            <p:ph type="title"/>
          </p:nvPr>
        </p:nvSpPr>
        <p:spPr>
          <a:xfrm>
            <a:off x="838200" y="1012557"/>
            <a:ext cx="10515600" cy="633681"/>
          </a:xfrm>
          <a:solidFill>
            <a:srgbClr val="C00000"/>
          </a:solidFill>
        </p:spPr>
        <p:txBody>
          <a:bodyPr>
            <a:normAutofit fontScale="90000"/>
          </a:bodyPr>
          <a:lstStyle/>
          <a:p>
            <a:r>
              <a:rPr lang="en-IN" b="1" dirty="0">
                <a:solidFill>
                  <a:srgbClr val="FFCC00"/>
                </a:solidFill>
              </a:rPr>
              <a:t>Implementation/Work done so far</a:t>
            </a:r>
          </a:p>
        </p:txBody>
      </p:sp>
      <p:sp>
        <p:nvSpPr>
          <p:cNvPr id="5" name="Slide Number Placeholder 4">
            <a:extLst>
              <a:ext uri="{FF2B5EF4-FFF2-40B4-BE49-F238E27FC236}">
                <a16:creationId xmlns:a16="http://schemas.microsoft.com/office/drawing/2014/main" id="{B057A836-D667-7B13-3564-33990995DFA2}"/>
              </a:ext>
            </a:extLst>
          </p:cNvPr>
          <p:cNvSpPr>
            <a:spLocks noGrp="1"/>
          </p:cNvSpPr>
          <p:nvPr>
            <p:ph type="sldNum" sz="quarter" idx="12"/>
          </p:nvPr>
        </p:nvSpPr>
        <p:spPr>
          <a:xfrm>
            <a:off x="8610600" y="6562546"/>
            <a:ext cx="2743200" cy="349250"/>
          </a:xfrm>
        </p:spPr>
        <p:txBody>
          <a:bodyPr/>
          <a:lstStyle/>
          <a:p>
            <a:fld id="{F09AFC8B-2B39-4FD9-BC35-C243DBCAD3D3}" type="slidenum">
              <a:rPr lang="en-IN" smtClean="0"/>
              <a:t>27</a:t>
            </a:fld>
            <a:endParaRPr lang="en-IN" dirty="0"/>
          </a:p>
        </p:txBody>
      </p:sp>
      <p:pic>
        <p:nvPicPr>
          <p:cNvPr id="7" name="Picture 6">
            <a:extLst>
              <a:ext uri="{FF2B5EF4-FFF2-40B4-BE49-F238E27FC236}">
                <a16:creationId xmlns:a16="http://schemas.microsoft.com/office/drawing/2014/main" id="{F2A73F14-915C-4682-5BB0-4FA11DC69B90}"/>
              </a:ext>
            </a:extLst>
          </p:cNvPr>
          <p:cNvPicPr>
            <a:picLocks noChangeAspect="1"/>
          </p:cNvPicPr>
          <p:nvPr/>
        </p:nvPicPr>
        <p:blipFill>
          <a:blip r:embed="rId2"/>
          <a:stretch>
            <a:fillRect/>
          </a:stretch>
        </p:blipFill>
        <p:spPr>
          <a:xfrm>
            <a:off x="10175264" y="92908"/>
            <a:ext cx="1178536" cy="829955"/>
          </a:xfrm>
          <a:prstGeom prst="rect">
            <a:avLst/>
          </a:prstGeom>
        </p:spPr>
      </p:pic>
      <p:pic>
        <p:nvPicPr>
          <p:cNvPr id="9" name="Picture 8">
            <a:extLst>
              <a:ext uri="{FF2B5EF4-FFF2-40B4-BE49-F238E27FC236}">
                <a16:creationId xmlns:a16="http://schemas.microsoft.com/office/drawing/2014/main" id="{563FCA99-02C5-74C2-ECB5-13595B1E022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6" name="Footer Placeholder 5">
            <a:extLst>
              <a:ext uri="{FF2B5EF4-FFF2-40B4-BE49-F238E27FC236}">
                <a16:creationId xmlns:a16="http://schemas.microsoft.com/office/drawing/2014/main" id="{2AA12DAE-0142-2039-F99F-DC334B8A449F}"/>
              </a:ext>
            </a:extLst>
          </p:cNvPr>
          <p:cNvSpPr>
            <a:spLocks noGrp="1"/>
          </p:cNvSpPr>
          <p:nvPr>
            <p:ph type="ftr" sz="quarter" idx="11"/>
          </p:nvPr>
        </p:nvSpPr>
        <p:spPr/>
        <p:txBody>
          <a:bodyPr/>
          <a:lstStyle/>
          <a:p>
            <a:endParaRPr lang="en-IN" dirty="0"/>
          </a:p>
        </p:txBody>
      </p:sp>
    </p:spTree>
    <p:extLst>
      <p:ext uri="{BB962C8B-B14F-4D97-AF65-F5344CB8AC3E}">
        <p14:creationId xmlns:p14="http://schemas.microsoft.com/office/powerpoint/2010/main" val="26019175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24272-8044-268B-5973-C20B767B61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AF37F0-41F7-D157-33A5-EA3C30D9526E}"/>
              </a:ext>
            </a:extLst>
          </p:cNvPr>
          <p:cNvSpPr>
            <a:spLocks noGrp="1"/>
          </p:cNvSpPr>
          <p:nvPr>
            <p:ph type="title"/>
          </p:nvPr>
        </p:nvSpPr>
        <p:spPr>
          <a:xfrm>
            <a:off x="838200" y="1012557"/>
            <a:ext cx="10515600" cy="633681"/>
          </a:xfrm>
          <a:solidFill>
            <a:srgbClr val="C00000"/>
          </a:solidFill>
        </p:spPr>
        <p:txBody>
          <a:bodyPr>
            <a:normAutofit fontScale="90000"/>
          </a:bodyPr>
          <a:lstStyle/>
          <a:p>
            <a:r>
              <a:rPr lang="en-IN" b="1" dirty="0">
                <a:solidFill>
                  <a:srgbClr val="FFCC00"/>
                </a:solidFill>
              </a:rPr>
              <a:t>Results and Discussion</a:t>
            </a:r>
          </a:p>
        </p:txBody>
      </p:sp>
      <p:sp>
        <p:nvSpPr>
          <p:cNvPr id="5" name="Slide Number Placeholder 4">
            <a:extLst>
              <a:ext uri="{FF2B5EF4-FFF2-40B4-BE49-F238E27FC236}">
                <a16:creationId xmlns:a16="http://schemas.microsoft.com/office/drawing/2014/main" id="{B057A836-D667-7B13-3564-33990995DFA2}"/>
              </a:ext>
            </a:extLst>
          </p:cNvPr>
          <p:cNvSpPr>
            <a:spLocks noGrp="1"/>
          </p:cNvSpPr>
          <p:nvPr>
            <p:ph type="sldNum" sz="quarter" idx="12"/>
          </p:nvPr>
        </p:nvSpPr>
        <p:spPr>
          <a:xfrm>
            <a:off x="8610600" y="6562546"/>
            <a:ext cx="2743200" cy="34925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9AFC8B-2B39-4FD9-BC35-C243DBCAD3D3}"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F2A73F14-915C-4682-5BB0-4FA11DC69B90}"/>
              </a:ext>
            </a:extLst>
          </p:cNvPr>
          <p:cNvPicPr>
            <a:picLocks noChangeAspect="1"/>
          </p:cNvPicPr>
          <p:nvPr/>
        </p:nvPicPr>
        <p:blipFill>
          <a:blip r:embed="rId2"/>
          <a:stretch>
            <a:fillRect/>
          </a:stretch>
        </p:blipFill>
        <p:spPr>
          <a:xfrm>
            <a:off x="10175264" y="92908"/>
            <a:ext cx="1178536" cy="829955"/>
          </a:xfrm>
          <a:prstGeom prst="rect">
            <a:avLst/>
          </a:prstGeom>
        </p:spPr>
      </p:pic>
      <p:pic>
        <p:nvPicPr>
          <p:cNvPr id="9" name="Picture 8">
            <a:extLst>
              <a:ext uri="{FF2B5EF4-FFF2-40B4-BE49-F238E27FC236}">
                <a16:creationId xmlns:a16="http://schemas.microsoft.com/office/drawing/2014/main" id="{563FCA99-02C5-74C2-ECB5-13595B1E022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6" name="Footer Placeholder 5">
            <a:extLst>
              <a:ext uri="{FF2B5EF4-FFF2-40B4-BE49-F238E27FC236}">
                <a16:creationId xmlns:a16="http://schemas.microsoft.com/office/drawing/2014/main" id="{2AA12DAE-0142-2039-F99F-DC334B8A449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40940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24272-8044-268B-5973-C20B767B61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AF37F0-41F7-D157-33A5-EA3C30D9526E}"/>
              </a:ext>
            </a:extLst>
          </p:cNvPr>
          <p:cNvSpPr>
            <a:spLocks noGrp="1"/>
          </p:cNvSpPr>
          <p:nvPr>
            <p:ph type="title"/>
          </p:nvPr>
        </p:nvSpPr>
        <p:spPr>
          <a:xfrm>
            <a:off x="838200" y="1012557"/>
            <a:ext cx="10515600" cy="633681"/>
          </a:xfrm>
          <a:solidFill>
            <a:srgbClr val="C00000"/>
          </a:solidFill>
        </p:spPr>
        <p:txBody>
          <a:bodyPr>
            <a:normAutofit fontScale="90000"/>
          </a:bodyPr>
          <a:lstStyle/>
          <a:p>
            <a:r>
              <a:rPr lang="en-IN" b="1" dirty="0">
                <a:solidFill>
                  <a:srgbClr val="FFCC00"/>
                </a:solidFill>
              </a:rPr>
              <a:t>CONCLUSION</a:t>
            </a:r>
          </a:p>
        </p:txBody>
      </p:sp>
      <p:sp>
        <p:nvSpPr>
          <p:cNvPr id="5" name="Slide Number Placeholder 4">
            <a:extLst>
              <a:ext uri="{FF2B5EF4-FFF2-40B4-BE49-F238E27FC236}">
                <a16:creationId xmlns:a16="http://schemas.microsoft.com/office/drawing/2014/main" id="{B057A836-D667-7B13-3564-33990995DFA2}"/>
              </a:ext>
            </a:extLst>
          </p:cNvPr>
          <p:cNvSpPr>
            <a:spLocks noGrp="1"/>
          </p:cNvSpPr>
          <p:nvPr>
            <p:ph type="sldNum" sz="quarter" idx="12"/>
          </p:nvPr>
        </p:nvSpPr>
        <p:spPr>
          <a:xfrm>
            <a:off x="8610600" y="6562546"/>
            <a:ext cx="2743200" cy="349250"/>
          </a:xfrm>
        </p:spPr>
        <p:txBody>
          <a:bodyPr/>
          <a:lstStyle/>
          <a:p>
            <a:fld id="{F09AFC8B-2B39-4FD9-BC35-C243DBCAD3D3}" type="slidenum">
              <a:rPr lang="en-IN" smtClean="0"/>
              <a:t>29</a:t>
            </a:fld>
            <a:endParaRPr lang="en-IN" dirty="0"/>
          </a:p>
        </p:txBody>
      </p:sp>
      <p:pic>
        <p:nvPicPr>
          <p:cNvPr id="7" name="Picture 6">
            <a:extLst>
              <a:ext uri="{FF2B5EF4-FFF2-40B4-BE49-F238E27FC236}">
                <a16:creationId xmlns:a16="http://schemas.microsoft.com/office/drawing/2014/main" id="{F2A73F14-915C-4682-5BB0-4FA11DC69B90}"/>
              </a:ext>
            </a:extLst>
          </p:cNvPr>
          <p:cNvPicPr>
            <a:picLocks noChangeAspect="1"/>
          </p:cNvPicPr>
          <p:nvPr/>
        </p:nvPicPr>
        <p:blipFill>
          <a:blip r:embed="rId2"/>
          <a:stretch>
            <a:fillRect/>
          </a:stretch>
        </p:blipFill>
        <p:spPr>
          <a:xfrm>
            <a:off x="10175264" y="92908"/>
            <a:ext cx="1178536" cy="829955"/>
          </a:xfrm>
          <a:prstGeom prst="rect">
            <a:avLst/>
          </a:prstGeom>
        </p:spPr>
      </p:pic>
      <p:pic>
        <p:nvPicPr>
          <p:cNvPr id="9" name="Picture 8">
            <a:extLst>
              <a:ext uri="{FF2B5EF4-FFF2-40B4-BE49-F238E27FC236}">
                <a16:creationId xmlns:a16="http://schemas.microsoft.com/office/drawing/2014/main" id="{563FCA99-02C5-74C2-ECB5-13595B1E022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6" name="Footer Placeholder 5">
            <a:extLst>
              <a:ext uri="{FF2B5EF4-FFF2-40B4-BE49-F238E27FC236}">
                <a16:creationId xmlns:a16="http://schemas.microsoft.com/office/drawing/2014/main" id="{2AA12DAE-0142-2039-F99F-DC334B8A449F}"/>
              </a:ext>
            </a:extLst>
          </p:cNvPr>
          <p:cNvSpPr>
            <a:spLocks noGrp="1"/>
          </p:cNvSpPr>
          <p:nvPr>
            <p:ph type="ftr" sz="quarter" idx="11"/>
          </p:nvPr>
        </p:nvSpPr>
        <p:spPr/>
        <p:txBody>
          <a:bodyPr/>
          <a:lstStyle/>
          <a:p>
            <a:endParaRPr lang="en-IN" dirty="0"/>
          </a:p>
        </p:txBody>
      </p:sp>
    </p:spTree>
    <p:extLst>
      <p:ext uri="{BB962C8B-B14F-4D97-AF65-F5344CB8AC3E}">
        <p14:creationId xmlns:p14="http://schemas.microsoft.com/office/powerpoint/2010/main" val="6719924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6AD7A-3685-D8E0-850C-81F34A11A731}"/>
              </a:ext>
            </a:extLst>
          </p:cNvPr>
          <p:cNvSpPr>
            <a:spLocks noGrp="1"/>
          </p:cNvSpPr>
          <p:nvPr>
            <p:ph type="title"/>
          </p:nvPr>
        </p:nvSpPr>
        <p:spPr>
          <a:xfrm>
            <a:off x="838200" y="1012557"/>
            <a:ext cx="10515600" cy="633681"/>
          </a:xfrm>
          <a:solidFill>
            <a:srgbClr val="C00000"/>
          </a:solidFill>
        </p:spPr>
        <p:txBody>
          <a:bodyPr>
            <a:normAutofit fontScale="90000"/>
          </a:bodyPr>
          <a:lstStyle/>
          <a:p>
            <a:r>
              <a:rPr lang="en-IN" b="1" dirty="0">
                <a:solidFill>
                  <a:srgbClr val="FFCC00"/>
                </a:solidFill>
              </a:rPr>
              <a:t>REFERENCES</a:t>
            </a:r>
          </a:p>
        </p:txBody>
      </p:sp>
      <p:sp>
        <p:nvSpPr>
          <p:cNvPr id="3" name="Content Placeholder 2">
            <a:extLst>
              <a:ext uri="{FF2B5EF4-FFF2-40B4-BE49-F238E27FC236}">
                <a16:creationId xmlns:a16="http://schemas.microsoft.com/office/drawing/2014/main" id="{8EA5CEC6-0CAD-CF94-AAF0-77AADFB82B9A}"/>
              </a:ext>
            </a:extLst>
          </p:cNvPr>
          <p:cNvSpPr>
            <a:spLocks noGrp="1"/>
          </p:cNvSpPr>
          <p:nvPr>
            <p:ph idx="1"/>
          </p:nvPr>
        </p:nvSpPr>
        <p:spPr>
          <a:xfrm>
            <a:off x="799699" y="1696525"/>
            <a:ext cx="10542967" cy="4132611"/>
          </a:xfrm>
        </p:spPr>
        <p:txBody>
          <a:bodyPr>
            <a:noAutofit/>
          </a:bodyPr>
          <a:lstStyle/>
          <a:p>
            <a:pPr marL="457200" indent="-457200" algn="just">
              <a:lnSpc>
                <a:spcPct val="100000"/>
              </a:lnSpc>
              <a:buNone/>
            </a:pPr>
            <a:r>
              <a:rPr lang="en-IN" sz="1800" dirty="0"/>
              <a:t>//sample</a:t>
            </a:r>
          </a:p>
          <a:p>
            <a:pPr marL="457200" indent="-457200" algn="just">
              <a:lnSpc>
                <a:spcPct val="100000"/>
              </a:lnSpc>
              <a:buNone/>
            </a:pPr>
            <a:r>
              <a:rPr lang="en-IN" sz="1800" dirty="0"/>
              <a:t>// site from google scholar -&gt;cite-&gt; choose  APA</a:t>
            </a:r>
          </a:p>
          <a:p>
            <a:pPr marL="457200" indent="-457200" algn="just">
              <a:lnSpc>
                <a:spcPct val="100000"/>
              </a:lnSpc>
              <a:buNone/>
            </a:pPr>
            <a:r>
              <a:rPr lang="en-IN" sz="1800" dirty="0"/>
              <a:t>[1] Dapeng Cheng, </a:t>
            </a:r>
            <a:r>
              <a:rPr lang="en-IN" sz="1800" dirty="0" err="1"/>
              <a:t>Xiaolian</a:t>
            </a:r>
            <a:r>
              <a:rPr lang="en-IN" sz="1800" dirty="0"/>
              <a:t> Gao, </a:t>
            </a:r>
            <a:r>
              <a:rPr lang="en-IN" sz="1800" dirty="0" err="1"/>
              <a:t>Yanyan</a:t>
            </a:r>
            <a:r>
              <a:rPr lang="en-IN" sz="1800" dirty="0"/>
              <a:t> Mao, </a:t>
            </a:r>
            <a:r>
              <a:rPr lang="en-IN" sz="1800" dirty="0" err="1"/>
              <a:t>Baozhen</a:t>
            </a:r>
            <a:r>
              <a:rPr lang="en-IN" sz="1800" dirty="0"/>
              <a:t> Xiao, </a:t>
            </a:r>
            <a:r>
              <a:rPr lang="en-IN" sz="1800" dirty="0" err="1"/>
              <a:t>Panlu</a:t>
            </a:r>
            <a:r>
              <a:rPr lang="en-IN" sz="1800" dirty="0"/>
              <a:t> You, </a:t>
            </a:r>
            <a:r>
              <a:rPr lang="en-IN" sz="1800" dirty="0" err="1"/>
              <a:t>Jiale</a:t>
            </a:r>
            <a:r>
              <a:rPr lang="en-IN" sz="1800" dirty="0"/>
              <a:t> Gai, </a:t>
            </a:r>
            <a:r>
              <a:rPr lang="en-IN" sz="1800" dirty="0" err="1"/>
              <a:t>Minghui</a:t>
            </a:r>
            <a:endParaRPr lang="en-IN" sz="1800" dirty="0"/>
          </a:p>
          <a:p>
            <a:pPr marL="457200" indent="-457200" algn="just">
              <a:lnSpc>
                <a:spcPct val="100000"/>
              </a:lnSpc>
              <a:buNone/>
            </a:pPr>
            <a:r>
              <a:rPr lang="en-IN" sz="1800" dirty="0"/>
              <a:t>Zhu, </a:t>
            </a:r>
            <a:r>
              <a:rPr lang="en-IN" sz="1800" dirty="0" err="1"/>
              <a:t>Jialong</a:t>
            </a:r>
            <a:r>
              <a:rPr lang="en-IN" sz="1800" dirty="0"/>
              <a:t> Kang, Feng Zhao, and Ning Mao. Brain </a:t>
            </a:r>
            <a:r>
              <a:rPr lang="en-IN" sz="1800" dirty="0" err="1"/>
              <a:t>tumor</a:t>
            </a:r>
            <a:r>
              <a:rPr lang="en-IN" sz="1800" dirty="0"/>
              <a:t> feature extraction and edge</a:t>
            </a:r>
          </a:p>
          <a:p>
            <a:pPr marL="457200" indent="-457200" algn="just">
              <a:lnSpc>
                <a:spcPct val="100000"/>
              </a:lnSpc>
              <a:buNone/>
            </a:pPr>
            <a:r>
              <a:rPr lang="en-IN" sz="1800" dirty="0"/>
              <a:t>enhancement algorithm based on u-net network. </a:t>
            </a:r>
            <a:r>
              <a:rPr lang="en-IN" sz="1800" dirty="0" err="1"/>
              <a:t>Heliyon</a:t>
            </a:r>
            <a:r>
              <a:rPr lang="en-IN" sz="1800" dirty="0"/>
              <a:t>, 9(11), 2023.</a:t>
            </a:r>
          </a:p>
          <a:p>
            <a:pPr marL="457200" indent="-457200" algn="just">
              <a:lnSpc>
                <a:spcPct val="100000"/>
              </a:lnSpc>
              <a:buNone/>
            </a:pPr>
            <a:r>
              <a:rPr lang="en-IN" sz="1800" dirty="0"/>
              <a:t>[2]</a:t>
            </a:r>
          </a:p>
        </p:txBody>
      </p:sp>
      <p:sp>
        <p:nvSpPr>
          <p:cNvPr id="5" name="Slide Number Placeholder 4">
            <a:extLst>
              <a:ext uri="{FF2B5EF4-FFF2-40B4-BE49-F238E27FC236}">
                <a16:creationId xmlns:a16="http://schemas.microsoft.com/office/drawing/2014/main" id="{3AB07D01-C55D-48BB-8D5D-F5CE31036138}"/>
              </a:ext>
            </a:extLst>
          </p:cNvPr>
          <p:cNvSpPr>
            <a:spLocks noGrp="1"/>
          </p:cNvSpPr>
          <p:nvPr>
            <p:ph type="sldNum" sz="quarter" idx="12"/>
          </p:nvPr>
        </p:nvSpPr>
        <p:spPr>
          <a:xfrm>
            <a:off x="8610600" y="6562546"/>
            <a:ext cx="2743200" cy="349250"/>
          </a:xfrm>
        </p:spPr>
        <p:txBody>
          <a:bodyPr/>
          <a:lstStyle/>
          <a:p>
            <a:fld id="{F09AFC8B-2B39-4FD9-BC35-C243DBCAD3D3}" type="slidenum">
              <a:rPr lang="en-IN" smtClean="0"/>
              <a:t>30</a:t>
            </a:fld>
            <a:endParaRPr lang="en-IN" dirty="0"/>
          </a:p>
        </p:txBody>
      </p:sp>
      <p:pic>
        <p:nvPicPr>
          <p:cNvPr id="7" name="Picture 6">
            <a:extLst>
              <a:ext uri="{FF2B5EF4-FFF2-40B4-BE49-F238E27FC236}">
                <a16:creationId xmlns:a16="http://schemas.microsoft.com/office/drawing/2014/main" id="{4E3D6339-25D1-0216-FC44-70AF8B26D35D}"/>
              </a:ext>
            </a:extLst>
          </p:cNvPr>
          <p:cNvPicPr>
            <a:picLocks noChangeAspect="1"/>
          </p:cNvPicPr>
          <p:nvPr/>
        </p:nvPicPr>
        <p:blipFill>
          <a:blip r:embed="rId2"/>
          <a:stretch>
            <a:fillRect/>
          </a:stretch>
        </p:blipFill>
        <p:spPr>
          <a:xfrm>
            <a:off x="10175264" y="92908"/>
            <a:ext cx="1178536" cy="829955"/>
          </a:xfrm>
          <a:prstGeom prst="rect">
            <a:avLst/>
          </a:prstGeom>
        </p:spPr>
      </p:pic>
      <p:pic>
        <p:nvPicPr>
          <p:cNvPr id="9" name="Picture 8">
            <a:extLst>
              <a:ext uri="{FF2B5EF4-FFF2-40B4-BE49-F238E27FC236}">
                <a16:creationId xmlns:a16="http://schemas.microsoft.com/office/drawing/2014/main" id="{AEFB537B-2717-824D-3855-5ED96349DC1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803" y="21367"/>
            <a:ext cx="2041200" cy="960565"/>
          </a:xfrm>
          <a:prstGeom prst="rect">
            <a:avLst/>
          </a:prstGeom>
        </p:spPr>
      </p:pic>
      <p:sp>
        <p:nvSpPr>
          <p:cNvPr id="6" name="Footer Placeholder 5">
            <a:extLst>
              <a:ext uri="{FF2B5EF4-FFF2-40B4-BE49-F238E27FC236}">
                <a16:creationId xmlns:a16="http://schemas.microsoft.com/office/drawing/2014/main" id="{47E7A0D1-7415-93DB-BC98-08D8776E7040}"/>
              </a:ext>
            </a:extLst>
          </p:cNvPr>
          <p:cNvSpPr>
            <a:spLocks noGrp="1"/>
          </p:cNvSpPr>
          <p:nvPr>
            <p:ph type="ftr" sz="quarter" idx="11"/>
          </p:nvPr>
        </p:nvSpPr>
        <p:spPr/>
        <p:txBody>
          <a:bodyPr/>
          <a:lstStyle/>
          <a:p>
            <a:endParaRPr lang="en-IN" dirty="0"/>
          </a:p>
        </p:txBody>
      </p:sp>
    </p:spTree>
    <p:extLst>
      <p:ext uri="{BB962C8B-B14F-4D97-AF65-F5344CB8AC3E}">
        <p14:creationId xmlns:p14="http://schemas.microsoft.com/office/powerpoint/2010/main" val="19066131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28185</TotalTime>
  <Words>1710</Words>
  <Application>Microsoft Office PowerPoint</Application>
  <PresentationFormat>Widescreen</PresentationFormat>
  <Paragraphs>239</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Calibri Light</vt:lpstr>
      <vt:lpstr>Times New Roman</vt:lpstr>
      <vt:lpstr>Wingdings</vt:lpstr>
      <vt:lpstr>Office Theme</vt:lpstr>
      <vt:lpstr>Title: AI-powered Interview Assessment Tool</vt:lpstr>
      <vt:lpstr>CONTENTS</vt:lpstr>
      <vt:lpstr>INTRODUCTION</vt:lpstr>
      <vt:lpstr>INTRODUCTION  </vt:lpstr>
      <vt:lpstr>LITERATURE SURVEY SUMMARY</vt:lpstr>
      <vt:lpstr>LITERATURE SURVEY SUMMARY</vt:lpstr>
      <vt:lpstr>GAPS IDENTIFIED</vt:lpstr>
      <vt:lpstr>PROBLEM STATEMENT &amp; OBJECTIVES</vt:lpstr>
      <vt:lpstr>PROPOSED   METHODOLOGY</vt:lpstr>
      <vt:lpstr>PROPOSED   METHODOLOGY </vt:lpstr>
      <vt:lpstr>PROPOSED   METHODOLOGY </vt:lpstr>
      <vt:lpstr>PROPOSED   METHODOLOGY </vt:lpstr>
      <vt:lpstr>PROPOSED   METHODOLOGY</vt:lpstr>
      <vt:lpstr>PROPOSED   METHODOLOGY</vt:lpstr>
      <vt:lpstr>PROPOSED   METHODOLOGY</vt:lpstr>
      <vt:lpstr>PROPOSED   METHODOLOGY</vt:lpstr>
      <vt:lpstr>PROPOSED   METHODOLOGY</vt:lpstr>
      <vt:lpstr>PROPOSED   METHODOLOGY</vt:lpstr>
      <vt:lpstr>PROPOSED   METHODOLOGY </vt:lpstr>
      <vt:lpstr>PROPOSED   METHODOLOGY </vt:lpstr>
      <vt:lpstr>PROPOSED   METHODOLOGY </vt:lpstr>
      <vt:lpstr>PROPOSED   METHODOLOGY </vt:lpstr>
      <vt:lpstr>PROPOSED   METHODOLOGY </vt:lpstr>
      <vt:lpstr>PROPOSED   METHODOLOGY </vt:lpstr>
      <vt:lpstr>PROPOSED   METHODOLOGY </vt:lpstr>
      <vt:lpstr>PowerPoint Presentation</vt:lpstr>
      <vt:lpstr>Implementation/Work done so far</vt:lpstr>
      <vt:lpstr>Results and Discussion</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Automated Sound Detection and Warning System Using Internet of Things</dc:title>
  <dc:creator>Pramod Mathew</dc:creator>
  <cp:lastModifiedBy>Rahul Sandesh</cp:lastModifiedBy>
  <cp:revision>761</cp:revision>
  <dcterms:created xsi:type="dcterms:W3CDTF">2022-05-25T15:39:41Z</dcterms:created>
  <dcterms:modified xsi:type="dcterms:W3CDTF">2025-10-22T09:37:23Z</dcterms:modified>
</cp:coreProperties>
</file>