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104" d="100"/>
          <a:sy n="104" d="100"/>
        </p:scale>
        <p:origin x="3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60CBC-C989-42F1-98DF-019E4DE35E0E}" type="datetimeFigureOut">
              <a:rPr lang="en-IN" smtClean="0"/>
              <a:t>07-08-2025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16CE1E-52CD-4C94-821F-0F968C86F9E8}" type="slidenum">
              <a:rPr lang="en-IN" smtClean="0"/>
              <a:t>‹#›</a:t>
            </a:fld>
            <a:endParaRPr lang="en-IN"/>
          </a:p>
        </p:txBody>
      </p:sp>
    </p:spTree>
    <p:extLst>
      <p:ext uri="{BB962C8B-B14F-4D97-AF65-F5344CB8AC3E}">
        <p14:creationId xmlns:p14="http://schemas.microsoft.com/office/powerpoint/2010/main" val="1704877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16CE1E-52CD-4C94-821F-0F968C86F9E8}" type="slidenum">
              <a:rPr lang="en-IN" smtClean="0"/>
              <a:t>10</a:t>
            </a:fld>
            <a:endParaRPr lang="en-IN"/>
          </a:p>
        </p:txBody>
      </p:sp>
    </p:spTree>
    <p:extLst>
      <p:ext uri="{BB962C8B-B14F-4D97-AF65-F5344CB8AC3E}">
        <p14:creationId xmlns:p14="http://schemas.microsoft.com/office/powerpoint/2010/main" val="1472358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479CB-DA1F-5339-1B99-B866AC3194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FEFAF0-9A2D-216E-598F-B81329A3D0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2C1B7C-86F9-5E5A-BED5-536A1FBF6178}"/>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0933CEB5-3D2A-3573-E94B-51E8893B1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320E-2755-FF45-0C4D-23A9E54195C7}"/>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500413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43F99-8682-A2A6-5283-DD87AC2907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BC5EF0-B90B-947A-D3C6-36089AF4D6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FDDE77-35D8-2A5C-5160-2B035A0D21E2}"/>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1A2A4155-B898-F5F8-CC0F-FCF0D56C46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CB1CA-8196-5364-C79E-7C4A746CA983}"/>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775408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6742-EF35-325D-AD37-9A3BA39D26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14CAEE-631A-E954-60CE-11BA2506F4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03B64C-39BF-F9C9-2961-D788ABCF321D}"/>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B38FE6BA-6187-082A-CFF6-BCA264DEC8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55AB48-AF23-3C5F-1754-8BEDCEE6292D}"/>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54884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F597-31C4-0170-BA3C-AF4111046F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87C63-E99C-2A89-5DB7-30D1D81F0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F1BF4A-7205-0723-28C1-2D069D3020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3BAA1E-D441-42F8-173C-98AC912AFD30}"/>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6" name="Footer Placeholder 5">
            <a:extLst>
              <a:ext uri="{FF2B5EF4-FFF2-40B4-BE49-F238E27FC236}">
                <a16:creationId xmlns:a16="http://schemas.microsoft.com/office/drawing/2014/main" id="{E5068868-190E-7748-9ADA-6399D0510B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37C940-1370-D017-8B50-41280ACC0DF2}"/>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183879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4078-6F60-B0C3-4E5C-8A1670B171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12E1FA-FA3F-14A7-E333-ED2315385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432DB5-2D68-AE6B-4279-150D3E4FC0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A016BF-CE9D-7D75-4613-466902163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13A730-104F-88B8-C357-FCA854F6B1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E37821-431D-B927-5410-02763031CF3E}"/>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8" name="Footer Placeholder 7">
            <a:extLst>
              <a:ext uri="{FF2B5EF4-FFF2-40B4-BE49-F238E27FC236}">
                <a16:creationId xmlns:a16="http://schemas.microsoft.com/office/drawing/2014/main" id="{31F8D322-3569-AFC3-BFB5-4C694ED572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729882-C526-AFCB-CEA3-C362F1D9C360}"/>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349964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675F2-7006-2CC8-71AF-10D8385BDB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D5D632-A5B3-B9CE-0907-73F5869219EE}"/>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4" name="Footer Placeholder 3">
            <a:extLst>
              <a:ext uri="{FF2B5EF4-FFF2-40B4-BE49-F238E27FC236}">
                <a16:creationId xmlns:a16="http://schemas.microsoft.com/office/drawing/2014/main" id="{499086E8-D5CF-40D2-18F8-03D090C4CC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F81B2B-B119-BBAB-817F-E9FF5B740335}"/>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734233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B14F1-51E8-E175-C6FC-65E949FD9839}"/>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3" name="Footer Placeholder 2">
            <a:extLst>
              <a:ext uri="{FF2B5EF4-FFF2-40B4-BE49-F238E27FC236}">
                <a16:creationId xmlns:a16="http://schemas.microsoft.com/office/drawing/2014/main" id="{F4A140F7-8D21-02FB-6683-367C8129CE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BC5F3B-C002-B8DC-EAB8-62D7260EC800}"/>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75995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167E-CAEF-CB33-BEE3-1997045A8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85F252-0497-E610-4AE3-89A31F6455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E1F3B5-8388-4D37-E5B8-4C212940C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39E96-CD2B-C0E7-31A1-4D16E146C7B0}"/>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6" name="Footer Placeholder 5">
            <a:extLst>
              <a:ext uri="{FF2B5EF4-FFF2-40B4-BE49-F238E27FC236}">
                <a16:creationId xmlns:a16="http://schemas.microsoft.com/office/drawing/2014/main" id="{0ED5F116-0956-FA00-12E9-A3F396E6E7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F8C83F-8387-B3F9-4797-8A3D55D0F056}"/>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452351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F3E2D-A527-FAB6-5451-C98256315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99E80D-416E-8B71-7C3D-B88F0FBBAF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EA06E7-C29B-E01F-C65A-E110837EB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84E8A-D030-1B4A-943C-27F3C1A86F00}"/>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6" name="Footer Placeholder 5">
            <a:extLst>
              <a:ext uri="{FF2B5EF4-FFF2-40B4-BE49-F238E27FC236}">
                <a16:creationId xmlns:a16="http://schemas.microsoft.com/office/drawing/2014/main" id="{39B7BC06-BCF5-D35D-5D48-14D4E8DC2B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547FF0-5EF9-E314-B34F-E554E98E0861}"/>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46183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1543-78C2-98E8-9703-6FD745B36F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A06A56-0795-2C26-9A4D-4A59999368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C5A942-0CD6-4932-9555-F655ACD3F457}"/>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F33433FF-1F6E-E1F3-30F4-0CB2749888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9DB5A-6ECD-7DA7-F005-AA7EE77DBA26}"/>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41840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EEF9-558B-090C-D165-D610FF6394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9C274B-6BD1-F306-D734-94EE74EC5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5D45E-CA2F-EFEE-8635-038B47915DA7}"/>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D44AC148-2A38-6672-B5C0-BDEDFBA74B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C45B4-779D-7B4F-0B15-A4C127B2139F}"/>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52596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21307-B7C6-E1BB-A47D-AF75369A6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281163-9079-5827-E193-957D7AAEA8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3CB83-A145-FDCA-201F-7431815E3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3DB86C83-8E31-DAFA-1A57-6EA224B1C0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7C48F7-282B-CE18-21BC-299E80F4A8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4A6F1-26C6-456D-B8ED-172D0398FE96}" type="slidenum">
              <a:rPr lang="en-IN" smtClean="0"/>
              <a:t>‹#›</a:t>
            </a:fld>
            <a:endParaRPr lang="en-IN"/>
          </a:p>
        </p:txBody>
      </p:sp>
    </p:spTree>
    <p:extLst>
      <p:ext uri="{BB962C8B-B14F-4D97-AF65-F5344CB8AC3E}">
        <p14:creationId xmlns:p14="http://schemas.microsoft.com/office/powerpoint/2010/main" val="681339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doi.org/10.3390/electronics13183756"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47EAA5E-61B0-A3AB-21DB-6D1FDFD345A6}"/>
              </a:ext>
            </a:extLst>
          </p:cNvPr>
          <p:cNvSpPr>
            <a:spLocks noGrp="1"/>
          </p:cNvSpPr>
          <p:nvPr>
            <p:ph type="subTitle" idx="1"/>
          </p:nvPr>
        </p:nvSpPr>
        <p:spPr>
          <a:xfrm>
            <a:off x="641268" y="2139192"/>
            <a:ext cx="11550731" cy="4718807"/>
          </a:xfrm>
        </p:spPr>
        <p:txBody>
          <a:bodyPr>
            <a:normAutofit/>
          </a:bodyPr>
          <a:lstStyle/>
          <a:p>
            <a:r>
              <a:rPr lang="en-IN" sz="4800" dirty="0">
                <a:solidFill>
                  <a:schemeClr val="accent1"/>
                </a:solidFill>
              </a:rPr>
              <a:t>AI-powered Interview Assessment Tool      </a:t>
            </a:r>
          </a:p>
          <a:p>
            <a:pPr algn="l"/>
            <a:r>
              <a:rPr lang="en-IN" sz="4000" dirty="0">
                <a:solidFill>
                  <a:schemeClr val="accent1"/>
                </a:solidFill>
              </a:rPr>
              <a:t>         </a:t>
            </a:r>
            <a:r>
              <a:rPr lang="en-IN" dirty="0">
                <a:solidFill>
                  <a:srgbClr val="FF0000"/>
                </a:solidFill>
              </a:rPr>
              <a:t>GUIDE NAME</a:t>
            </a:r>
            <a:r>
              <a:rPr lang="en-IN" sz="2600" dirty="0">
                <a:solidFill>
                  <a:srgbClr val="FF0000"/>
                </a:solidFill>
              </a:rPr>
              <a:t>:         </a:t>
            </a:r>
            <a:r>
              <a:rPr lang="en-IN" sz="2600" dirty="0">
                <a:solidFill>
                  <a:srgbClr val="002060"/>
                </a:solidFill>
              </a:rPr>
              <a:t>Ms Jeena George</a:t>
            </a:r>
          </a:p>
          <a:p>
            <a:pPr algn="l"/>
            <a:br>
              <a:rPr lang="en-IN" sz="2600" dirty="0">
                <a:solidFill>
                  <a:srgbClr val="FF0000"/>
                </a:solidFill>
              </a:rPr>
            </a:br>
            <a:r>
              <a:rPr lang="en-IN" dirty="0">
                <a:solidFill>
                  <a:srgbClr val="FF0000"/>
                </a:solidFill>
              </a:rPr>
              <a:t>               TEAM MEMBERS:   </a:t>
            </a:r>
            <a:r>
              <a:rPr lang="en-IN" dirty="0">
                <a:solidFill>
                  <a:schemeClr val="accent2"/>
                </a:solidFill>
              </a:rPr>
              <a:t>AMITH SAHADEVAN, PRC22CA006</a:t>
            </a:r>
          </a:p>
          <a:p>
            <a:pPr algn="l"/>
            <a:r>
              <a:rPr lang="en-IN" dirty="0">
                <a:solidFill>
                  <a:schemeClr val="accent2"/>
                </a:solidFill>
              </a:rPr>
              <a:t>                                                 RAHUL SANDESH, PRC22CA022</a:t>
            </a:r>
          </a:p>
          <a:p>
            <a:pPr algn="l"/>
            <a:r>
              <a:rPr lang="en-IN" dirty="0">
                <a:solidFill>
                  <a:schemeClr val="accent2"/>
                </a:solidFill>
              </a:rPr>
              <a:t>                                                 SHESNA S, PRC22CA025</a:t>
            </a:r>
          </a:p>
        </p:txBody>
      </p:sp>
      <p:pic>
        <p:nvPicPr>
          <p:cNvPr id="7" name="Google Shape;315;p1">
            <a:extLst>
              <a:ext uri="{FF2B5EF4-FFF2-40B4-BE49-F238E27FC236}">
                <a16:creationId xmlns:a16="http://schemas.microsoft.com/office/drawing/2014/main" id="{E3827C17-DA87-5EC3-F890-5DB4BC66F768}"/>
              </a:ext>
            </a:extLst>
          </p:cNvPr>
          <p:cNvPicPr preferRelativeResize="0"/>
          <p:nvPr/>
        </p:nvPicPr>
        <p:blipFill rotWithShape="1">
          <a:blip r:embed="rId2">
            <a:alphaModFix/>
          </a:blip>
          <a:srcRect/>
          <a:stretch/>
        </p:blipFill>
        <p:spPr>
          <a:xfrm>
            <a:off x="0" y="0"/>
            <a:ext cx="2028825" cy="1428750"/>
          </a:xfrm>
          <a:prstGeom prst="rect">
            <a:avLst/>
          </a:prstGeom>
          <a:noFill/>
          <a:ln>
            <a:noFill/>
          </a:ln>
        </p:spPr>
      </p:pic>
      <p:pic>
        <p:nvPicPr>
          <p:cNvPr id="8" name="Google Shape;317;p1">
            <a:extLst>
              <a:ext uri="{FF2B5EF4-FFF2-40B4-BE49-F238E27FC236}">
                <a16:creationId xmlns:a16="http://schemas.microsoft.com/office/drawing/2014/main" id="{2134147A-0480-A606-BD89-103875082770}"/>
              </a:ext>
            </a:extLst>
          </p:cNvPr>
          <p:cNvPicPr preferRelativeResize="0"/>
          <p:nvPr/>
        </p:nvPicPr>
        <p:blipFill rotWithShape="1">
          <a:blip r:embed="rId3">
            <a:alphaModFix/>
          </a:blip>
          <a:srcRect/>
          <a:stretch/>
        </p:blipFill>
        <p:spPr>
          <a:xfrm>
            <a:off x="8893228" y="0"/>
            <a:ext cx="3244494" cy="1528175"/>
          </a:xfrm>
          <a:prstGeom prst="rect">
            <a:avLst/>
          </a:prstGeom>
          <a:noFill/>
          <a:ln>
            <a:noFill/>
          </a:ln>
        </p:spPr>
      </p:pic>
      <p:sp>
        <p:nvSpPr>
          <p:cNvPr id="11" name="Google Shape;316;p1">
            <a:extLst>
              <a:ext uri="{FF2B5EF4-FFF2-40B4-BE49-F238E27FC236}">
                <a16:creationId xmlns:a16="http://schemas.microsoft.com/office/drawing/2014/main" id="{199D136E-EAD8-5756-0E4F-CB9D9C0DF11E}"/>
              </a:ext>
            </a:extLst>
          </p:cNvPr>
          <p:cNvSpPr txBox="1">
            <a:spLocks noGrp="1"/>
          </p:cNvSpPr>
          <p:nvPr>
            <p:ph type="ctrTitle"/>
          </p:nvPr>
        </p:nvSpPr>
        <p:spPr>
          <a:xfrm>
            <a:off x="0" y="1714501"/>
            <a:ext cx="12192000" cy="424691"/>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rgbClr val="FFCC00"/>
                </a:solidFill>
                <a:latin typeface="Times New Roman"/>
                <a:cs typeface="Times New Roman"/>
                <a:sym typeface="Times New Roman"/>
              </a:rPr>
              <a:t>PROJECT PHASE I</a:t>
            </a:r>
            <a:endParaRPr dirty="0"/>
          </a:p>
        </p:txBody>
      </p:sp>
    </p:spTree>
    <p:extLst>
      <p:ext uri="{BB962C8B-B14F-4D97-AF65-F5344CB8AC3E}">
        <p14:creationId xmlns:p14="http://schemas.microsoft.com/office/powerpoint/2010/main" val="2966071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5;p1">
            <a:extLst>
              <a:ext uri="{FF2B5EF4-FFF2-40B4-BE49-F238E27FC236}">
                <a16:creationId xmlns:a16="http://schemas.microsoft.com/office/drawing/2014/main" id="{D96A749D-236B-6CB4-583B-D480D6973526}"/>
              </a:ext>
            </a:extLst>
          </p:cNvPr>
          <p:cNvPicPr preferRelativeResize="0"/>
          <p:nvPr/>
        </p:nvPicPr>
        <p:blipFill rotWithShape="1">
          <a:blip r:embed="rId2">
            <a:alphaModFix/>
          </a:blip>
          <a:srcRect/>
          <a:stretch/>
        </p:blipFill>
        <p:spPr>
          <a:xfrm>
            <a:off x="0" y="50104"/>
            <a:ext cx="977029" cy="720639"/>
          </a:xfrm>
          <a:prstGeom prst="rect">
            <a:avLst/>
          </a:prstGeom>
          <a:noFill/>
          <a:ln>
            <a:noFill/>
          </a:ln>
        </p:spPr>
      </p:pic>
      <p:pic>
        <p:nvPicPr>
          <p:cNvPr id="5" name="Google Shape;317;p1">
            <a:extLst>
              <a:ext uri="{FF2B5EF4-FFF2-40B4-BE49-F238E27FC236}">
                <a16:creationId xmlns:a16="http://schemas.microsoft.com/office/drawing/2014/main" id="{1FBE81B4-4955-35B4-4D5B-CCF271FB2161}"/>
              </a:ext>
            </a:extLst>
          </p:cNvPr>
          <p:cNvPicPr preferRelativeResize="0"/>
          <p:nvPr/>
        </p:nvPicPr>
        <p:blipFill rotWithShape="1">
          <a:blip r:embed="rId3">
            <a:alphaModFix/>
          </a:blip>
          <a:srcRect/>
          <a:stretch/>
        </p:blipFill>
        <p:spPr>
          <a:xfrm>
            <a:off x="10615808" y="50104"/>
            <a:ext cx="1576192" cy="770351"/>
          </a:xfrm>
          <a:prstGeom prst="rect">
            <a:avLst/>
          </a:prstGeom>
          <a:noFill/>
          <a:ln>
            <a:noFill/>
          </a:ln>
        </p:spPr>
      </p:pic>
      <p:sp>
        <p:nvSpPr>
          <p:cNvPr id="6" name="Google Shape;322;p2">
            <a:extLst>
              <a:ext uri="{FF2B5EF4-FFF2-40B4-BE49-F238E27FC236}">
                <a16:creationId xmlns:a16="http://schemas.microsoft.com/office/drawing/2014/main" id="{E19089FE-D193-7D4C-2536-D9DAF369A843}"/>
              </a:ext>
            </a:extLst>
          </p:cNvPr>
          <p:cNvSpPr txBox="1">
            <a:spLocks noGrp="1"/>
          </p:cNvSpPr>
          <p:nvPr>
            <p:ph type="title"/>
          </p:nvPr>
        </p:nvSpPr>
        <p:spPr>
          <a:xfrm>
            <a:off x="838200" y="771525"/>
            <a:ext cx="10515600" cy="919163"/>
          </a:xfrm>
          <a:prstGeom prst="rect">
            <a:avLst/>
          </a:prstGeom>
          <a:solidFill>
            <a:srgbClr val="C0000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C00"/>
              </a:buClr>
              <a:buSzPct val="100000"/>
              <a:buFont typeface="Times New Roman"/>
              <a:buNone/>
            </a:pPr>
            <a:r>
              <a:rPr lang="en-IN" dirty="0">
                <a:solidFill>
                  <a:srgbClr val="FFCC00"/>
                </a:solidFill>
                <a:latin typeface="Times New Roman"/>
                <a:ea typeface="Times New Roman"/>
                <a:cs typeface="Times New Roman"/>
                <a:sym typeface="Times New Roman"/>
              </a:rPr>
              <a:t>Introduction</a:t>
            </a:r>
            <a:endParaRPr dirty="0"/>
          </a:p>
        </p:txBody>
      </p:sp>
      <p:sp>
        <p:nvSpPr>
          <p:cNvPr id="10" name="Rectangle 4">
            <a:extLst>
              <a:ext uri="{FF2B5EF4-FFF2-40B4-BE49-F238E27FC236}">
                <a16:creationId xmlns:a16="http://schemas.microsoft.com/office/drawing/2014/main" id="{4EBD2DC8-5809-772E-BDED-A4E2C314CB3C}"/>
              </a:ext>
            </a:extLst>
          </p:cNvPr>
          <p:cNvSpPr>
            <a:spLocks noGrp="1" noChangeArrowheads="1"/>
          </p:cNvSpPr>
          <p:nvPr>
            <p:ph idx="1"/>
          </p:nvPr>
        </p:nvSpPr>
        <p:spPr bwMode="auto">
          <a:xfrm>
            <a:off x="891112" y="1977402"/>
            <a:ext cx="1051559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Background:</a:t>
            </a:r>
            <a:r>
              <a:rPr kumimoji="0" lang="en-US" altLang="en-US" sz="1800" b="0" i="0" u="none" strike="noStrike" cap="none" normalizeH="0" baseline="0" dirty="0">
                <a:ln>
                  <a:noFill/>
                </a:ln>
                <a:solidFill>
                  <a:schemeClr val="tx1"/>
                </a:solidFill>
                <a:effectLst/>
                <a:latin typeface="Arial" panose="020B0604020202020204" pitchFamily="34" charset="0"/>
              </a:rPr>
              <a:t> The modern recruitment landscape presents significant challenges for companies. Hiring managers are faced with a high volume of applications for every open position, making the initial screening process both time-consuming and costly. Recognizing this gap, the Human Resources industry is increasingly turning to Artificial Intelligence to drive efficiency and gain a competitive edge.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Existing System:</a:t>
            </a:r>
            <a:r>
              <a:rPr kumimoji="0" lang="en-US" altLang="en-US" sz="1800" b="0" i="0" u="none" strike="noStrike" cap="none" normalizeH="0" baseline="0" dirty="0">
                <a:ln>
                  <a:noFill/>
                </a:ln>
                <a:solidFill>
                  <a:schemeClr val="tx1"/>
                </a:solidFill>
                <a:effectLst/>
                <a:latin typeface="Arial" panose="020B0604020202020204" pitchFamily="34" charset="0"/>
              </a:rPr>
              <a:t> Traditional methods, like resume reviews, can identify technical qualifications but fail to provide any insight into a candidate's crucial soft skills, communication abilities, and professional demeanor.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Concept:</a:t>
            </a:r>
            <a:r>
              <a:rPr kumimoji="0" lang="en-US" altLang="en-US" sz="1800" b="0" i="0" u="none" strike="noStrike" cap="none" normalizeH="0" baseline="0" dirty="0">
                <a:ln>
                  <a:noFill/>
                </a:ln>
                <a:solidFill>
                  <a:schemeClr val="tx1"/>
                </a:solidFill>
                <a:effectLst/>
                <a:latin typeface="Arial" panose="020B0604020202020204" pitchFamily="34" charset="0"/>
              </a:rPr>
              <a:t> This project positions itself at the forefront of this trend, aiming to create an intelligent tool that provides companies with a deep, objective analysis of a candidate's overall communication package. </a:t>
            </a:r>
          </a:p>
        </p:txBody>
      </p:sp>
    </p:spTree>
    <p:extLst>
      <p:ext uri="{BB962C8B-B14F-4D97-AF65-F5344CB8AC3E}">
        <p14:creationId xmlns:p14="http://schemas.microsoft.com/office/powerpoint/2010/main" val="572600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9B3C1-F317-7A64-850E-E4840CD0F2F1}"/>
              </a:ext>
            </a:extLst>
          </p:cNvPr>
          <p:cNvSpPr>
            <a:spLocks noGrp="1"/>
          </p:cNvSpPr>
          <p:nvPr>
            <p:ph idx="1"/>
          </p:nvPr>
        </p:nvSpPr>
        <p:spPr/>
        <p:txBody>
          <a:bodyPr>
            <a:normAutofit/>
          </a:bodyPr>
          <a:lstStyle/>
          <a:p>
            <a:r>
              <a:rPr lang="en-US" dirty="0"/>
              <a:t>The traditional interview process is time-consuming, subjective, and often inconsistent. Companies spend valuable resources on initial screenings, only to face inefficiencies caused by human bias, varying evaluation standards, and the influence of the interviewer’s mood. These factors can result in the rejection of capable candidates or the advancement of unsuitable ones. There is a clear need for an objective, automated system that fairly evaluates both verbal and non-verbal communication skills, helping streamline and standardize early-stage candidate assessments.</a:t>
            </a:r>
            <a:endParaRPr lang="en-IN" dirty="0"/>
          </a:p>
        </p:txBody>
      </p:sp>
      <p:pic>
        <p:nvPicPr>
          <p:cNvPr id="4" name="Google Shape;315;p1">
            <a:extLst>
              <a:ext uri="{FF2B5EF4-FFF2-40B4-BE49-F238E27FC236}">
                <a16:creationId xmlns:a16="http://schemas.microsoft.com/office/drawing/2014/main" id="{C44A1088-4307-8769-74F0-7AAB91BADE60}"/>
              </a:ext>
            </a:extLst>
          </p:cNvPr>
          <p:cNvPicPr preferRelativeResize="0"/>
          <p:nvPr/>
        </p:nvPicPr>
        <p:blipFill rotWithShape="1">
          <a:blip r:embed="rId2">
            <a:alphaModFix/>
          </a:blip>
          <a:srcRect/>
          <a:stretch/>
        </p:blipFill>
        <p:spPr>
          <a:xfrm>
            <a:off x="0" y="95868"/>
            <a:ext cx="977029" cy="720639"/>
          </a:xfrm>
          <a:prstGeom prst="rect">
            <a:avLst/>
          </a:prstGeom>
          <a:noFill/>
          <a:ln>
            <a:noFill/>
          </a:ln>
        </p:spPr>
      </p:pic>
      <p:pic>
        <p:nvPicPr>
          <p:cNvPr id="5" name="Google Shape;317;p1">
            <a:extLst>
              <a:ext uri="{FF2B5EF4-FFF2-40B4-BE49-F238E27FC236}">
                <a16:creationId xmlns:a16="http://schemas.microsoft.com/office/drawing/2014/main" id="{5120236C-4839-C0B1-56C4-C41B767752B4}"/>
              </a:ext>
            </a:extLst>
          </p:cNvPr>
          <p:cNvPicPr preferRelativeResize="0"/>
          <p:nvPr/>
        </p:nvPicPr>
        <p:blipFill rotWithShape="1">
          <a:blip r:embed="rId3">
            <a:alphaModFix/>
          </a:blip>
          <a:srcRect/>
          <a:stretch/>
        </p:blipFill>
        <p:spPr>
          <a:xfrm>
            <a:off x="10672174" y="50104"/>
            <a:ext cx="1519825" cy="630933"/>
          </a:xfrm>
          <a:prstGeom prst="rect">
            <a:avLst/>
          </a:prstGeom>
          <a:noFill/>
          <a:ln>
            <a:noFill/>
          </a:ln>
        </p:spPr>
      </p:pic>
      <p:sp>
        <p:nvSpPr>
          <p:cNvPr id="8" name="Google Shape;342;p4">
            <a:extLst>
              <a:ext uri="{FF2B5EF4-FFF2-40B4-BE49-F238E27FC236}">
                <a16:creationId xmlns:a16="http://schemas.microsoft.com/office/drawing/2014/main" id="{10A7E779-B0C8-0718-DE33-EB35FF9EFDAA}"/>
              </a:ext>
            </a:extLst>
          </p:cNvPr>
          <p:cNvSpPr txBox="1">
            <a:spLocks noGrp="1"/>
          </p:cNvSpPr>
          <p:nvPr>
            <p:ph type="title"/>
          </p:nvPr>
        </p:nvSpPr>
        <p:spPr>
          <a:xfrm>
            <a:off x="838201" y="951977"/>
            <a:ext cx="10515600" cy="848791"/>
          </a:xfrm>
          <a:prstGeom prst="rect">
            <a:avLst/>
          </a:prstGeom>
          <a:solidFill>
            <a:srgbClr val="C0000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C00"/>
              </a:buClr>
              <a:buSzPct val="100000"/>
              <a:buFont typeface="Times New Roman"/>
              <a:buNone/>
            </a:pPr>
            <a:r>
              <a:rPr lang="en-IN" dirty="0">
                <a:solidFill>
                  <a:srgbClr val="FFCC00"/>
                </a:solidFill>
                <a:latin typeface="Times New Roman"/>
                <a:ea typeface="Times New Roman"/>
                <a:cs typeface="Times New Roman"/>
                <a:sym typeface="Times New Roman"/>
              </a:rPr>
              <a:t>Problem Statement </a:t>
            </a:r>
            <a:endParaRPr dirty="0"/>
          </a:p>
        </p:txBody>
      </p:sp>
    </p:spTree>
    <p:extLst>
      <p:ext uri="{BB962C8B-B14F-4D97-AF65-F5344CB8AC3E}">
        <p14:creationId xmlns:p14="http://schemas.microsoft.com/office/powerpoint/2010/main" val="3618827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3432-E4FA-F814-E4C5-D3786875EFCB}"/>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C45EFDAC-9993-D7E5-4432-524F0284E52F}"/>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08A59B38-DF22-CA18-4E7C-E0D2570FE0B9}"/>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4D2A574B-D60D-7D8E-D8CF-7444650BC32D}"/>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Research Objectives of the Study</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6BFDA7F1-E1DF-8221-4EB4-BA49B75EA527}"/>
              </a:ext>
            </a:extLst>
          </p:cNvPr>
          <p:cNvSpPr>
            <a:spLocks noGrp="1" noChangeArrowheads="1"/>
          </p:cNvSpPr>
          <p:nvPr>
            <p:ph idx="1"/>
          </p:nvPr>
        </p:nvSpPr>
        <p:spPr bwMode="auto">
          <a:xfrm>
            <a:off x="838200" y="1876638"/>
            <a:ext cx="951165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Voice-Based Interviews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Verbal Response Analysis (NLP)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Non-Verbal &amp; Body Language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Vocal Tone &amp; Speech Pattern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&amp; Unbiased Feedback</a:t>
            </a:r>
          </a:p>
        </p:txBody>
      </p:sp>
    </p:spTree>
    <p:extLst>
      <p:ext uri="{BB962C8B-B14F-4D97-AF65-F5344CB8AC3E}">
        <p14:creationId xmlns:p14="http://schemas.microsoft.com/office/powerpoint/2010/main" val="233281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AFE6-8EE3-481F-96A4-8C87B400E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8F235-DAC2-A937-1D8A-4B50244A3542}"/>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A8C679CF-F73F-B345-3C16-58D3F630BDD3}"/>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F413EB6D-DF6B-02F0-13C4-5EDD1A6E69D4}"/>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FDA570D8-237D-C708-3979-1C8D8FDEE80B}"/>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Proposed Methodologies</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7CB66A70-D4F0-00DB-CB29-20443CAEC150}"/>
              </a:ext>
            </a:extLst>
          </p:cNvPr>
          <p:cNvSpPr>
            <a:spLocks noGrp="1" noChangeArrowheads="1"/>
          </p:cNvSpPr>
          <p:nvPr>
            <p:ph idx="1"/>
          </p:nvPr>
        </p:nvSpPr>
        <p:spPr bwMode="auto">
          <a:xfrm>
            <a:off x="838200" y="1903969"/>
            <a:ext cx="10932399" cy="174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t>Core Technologies: </a:t>
            </a:r>
          </a:p>
          <a:p>
            <a:pPr lvl="1"/>
            <a:r>
              <a:rPr lang="en-US" sz="1600" dirty="0"/>
              <a:t>Speech-to-Text: Whisper / Google Speech </a:t>
            </a:r>
          </a:p>
          <a:p>
            <a:pPr lvl="1"/>
            <a:r>
              <a:rPr lang="en-US" sz="1600" dirty="0" err="1"/>
              <a:t>APIText</a:t>
            </a:r>
            <a:r>
              <a:rPr lang="en-US" sz="1600" dirty="0"/>
              <a:t>-to-Speech: </a:t>
            </a:r>
            <a:r>
              <a:rPr lang="en-US" sz="1600" dirty="0" err="1"/>
              <a:t>gTTS</a:t>
            </a:r>
            <a:r>
              <a:rPr lang="en-US" sz="1600" dirty="0"/>
              <a:t> / Polly</a:t>
            </a:r>
          </a:p>
          <a:p>
            <a:pPr lvl="1"/>
            <a:r>
              <a:rPr lang="en-US" sz="1600" dirty="0"/>
              <a:t>Computer Vision: OpenCV, </a:t>
            </a:r>
            <a:r>
              <a:rPr lang="en-US" sz="1600" dirty="0" err="1"/>
              <a:t>MediaPipe</a:t>
            </a:r>
            <a:endParaRPr lang="en-US" sz="1600" dirty="0"/>
          </a:p>
          <a:p>
            <a:pPr lvl="1"/>
            <a:r>
              <a:rPr lang="en-US" sz="1600" dirty="0"/>
              <a:t>Audio Analysis: </a:t>
            </a:r>
            <a:r>
              <a:rPr lang="en-US" sz="1600" dirty="0" err="1"/>
              <a:t>Librosa</a:t>
            </a:r>
            <a:endParaRPr lang="en-US" sz="1600" dirty="0"/>
          </a:p>
          <a:p>
            <a:pPr lvl="1"/>
            <a:r>
              <a:rPr lang="en-US" sz="1600" dirty="0"/>
              <a:t>NLP (Answer Analysis): </a:t>
            </a:r>
            <a:r>
              <a:rPr lang="en-US" sz="1600" dirty="0" err="1"/>
              <a:t>spaCy</a:t>
            </a:r>
            <a:r>
              <a:rPr lang="en-US" sz="1600" dirty="0"/>
              <a:t> / Transformers (BERT)</a:t>
            </a:r>
          </a:p>
        </p:txBody>
      </p:sp>
      <p:sp>
        <p:nvSpPr>
          <p:cNvPr id="3" name="Rectangle 1">
            <a:extLst>
              <a:ext uri="{FF2B5EF4-FFF2-40B4-BE49-F238E27FC236}">
                <a16:creationId xmlns:a16="http://schemas.microsoft.com/office/drawing/2014/main" id="{63D03DAC-0EC1-2AD2-8196-AB8E7F7D7E6E}"/>
              </a:ext>
            </a:extLst>
          </p:cNvPr>
          <p:cNvSpPr txBox="1">
            <a:spLocks noChangeArrowheads="1"/>
          </p:cNvSpPr>
          <p:nvPr/>
        </p:nvSpPr>
        <p:spPr bwMode="auto">
          <a:xfrm>
            <a:off x="838200" y="3850057"/>
            <a:ext cx="10932399" cy="1456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AI Agent Models: </a:t>
            </a:r>
          </a:p>
          <a:p>
            <a:pPr lvl="1"/>
            <a:r>
              <a:rPr lang="en-US" sz="1600" dirty="0"/>
              <a:t>Answer Analysis Agent – interprets verbal content</a:t>
            </a:r>
          </a:p>
          <a:p>
            <a:pPr lvl="1"/>
            <a:r>
              <a:rPr lang="en-US" sz="1600" dirty="0"/>
              <a:t>Voice Tone Agent – evaluates vocal confidence &amp; clarity</a:t>
            </a:r>
          </a:p>
          <a:p>
            <a:pPr lvl="1"/>
            <a:r>
              <a:rPr lang="en-US" sz="1600" dirty="0"/>
              <a:t>Body Language Agent – detects gestures, posture, expressions</a:t>
            </a:r>
          </a:p>
          <a:p>
            <a:pPr lvl="1"/>
            <a:r>
              <a:rPr lang="en-US" sz="1600" dirty="0"/>
              <a:t>Scoring Agent – aggregates results &amp; provides feedback</a:t>
            </a:r>
          </a:p>
        </p:txBody>
      </p:sp>
      <p:sp>
        <p:nvSpPr>
          <p:cNvPr id="9" name="Rectangle 1">
            <a:extLst>
              <a:ext uri="{FF2B5EF4-FFF2-40B4-BE49-F238E27FC236}">
                <a16:creationId xmlns:a16="http://schemas.microsoft.com/office/drawing/2014/main" id="{7134AC55-C04D-E63B-196F-97DD80AB092B}"/>
              </a:ext>
            </a:extLst>
          </p:cNvPr>
          <p:cNvSpPr txBox="1">
            <a:spLocks noChangeArrowheads="1"/>
          </p:cNvSpPr>
          <p:nvPr/>
        </p:nvSpPr>
        <p:spPr bwMode="auto">
          <a:xfrm>
            <a:off x="838200" y="5669649"/>
            <a:ext cx="10932399"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Backend : Django/Flask</a:t>
            </a:r>
          </a:p>
        </p:txBody>
      </p:sp>
    </p:spTree>
    <p:extLst>
      <p:ext uri="{BB962C8B-B14F-4D97-AF65-F5344CB8AC3E}">
        <p14:creationId xmlns:p14="http://schemas.microsoft.com/office/powerpoint/2010/main" val="14591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6F1C-615D-F6B3-F247-0A258ABA6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BE049-32A5-71C3-9681-9DD408E2331B}"/>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81EDB1D2-1CB4-1891-06C2-C34A60D4B000}"/>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A1FA3A06-9DD6-C864-274D-0A306E5CA23F}"/>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E5C9ED03-74C2-F87C-9E4F-B50A1B99DC85}"/>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Existing Systems / Technologies Current solutions or methods</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D3471FF8-4AA4-ABB7-A156-91FE9DACD2AB}"/>
              </a:ext>
            </a:extLst>
          </p:cNvPr>
          <p:cNvSpPr>
            <a:spLocks noGrp="1" noChangeArrowheads="1"/>
          </p:cNvSpPr>
          <p:nvPr>
            <p:ph idx="1"/>
          </p:nvPr>
        </p:nvSpPr>
        <p:spPr bwMode="auto">
          <a:xfrm>
            <a:off x="838200" y="1757850"/>
            <a:ext cx="98689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Text-Based Chatbots:</a:t>
            </a:r>
            <a:r>
              <a:rPr kumimoji="0" lang="en-US" altLang="en-US" sz="1800" b="0" i="0" u="none" strike="noStrike" cap="none" normalizeH="0" baseline="0" dirty="0">
                <a:ln>
                  <a:noFill/>
                </a:ln>
                <a:solidFill>
                  <a:schemeClr val="tx1"/>
                </a:solidFill>
                <a:effectLst/>
                <a:latin typeface="Arial" panose="020B0604020202020204" pitchFamily="34" charset="0"/>
              </a:rPr>
              <a:t> Fundamentally flawed for comprehensive practice, as they </a:t>
            </a:r>
            <a:r>
              <a:rPr kumimoji="0" lang="en-US" altLang="en-US" sz="1800" b="1" i="0" u="none" strike="noStrike" cap="none" normalizeH="0" baseline="0" dirty="0">
                <a:ln>
                  <a:noFill/>
                </a:ln>
                <a:solidFill>
                  <a:schemeClr val="tx1"/>
                </a:solidFill>
                <a:effectLst/>
                <a:latin typeface="Arial" panose="020B0604020202020204" pitchFamily="34" charset="0"/>
              </a:rPr>
              <a:t>ignore all verbal and non-verbal aspects</a:t>
            </a:r>
            <a:r>
              <a:rPr kumimoji="0" lang="en-US" altLang="en-US" sz="1800" b="0" i="0" u="none" strike="noStrike" cap="none" normalizeH="0" baseline="0" dirty="0">
                <a:ln>
                  <a:noFill/>
                </a:ln>
                <a:solidFill>
                  <a:schemeClr val="tx1"/>
                </a:solidFill>
                <a:effectLst/>
                <a:latin typeface="Arial" panose="020B0604020202020204" pitchFamily="34" charset="0"/>
              </a:rPr>
              <a:t> of a real interview.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Video Recording Tools:</a:t>
            </a:r>
            <a:r>
              <a:rPr kumimoji="0" lang="en-US" altLang="en-US" sz="1800" b="0" i="0" u="none" strike="noStrike" cap="none" normalizeH="0" baseline="0" dirty="0">
                <a:ln>
                  <a:noFill/>
                </a:ln>
                <a:solidFill>
                  <a:schemeClr val="tx1"/>
                </a:solidFill>
                <a:effectLst/>
                <a:latin typeface="Arial" panose="020B0604020202020204" pitchFamily="34" charset="0"/>
              </a:rPr>
              <a:t> Act as a "digital mirror" with </a:t>
            </a:r>
            <a:r>
              <a:rPr kumimoji="0" lang="en-US" altLang="en-US" sz="1800" b="1" i="0" u="none" strike="noStrike" cap="none" normalizeH="0" baseline="0" dirty="0">
                <a:ln>
                  <a:noFill/>
                </a:ln>
                <a:solidFill>
                  <a:schemeClr val="tx1"/>
                </a:solidFill>
                <a:effectLst/>
                <a:latin typeface="Arial" panose="020B0604020202020204" pitchFamily="34" charset="0"/>
              </a:rPr>
              <a:t>no automated analysis</a:t>
            </a:r>
            <a:r>
              <a:rPr kumimoji="0" lang="en-US" altLang="en-US" sz="1800" b="0" i="0" u="none" strike="noStrike" cap="none" normalizeH="0" baseline="0" dirty="0">
                <a:ln>
                  <a:noFill/>
                </a:ln>
                <a:solidFill>
                  <a:schemeClr val="tx1"/>
                </a:solidFill>
                <a:effectLst/>
                <a:latin typeface="Arial" panose="020B0604020202020204" pitchFamily="34" charset="0"/>
              </a:rPr>
              <a:t>, forcing a human recruiter to manually watch and evaluate every submission.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Professional HR Software (ATS):</a:t>
            </a:r>
            <a:r>
              <a:rPr kumimoji="0" lang="en-US" altLang="en-US" sz="1800" b="0" i="0" u="none" strike="noStrike" cap="none" normalizeH="0" baseline="0" dirty="0">
                <a:ln>
                  <a:noFill/>
                </a:ln>
                <a:solidFill>
                  <a:schemeClr val="tx1"/>
                </a:solidFill>
                <a:effectLst/>
                <a:latin typeface="Arial" panose="020B0604020202020204" pitchFamily="34" charset="0"/>
              </a:rPr>
              <a:t> While effective for filtering resumes by keywords, these systems are a </a:t>
            </a:r>
            <a:r>
              <a:rPr kumimoji="0" lang="en-US" altLang="en-US" sz="1800" b="1" i="0" u="none" strike="noStrike" cap="none" normalizeH="0" baseline="0" dirty="0">
                <a:ln>
                  <a:noFill/>
                </a:ln>
                <a:solidFill>
                  <a:schemeClr val="tx1"/>
                </a:solidFill>
                <a:effectLst/>
                <a:latin typeface="Arial" panose="020B0604020202020204" pitchFamily="34" charset="0"/>
              </a:rPr>
              <a:t>one-dimensional tool offering zero insight</a:t>
            </a:r>
            <a:r>
              <a:rPr kumimoji="0" lang="en-US" altLang="en-US" sz="1800" b="0" i="0" u="none" strike="noStrike" cap="none" normalizeH="0" baseline="0" dirty="0">
                <a:ln>
                  <a:noFill/>
                </a:ln>
                <a:solidFill>
                  <a:schemeClr val="tx1"/>
                </a:solidFill>
                <a:effectLst/>
                <a:latin typeface="Arial" panose="020B0604020202020204" pitchFamily="34" charset="0"/>
              </a:rPr>
              <a:t> into a candidate's soft skills.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Our Project's Unique Value:</a:t>
            </a:r>
            <a:r>
              <a:rPr kumimoji="0" lang="en-US" altLang="en-US" sz="1800" b="0" i="0" u="none" strike="noStrike" cap="none" normalizeH="0" baseline="0" dirty="0">
                <a:ln>
                  <a:noFill/>
                </a:ln>
                <a:solidFill>
                  <a:schemeClr val="tx1"/>
                </a:solidFill>
                <a:effectLst/>
                <a:latin typeface="Arial" panose="020B0604020202020204" pitchFamily="34" charset="0"/>
              </a:rPr>
              <a:t> Creates a single, enterprise-grade platform that </a:t>
            </a:r>
            <a:r>
              <a:rPr kumimoji="0" lang="en-US" altLang="en-US" sz="1800" b="1" i="0" u="none" strike="noStrike" cap="none" normalizeH="0" baseline="0" dirty="0">
                <a:ln>
                  <a:noFill/>
                </a:ln>
                <a:solidFill>
                  <a:schemeClr val="tx1"/>
                </a:solidFill>
                <a:effectLst/>
                <a:latin typeface="Arial" panose="020B0604020202020204" pitchFamily="34" charset="0"/>
              </a:rPr>
              <a:t>automates screening by analyzing conversation, video, and audio</a:t>
            </a:r>
            <a:r>
              <a:rPr kumimoji="0" lang="en-US" altLang="en-US" sz="1800" b="0" i="0" u="none" strike="noStrike" cap="none" normalizeH="0" baseline="0" dirty="0">
                <a:ln>
                  <a:noFill/>
                </a:ln>
                <a:solidFill>
                  <a:schemeClr val="tx1"/>
                </a:solidFill>
                <a:effectLst/>
                <a:latin typeface="Arial" panose="020B0604020202020204" pitchFamily="34" charset="0"/>
              </a:rPr>
              <a:t>, providing the data-driven communication insights that other tools lack.</a:t>
            </a:r>
          </a:p>
        </p:txBody>
      </p:sp>
    </p:spTree>
    <p:extLst>
      <p:ext uri="{BB962C8B-B14F-4D97-AF65-F5344CB8AC3E}">
        <p14:creationId xmlns:p14="http://schemas.microsoft.com/office/powerpoint/2010/main" val="2950124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3E722-2C54-C92C-1FBE-82193CB00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D825B-7BBA-8178-9CC5-64253AA01759}"/>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E36D8577-495A-2C0D-3A68-FC4772590DF7}"/>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79AC7CC4-E737-FA09-3DB1-819BE7398D17}"/>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87143317-E1D4-BB12-527A-5948E6F09397}"/>
              </a:ext>
            </a:extLst>
          </p:cNvPr>
          <p:cNvSpPr txBox="1">
            <a:spLocks/>
          </p:cNvSpPr>
          <p:nvPr/>
        </p:nvSpPr>
        <p:spPr>
          <a:xfrm>
            <a:off x="838200" y="841897"/>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Expected Outcome</a:t>
            </a:r>
          </a:p>
        </p:txBody>
      </p:sp>
      <p:sp>
        <p:nvSpPr>
          <p:cNvPr id="7" name="Rectangle 1">
            <a:extLst>
              <a:ext uri="{FF2B5EF4-FFF2-40B4-BE49-F238E27FC236}">
                <a16:creationId xmlns:a16="http://schemas.microsoft.com/office/drawing/2014/main" id="{EA1847B9-C301-7AFF-A723-2E8F77D6EE8D}"/>
              </a:ext>
            </a:extLst>
          </p:cNvPr>
          <p:cNvSpPr>
            <a:spLocks noGrp="1" noChangeArrowheads="1"/>
          </p:cNvSpPr>
          <p:nvPr>
            <p:ph idx="1"/>
          </p:nvPr>
        </p:nvSpPr>
        <p:spPr bwMode="auto">
          <a:xfrm>
            <a:off x="838200" y="2310925"/>
            <a:ext cx="10666465" cy="3169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t>Expected Outcomes</a:t>
            </a:r>
          </a:p>
          <a:p>
            <a:r>
              <a:rPr lang="en-IN" sz="1800" dirty="0"/>
              <a:t>Functional prototype of AI Interview Tool</a:t>
            </a:r>
          </a:p>
          <a:p>
            <a:r>
              <a:rPr lang="en-IN" sz="1800" dirty="0"/>
              <a:t>Voice-based  interviews via AI</a:t>
            </a:r>
          </a:p>
          <a:p>
            <a:r>
              <a:rPr lang="en-IN" sz="1800" dirty="0"/>
              <a:t>Agent-based evaluation of:</a:t>
            </a:r>
          </a:p>
          <a:p>
            <a:pPr lvl="1"/>
            <a:r>
              <a:rPr lang="en-IN" sz="1800" dirty="0"/>
              <a:t>Verbal content &amp; relevance</a:t>
            </a:r>
          </a:p>
          <a:p>
            <a:pPr lvl="1"/>
            <a:r>
              <a:rPr lang="en-IN" sz="1800" dirty="0"/>
              <a:t>Vocal tone &amp; fluency</a:t>
            </a:r>
          </a:p>
          <a:p>
            <a:pPr lvl="1"/>
            <a:r>
              <a:rPr lang="en-IN" sz="1800" dirty="0"/>
              <a:t>Non-verbal cues (eye contact, gestures)</a:t>
            </a:r>
          </a:p>
          <a:p>
            <a:r>
              <a:rPr lang="en-IN" sz="1800" dirty="0"/>
              <a:t>Automated feedback with key insights</a:t>
            </a:r>
          </a:p>
          <a:p>
            <a:r>
              <a:rPr lang="en-IN" sz="1800" dirty="0"/>
              <a:t>Usable as company’s phase-one screening system</a:t>
            </a:r>
          </a:p>
        </p:txBody>
      </p:sp>
    </p:spTree>
    <p:extLst>
      <p:ext uri="{BB962C8B-B14F-4D97-AF65-F5344CB8AC3E}">
        <p14:creationId xmlns:p14="http://schemas.microsoft.com/office/powerpoint/2010/main" val="557322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92B1-7827-E34E-DB6E-ED89B0905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E6390-4E61-B7A1-765D-03628ABAB2E1}"/>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EC998BE4-7840-1654-89B0-4B5673921AA5}"/>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74E8A625-4B0C-C59A-64C8-A7BB486F4860}"/>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36E76A7D-4B28-8BD7-D286-88E0C5F6F527}"/>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Project Plan</a:t>
            </a:r>
          </a:p>
        </p:txBody>
      </p:sp>
      <p:sp>
        <p:nvSpPr>
          <p:cNvPr id="3" name="Rectangle 1">
            <a:extLst>
              <a:ext uri="{FF2B5EF4-FFF2-40B4-BE49-F238E27FC236}">
                <a16:creationId xmlns:a16="http://schemas.microsoft.com/office/drawing/2014/main" id="{03861522-36AE-CD4D-FF34-1863CDE6673B}"/>
              </a:ext>
            </a:extLst>
          </p:cNvPr>
          <p:cNvSpPr>
            <a:spLocks noGrp="1" noChangeArrowheads="1"/>
          </p:cNvSpPr>
          <p:nvPr>
            <p:ph idx="1"/>
          </p:nvPr>
        </p:nvSpPr>
        <p:spPr bwMode="auto">
          <a:xfrm>
            <a:off x="801890" y="2274839"/>
            <a:ext cx="1068078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initial phase focuses on developing the core conversational engine and the specialized AI agents for verbal, vocal, and non-verbal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Next, these agents will be integrated into a single system, and a central scoring engine will be developed to aggregate their analytical outputs.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final phase involves building the corporate reporting dashboard and conducting end-to-end testing for accuracy and scalability.</a:t>
            </a:r>
          </a:p>
        </p:txBody>
      </p:sp>
    </p:spTree>
    <p:extLst>
      <p:ext uri="{BB962C8B-B14F-4D97-AF65-F5344CB8AC3E}">
        <p14:creationId xmlns:p14="http://schemas.microsoft.com/office/powerpoint/2010/main" val="1470774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51D3F-B6B2-619C-EFF1-FB4F4E918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51BA6-A004-BF92-54B4-0646C9767CF8}"/>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042ED7EF-14AB-75B6-1F54-2CCAE7993E41}"/>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3721F4E6-CBC3-4909-A94F-67B6C2605BAF}"/>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1DCB6D2D-A79F-6D13-918B-9438EF2B47A6}"/>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Significance of the Study</a:t>
            </a:r>
          </a:p>
        </p:txBody>
      </p:sp>
      <p:sp>
        <p:nvSpPr>
          <p:cNvPr id="7" name="Rectangle 1">
            <a:extLst>
              <a:ext uri="{FF2B5EF4-FFF2-40B4-BE49-F238E27FC236}">
                <a16:creationId xmlns:a16="http://schemas.microsoft.com/office/drawing/2014/main" id="{0306A14D-06D2-2E04-1E7A-5A473B34BF9F}"/>
              </a:ext>
            </a:extLst>
          </p:cNvPr>
          <p:cNvSpPr>
            <a:spLocks noGrp="1" noChangeArrowheads="1"/>
          </p:cNvSpPr>
          <p:nvPr>
            <p:ph idx="1"/>
          </p:nvPr>
        </p:nvSpPr>
        <p:spPr bwMode="auto">
          <a:xfrm>
            <a:off x="838199" y="2462672"/>
            <a:ext cx="1085261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introduces an objective, data-driven tool to the hiring process, helping reduce screening bias and improve key metrics like time-to-hire.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provides direct benefits to companies by saving recruiter time, automating manual processes, and improving the overall quality of shortlisted candidates.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Technologically, it represents a complex integration of multiple AI fields, with future scope to expand into specialized, role-specific assessment modules.</a:t>
            </a:r>
          </a:p>
        </p:txBody>
      </p:sp>
    </p:spTree>
    <p:extLst>
      <p:ext uri="{BB962C8B-B14F-4D97-AF65-F5344CB8AC3E}">
        <p14:creationId xmlns:p14="http://schemas.microsoft.com/office/powerpoint/2010/main" val="3430233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5E315-18A6-1539-7483-1775812AB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89793-5FDC-C90C-DB15-5F67172D6D38}"/>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0E667F13-B120-EFC7-55C8-18472584C319}"/>
              </a:ext>
            </a:extLst>
          </p:cNvPr>
          <p:cNvPicPr preferRelativeResize="0"/>
          <p:nvPr/>
        </p:nvPicPr>
        <p:blipFill rotWithShape="1">
          <a:blip r:embed="rId3">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8BD09CD2-9261-C251-5CB1-64FF60EDD2A2}"/>
              </a:ext>
            </a:extLst>
          </p:cNvPr>
          <p:cNvPicPr preferRelativeResize="0"/>
          <p:nvPr/>
        </p:nvPicPr>
        <p:blipFill rotWithShape="1">
          <a:blip r:embed="rId4">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D2695085-C6CF-7599-C50B-E1E514CA1022}"/>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Funding </a:t>
            </a:r>
          </a:p>
        </p:txBody>
      </p:sp>
      <p:sp>
        <p:nvSpPr>
          <p:cNvPr id="7" name="Rectangle 1">
            <a:extLst>
              <a:ext uri="{FF2B5EF4-FFF2-40B4-BE49-F238E27FC236}">
                <a16:creationId xmlns:a16="http://schemas.microsoft.com/office/drawing/2014/main" id="{5FF56EE7-1319-2EDB-C62A-45AC9D8619C8}"/>
              </a:ext>
            </a:extLst>
          </p:cNvPr>
          <p:cNvSpPr>
            <a:spLocks noGrp="1" noChangeArrowheads="1"/>
          </p:cNvSpPr>
          <p:nvPr>
            <p:ph idx="1"/>
          </p:nvPr>
        </p:nvSpPr>
        <p:spPr bwMode="auto">
          <a:xfrm>
            <a:off x="838200" y="2662767"/>
            <a:ext cx="10852619" cy="3233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t>Potential Funding Sources</a:t>
            </a:r>
          </a:p>
          <a:p>
            <a:r>
              <a:rPr lang="en-IN" sz="1800" b="1" dirty="0"/>
              <a:t>TCS (Tata Consultancy Services)</a:t>
            </a:r>
            <a:r>
              <a:rPr lang="en-IN" sz="1800" dirty="0"/>
              <a:t> – Supports student innovations, especially in AI &amp; HR Tech</a:t>
            </a:r>
          </a:p>
          <a:p>
            <a:r>
              <a:rPr lang="en-IN" sz="1800" b="1" dirty="0"/>
              <a:t>Infosys Foundation</a:t>
            </a:r>
            <a:r>
              <a:rPr lang="en-IN" sz="1800" dirty="0"/>
              <a:t> – Known for backing education and technology-driven initiatives</a:t>
            </a:r>
          </a:p>
          <a:p>
            <a:r>
              <a:rPr lang="en-IN" sz="1800" b="1" dirty="0"/>
              <a:t>Startup India</a:t>
            </a:r>
            <a:r>
              <a:rPr lang="en-IN" sz="1800" dirty="0"/>
              <a:t> – Government-backed funding &amp; startup support schemes</a:t>
            </a:r>
          </a:p>
          <a:p>
            <a:r>
              <a:rPr lang="en-IN" sz="1800" b="1" dirty="0"/>
              <a:t>Kerala Startup Mission (KSUM)</a:t>
            </a:r>
            <a:r>
              <a:rPr lang="en-IN" sz="1800" dirty="0"/>
              <a:t> – Grants, seed funding, and infrastructure support for student projects</a:t>
            </a:r>
          </a:p>
          <a:p>
            <a:r>
              <a:rPr lang="en-IN" sz="1800" b="1" dirty="0"/>
              <a:t>Technopark, Trivandrum</a:t>
            </a:r>
            <a:r>
              <a:rPr lang="en-IN" sz="1800" dirty="0"/>
              <a:t> – Collaboration &amp; funding possibilities for tech innovations</a:t>
            </a:r>
          </a:p>
          <a:p>
            <a:r>
              <a:rPr lang="en-IN" sz="1800" b="1" dirty="0"/>
              <a:t>FOSS United (India)</a:t>
            </a:r>
            <a:r>
              <a:rPr lang="en-IN" sz="1800" dirty="0"/>
              <a:t> – Funding for open-source tech projects with impact</a:t>
            </a:r>
          </a:p>
          <a:p>
            <a:r>
              <a:rPr lang="en-IN" sz="1800" b="1" dirty="0"/>
              <a:t>ICT Academy of Kerala</a:t>
            </a:r>
            <a:r>
              <a:rPr lang="en-IN" sz="1800" dirty="0"/>
              <a:t> – Skill-based project support and partnerships</a:t>
            </a:r>
            <a:br>
              <a:rPr lang="en-IN" sz="1800" dirty="0"/>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082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74ACF-8DB8-CC96-DAA3-E0E3AD89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21C3E-CEBE-F107-CF29-3FE7CAF4C1A6}"/>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3F1AA21D-0DBE-E821-15DF-3291893FBF17}"/>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9AA1750B-714A-FED8-940D-6A8E3813D971}"/>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FC70F585-CEB9-067D-889E-07DCE214B8BE}"/>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References</a:t>
            </a:r>
          </a:p>
        </p:txBody>
      </p:sp>
      <p:sp>
        <p:nvSpPr>
          <p:cNvPr id="8" name="Rectangle 2">
            <a:extLst>
              <a:ext uri="{FF2B5EF4-FFF2-40B4-BE49-F238E27FC236}">
                <a16:creationId xmlns:a16="http://schemas.microsoft.com/office/drawing/2014/main" id="{DE0C20FD-C93E-2A7D-059A-485ABFBB36CD}"/>
              </a:ext>
            </a:extLst>
          </p:cNvPr>
          <p:cNvSpPr>
            <a:spLocks noGrp="1" noChangeArrowheads="1"/>
          </p:cNvSpPr>
          <p:nvPr>
            <p:ph idx="1"/>
          </p:nvPr>
        </p:nvSpPr>
        <p:spPr bwMode="auto">
          <a:xfrm>
            <a:off x="838200" y="2029566"/>
            <a:ext cx="9999336"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1. Rai, </a:t>
            </a:r>
            <a:r>
              <a:rPr kumimoji="0" lang="en-US" altLang="en-US"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Mrs</a:t>
            </a: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&amp; R, Abhiram &amp; </a:t>
            </a:r>
            <a:r>
              <a:rPr kumimoji="0" lang="en-US" altLang="en-US"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Padthe</a:t>
            </a: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Adithya &amp; R, Hrithik. (2024). AI Based Interview Evaluator: An Emotion and Confidence Classifier. IJARCCE. 13. 10.17148/IJARCCE.2024.134109.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a:t>
            </a:r>
            <a:r>
              <a:rPr kumimoji="0" lang="en-US" altLang="en-US"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Golande</a:t>
            </a: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Shashikant &amp; </a:t>
            </a:r>
            <a:r>
              <a:rPr kumimoji="0" lang="en-US" altLang="en-US"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Dandage</a:t>
            </a: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Prathamesh &amp; Jadhav, Anil &amp; Mohite, Pratik &amp; Shahane, Aditya. (2025). MOCK INTERVIEW EVALUATOR POWERED BY AI. 12. 80-87.</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a:t>
            </a:r>
            <a:r>
              <a:rPr kumimoji="0" lang="en-US" altLang="en-US" sz="1800" b="0" i="0" u="none" strike="noStrike" cap="none" normalizeH="0" baseline="0" dirty="0">
                <a:ln>
                  <a:noFill/>
                </a:ln>
                <a:solidFill>
                  <a:srgbClr val="222222"/>
                </a:solidFill>
                <a:effectLst/>
                <a:latin typeface="Helvetica Neue"/>
                <a:cs typeface="Arial" panose="020B0604020202020204" pitchFamily="34" charset="0"/>
              </a:rPr>
              <a:t>Yan, J.; Li, P.; Du, C.; Zhu, K.; Zhou, X.; Liu, Y.; Wei, J. Multimodal Emotion Recognition Based on Facial Expressions, Speech, and Body Gestures. </a:t>
            </a:r>
            <a:r>
              <a:rPr kumimoji="0" lang="en-US" altLang="en-US" sz="1800" b="0" i="1" u="none" strike="noStrike" cap="none" normalizeH="0" baseline="0" dirty="0">
                <a:ln>
                  <a:noFill/>
                </a:ln>
                <a:solidFill>
                  <a:srgbClr val="222222"/>
                </a:solidFill>
                <a:effectLst/>
                <a:latin typeface="Helvetica Neue"/>
                <a:cs typeface="Arial" panose="020B0604020202020204" pitchFamily="34" charset="0"/>
              </a:rPr>
              <a:t>Electronics</a:t>
            </a:r>
            <a:r>
              <a:rPr kumimoji="0" lang="en-US" altLang="en-US" sz="1800" b="0" i="0" u="none" strike="noStrike" cap="none" normalizeH="0" baseline="0" dirty="0">
                <a:ln>
                  <a:noFill/>
                </a:ln>
                <a:solidFill>
                  <a:srgbClr val="222222"/>
                </a:solidFill>
                <a:effectLst/>
                <a:latin typeface="Helvetica Neue"/>
                <a:cs typeface="Arial" panose="020B0604020202020204" pitchFamily="34" charset="0"/>
              </a:rPr>
              <a:t> </a:t>
            </a:r>
            <a:r>
              <a:rPr kumimoji="0" lang="en-US" altLang="en-US" sz="1800" b="1" i="0" u="none" strike="noStrike" cap="none" normalizeH="0" baseline="0" dirty="0">
                <a:ln>
                  <a:noFill/>
                </a:ln>
                <a:solidFill>
                  <a:srgbClr val="222222"/>
                </a:solidFill>
                <a:effectLst/>
                <a:latin typeface="Helvetica Neue"/>
                <a:cs typeface="Arial" panose="020B0604020202020204" pitchFamily="34" charset="0"/>
              </a:rPr>
              <a:t>2024</a:t>
            </a:r>
            <a:r>
              <a:rPr kumimoji="0" lang="en-US" altLang="en-US" sz="1800" b="0" i="0" u="none" strike="noStrike" cap="none" normalizeH="0" baseline="0" dirty="0">
                <a:ln>
                  <a:noFill/>
                </a:ln>
                <a:solidFill>
                  <a:srgbClr val="222222"/>
                </a:solidFill>
                <a:effectLst/>
                <a:latin typeface="Helvetica Neue"/>
                <a:cs typeface="Arial" panose="020B0604020202020204" pitchFamily="34" charset="0"/>
              </a:rPr>
              <a:t>, </a:t>
            </a:r>
            <a:r>
              <a:rPr kumimoji="0" lang="en-US" altLang="en-US" sz="1800" b="0" i="1" u="none" strike="noStrike" cap="none" normalizeH="0" baseline="0" dirty="0">
                <a:ln>
                  <a:noFill/>
                </a:ln>
                <a:solidFill>
                  <a:srgbClr val="222222"/>
                </a:solidFill>
                <a:effectLst/>
                <a:latin typeface="Helvetica Neue"/>
                <a:cs typeface="Arial" panose="020B0604020202020204" pitchFamily="34" charset="0"/>
              </a:rPr>
              <a:t>13</a:t>
            </a:r>
            <a:r>
              <a:rPr kumimoji="0" lang="en-US" altLang="en-US" sz="1800" b="0" i="0" u="none" strike="noStrike" cap="none" normalizeH="0" baseline="0" dirty="0">
                <a:ln>
                  <a:noFill/>
                </a:ln>
                <a:solidFill>
                  <a:srgbClr val="222222"/>
                </a:solidFill>
                <a:effectLst/>
                <a:latin typeface="Helvetica Neue"/>
                <a:cs typeface="Arial" panose="020B0604020202020204" pitchFamily="34" charset="0"/>
              </a:rPr>
              <a:t>, 3756. </a:t>
            </a:r>
            <a:r>
              <a:rPr kumimoji="0" lang="en-US" altLang="en-US" sz="1800" b="0" i="0" u="none" strike="noStrike" cap="none" normalizeH="0" baseline="0" dirty="0">
                <a:ln>
                  <a:noFill/>
                </a:ln>
                <a:solidFill>
                  <a:srgbClr val="1155CC"/>
                </a:solidFill>
                <a:effectLst/>
                <a:latin typeface="Helvetica Neue"/>
                <a:cs typeface="Arial" panose="020B0604020202020204" pitchFamily="34" charset="0"/>
                <a:hlinkClick r:id="rId4"/>
              </a:rPr>
              <a:t>https://doi.org/10.3390/electronics13183756</a:t>
            </a:r>
            <a:endParaRPr kumimoji="0" lang="en-US" altLang="en-US" sz="1800" b="0" i="0" u="none" strike="noStrike" cap="none" normalizeH="0" baseline="0" dirty="0">
              <a:ln>
                <a:noFill/>
              </a:ln>
              <a:solidFill>
                <a:srgbClr val="222222"/>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1650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969E9-5FCF-4860-6A0A-5B53FA213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628A1-3261-F5AF-DEC5-C27590508997}"/>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4790139C-53AE-396C-0C16-ED89D151596A}"/>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3C7B5BDF-326B-FCD1-C769-7224354CA48C}"/>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8" name="Rectangle 2">
            <a:extLst>
              <a:ext uri="{FF2B5EF4-FFF2-40B4-BE49-F238E27FC236}">
                <a16:creationId xmlns:a16="http://schemas.microsoft.com/office/drawing/2014/main" id="{6DE5930D-FC1B-1FFB-66DC-B4B8BC5337EA}"/>
              </a:ext>
            </a:extLst>
          </p:cNvPr>
          <p:cNvSpPr>
            <a:spLocks noGrp="1" noChangeArrowheads="1"/>
          </p:cNvSpPr>
          <p:nvPr>
            <p:ph idx="1"/>
          </p:nvPr>
        </p:nvSpPr>
        <p:spPr bwMode="auto">
          <a:xfrm>
            <a:off x="838200" y="2999063"/>
            <a:ext cx="9999336"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5400" dirty="0">
                <a:solidFill>
                  <a:srgbClr val="C00000"/>
                </a:solidFill>
                <a:latin typeface="Arial" panose="020B0604020202020204" pitchFamily="34" charset="0"/>
                <a:cs typeface="Arial" panose="020B0604020202020204" pitchFamily="34" charset="0"/>
              </a:rPr>
              <a:t>THANK YOU </a:t>
            </a:r>
            <a:br>
              <a:rPr kumimoji="0" lang="en-US" altLang="en-US" sz="5400" b="0" i="0" u="none" strike="noStrike" cap="none" normalizeH="0" baseline="0" dirty="0">
                <a:ln>
                  <a:noFill/>
                </a:ln>
                <a:solidFill>
                  <a:srgbClr val="C00000"/>
                </a:solidFill>
                <a:effectLst/>
              </a:rPr>
            </a:br>
            <a:endParaRPr kumimoji="0" lang="en-US" altLang="en-US" sz="5400" b="0" i="0" u="none" strike="noStrike" cap="none" normalizeH="0" baseline="0" dirty="0">
              <a:ln>
                <a:noFill/>
              </a:ln>
              <a:solidFill>
                <a:srgbClr val="C00000"/>
              </a:solidFill>
              <a:effectLst/>
              <a:latin typeface="Arial" panose="020B0604020202020204" pitchFamily="34" charset="0"/>
            </a:endParaRPr>
          </a:p>
        </p:txBody>
      </p:sp>
    </p:spTree>
    <p:extLst>
      <p:ext uri="{BB962C8B-B14F-4D97-AF65-F5344CB8AC3E}">
        <p14:creationId xmlns:p14="http://schemas.microsoft.com/office/powerpoint/2010/main" val="3199928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TotalTime>
  <Words>911</Words>
  <Application>Microsoft Office PowerPoint</Application>
  <PresentationFormat>Widescreen</PresentationFormat>
  <Paragraphs>83</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Google Sans</vt:lpstr>
      <vt:lpstr>Helvetica Neue</vt:lpstr>
      <vt:lpstr>Times New Roman</vt:lpstr>
      <vt:lpstr>Office Theme</vt:lpstr>
      <vt:lpstr>PROJECT PHASE I</vt:lpstr>
      <vt:lpstr>Introduction</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Sandesh</dc:creator>
  <cp:lastModifiedBy>Rahul Sandesh</cp:lastModifiedBy>
  <cp:revision>6</cp:revision>
  <dcterms:created xsi:type="dcterms:W3CDTF">2025-08-06T07:54:42Z</dcterms:created>
  <dcterms:modified xsi:type="dcterms:W3CDTF">2025-08-07T08:13:39Z</dcterms:modified>
</cp:coreProperties>
</file>