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11" autoAdjust="0"/>
    <p:restoredTop sz="94660"/>
  </p:normalViewPr>
  <p:slideViewPr>
    <p:cSldViewPr snapToGrid="0">
      <p:cViewPr varScale="1">
        <p:scale>
          <a:sx n="104" d="100"/>
          <a:sy n="104" d="100"/>
        </p:scale>
        <p:origin x="316" y="8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479CB-DA1F-5339-1B99-B866AC3194F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70FEFAF0-9A2D-216E-598F-B81329A3D0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42C1B7C-86F9-5E5A-BED5-536A1FBF6178}"/>
              </a:ext>
            </a:extLst>
          </p:cNvPr>
          <p:cNvSpPr>
            <a:spLocks noGrp="1"/>
          </p:cNvSpPr>
          <p:nvPr>
            <p:ph type="dt" sz="half" idx="10"/>
          </p:nvPr>
        </p:nvSpPr>
        <p:spPr/>
        <p:txBody>
          <a:bodyPr/>
          <a:lstStyle/>
          <a:p>
            <a:fld id="{359C604C-D337-482B-9862-95580A470C60}" type="datetimeFigureOut">
              <a:rPr lang="en-IN" smtClean="0"/>
              <a:t>06-08-2025</a:t>
            </a:fld>
            <a:endParaRPr lang="en-IN"/>
          </a:p>
        </p:txBody>
      </p:sp>
      <p:sp>
        <p:nvSpPr>
          <p:cNvPr id="5" name="Footer Placeholder 4">
            <a:extLst>
              <a:ext uri="{FF2B5EF4-FFF2-40B4-BE49-F238E27FC236}">
                <a16:creationId xmlns:a16="http://schemas.microsoft.com/office/drawing/2014/main" id="{0933CEB5-3D2A-3573-E94B-51E8893B15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9C6320E-2755-FF45-0C4D-23A9E54195C7}"/>
              </a:ext>
            </a:extLst>
          </p:cNvPr>
          <p:cNvSpPr>
            <a:spLocks noGrp="1"/>
          </p:cNvSpPr>
          <p:nvPr>
            <p:ph type="sldNum" sz="quarter" idx="12"/>
          </p:nvPr>
        </p:nvSpPr>
        <p:spPr/>
        <p:txBody>
          <a:bodyPr/>
          <a:lstStyle/>
          <a:p>
            <a:fld id="{CA24A6F1-26C6-456D-B8ED-172D0398FE96}" type="slidenum">
              <a:rPr lang="en-IN" smtClean="0"/>
              <a:t>‹#›</a:t>
            </a:fld>
            <a:endParaRPr lang="en-IN"/>
          </a:p>
        </p:txBody>
      </p:sp>
    </p:spTree>
    <p:extLst>
      <p:ext uri="{BB962C8B-B14F-4D97-AF65-F5344CB8AC3E}">
        <p14:creationId xmlns:p14="http://schemas.microsoft.com/office/powerpoint/2010/main" val="5004132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D43F99-8682-A2A6-5283-DD87AC2907C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9BC5EF0-B90B-947A-D3C6-36089AF4D62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DFDDE77-35D8-2A5C-5160-2B035A0D21E2}"/>
              </a:ext>
            </a:extLst>
          </p:cNvPr>
          <p:cNvSpPr>
            <a:spLocks noGrp="1"/>
          </p:cNvSpPr>
          <p:nvPr>
            <p:ph type="dt" sz="half" idx="10"/>
          </p:nvPr>
        </p:nvSpPr>
        <p:spPr/>
        <p:txBody>
          <a:bodyPr/>
          <a:lstStyle/>
          <a:p>
            <a:fld id="{359C604C-D337-482B-9862-95580A470C60}" type="datetimeFigureOut">
              <a:rPr lang="en-IN" smtClean="0"/>
              <a:t>06-08-2025</a:t>
            </a:fld>
            <a:endParaRPr lang="en-IN"/>
          </a:p>
        </p:txBody>
      </p:sp>
      <p:sp>
        <p:nvSpPr>
          <p:cNvPr id="5" name="Footer Placeholder 4">
            <a:extLst>
              <a:ext uri="{FF2B5EF4-FFF2-40B4-BE49-F238E27FC236}">
                <a16:creationId xmlns:a16="http://schemas.microsoft.com/office/drawing/2014/main" id="{1A2A4155-B898-F5F8-CC0F-FCF0D56C46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05CB1CA-8196-5364-C79E-7C4A746CA983}"/>
              </a:ext>
            </a:extLst>
          </p:cNvPr>
          <p:cNvSpPr>
            <a:spLocks noGrp="1"/>
          </p:cNvSpPr>
          <p:nvPr>
            <p:ph type="sldNum" sz="quarter" idx="12"/>
          </p:nvPr>
        </p:nvSpPr>
        <p:spPr/>
        <p:txBody>
          <a:bodyPr/>
          <a:lstStyle/>
          <a:p>
            <a:fld id="{CA24A6F1-26C6-456D-B8ED-172D0398FE96}" type="slidenum">
              <a:rPr lang="en-IN" smtClean="0"/>
              <a:t>‹#›</a:t>
            </a:fld>
            <a:endParaRPr lang="en-IN"/>
          </a:p>
        </p:txBody>
      </p:sp>
    </p:spTree>
    <p:extLst>
      <p:ext uri="{BB962C8B-B14F-4D97-AF65-F5344CB8AC3E}">
        <p14:creationId xmlns:p14="http://schemas.microsoft.com/office/powerpoint/2010/main" val="7754083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06742-EF35-325D-AD37-9A3BA39D26B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C14CAEE-631A-E954-60CE-11BA2506F4E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03B64C-39BF-F9C9-2961-D788ABCF321D}"/>
              </a:ext>
            </a:extLst>
          </p:cNvPr>
          <p:cNvSpPr>
            <a:spLocks noGrp="1"/>
          </p:cNvSpPr>
          <p:nvPr>
            <p:ph type="dt" sz="half" idx="10"/>
          </p:nvPr>
        </p:nvSpPr>
        <p:spPr/>
        <p:txBody>
          <a:bodyPr/>
          <a:lstStyle/>
          <a:p>
            <a:fld id="{359C604C-D337-482B-9862-95580A470C60}" type="datetimeFigureOut">
              <a:rPr lang="en-IN" smtClean="0"/>
              <a:t>06-08-2025</a:t>
            </a:fld>
            <a:endParaRPr lang="en-IN"/>
          </a:p>
        </p:txBody>
      </p:sp>
      <p:sp>
        <p:nvSpPr>
          <p:cNvPr id="5" name="Footer Placeholder 4">
            <a:extLst>
              <a:ext uri="{FF2B5EF4-FFF2-40B4-BE49-F238E27FC236}">
                <a16:creationId xmlns:a16="http://schemas.microsoft.com/office/drawing/2014/main" id="{B38FE6BA-6187-082A-CFF6-BCA264DEC8A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055AB48-AF23-3C5F-1754-8BEDCEE6292D}"/>
              </a:ext>
            </a:extLst>
          </p:cNvPr>
          <p:cNvSpPr>
            <a:spLocks noGrp="1"/>
          </p:cNvSpPr>
          <p:nvPr>
            <p:ph type="sldNum" sz="quarter" idx="12"/>
          </p:nvPr>
        </p:nvSpPr>
        <p:spPr/>
        <p:txBody>
          <a:bodyPr/>
          <a:lstStyle/>
          <a:p>
            <a:fld id="{CA24A6F1-26C6-456D-B8ED-172D0398FE96}" type="slidenum">
              <a:rPr lang="en-IN" smtClean="0"/>
              <a:t>‹#›</a:t>
            </a:fld>
            <a:endParaRPr lang="en-IN"/>
          </a:p>
        </p:txBody>
      </p:sp>
    </p:spTree>
    <p:extLst>
      <p:ext uri="{BB962C8B-B14F-4D97-AF65-F5344CB8AC3E}">
        <p14:creationId xmlns:p14="http://schemas.microsoft.com/office/powerpoint/2010/main" val="25488439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3F597-31C4-0170-BA3C-AF4111046FD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C187C63-E99C-2A89-5DB7-30D1D81F0F2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8F1BF4A-7205-0723-28C1-2D069D30205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113BAA1E-D441-42F8-173C-98AC912AFD30}"/>
              </a:ext>
            </a:extLst>
          </p:cNvPr>
          <p:cNvSpPr>
            <a:spLocks noGrp="1"/>
          </p:cNvSpPr>
          <p:nvPr>
            <p:ph type="dt" sz="half" idx="10"/>
          </p:nvPr>
        </p:nvSpPr>
        <p:spPr/>
        <p:txBody>
          <a:bodyPr/>
          <a:lstStyle/>
          <a:p>
            <a:fld id="{359C604C-D337-482B-9862-95580A470C60}" type="datetimeFigureOut">
              <a:rPr lang="en-IN" smtClean="0"/>
              <a:t>06-08-2025</a:t>
            </a:fld>
            <a:endParaRPr lang="en-IN"/>
          </a:p>
        </p:txBody>
      </p:sp>
      <p:sp>
        <p:nvSpPr>
          <p:cNvPr id="6" name="Footer Placeholder 5">
            <a:extLst>
              <a:ext uri="{FF2B5EF4-FFF2-40B4-BE49-F238E27FC236}">
                <a16:creationId xmlns:a16="http://schemas.microsoft.com/office/drawing/2014/main" id="{E5068868-190E-7748-9ADA-6399D0510B2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B37C940-1370-D017-8B50-41280ACC0DF2}"/>
              </a:ext>
            </a:extLst>
          </p:cNvPr>
          <p:cNvSpPr>
            <a:spLocks noGrp="1"/>
          </p:cNvSpPr>
          <p:nvPr>
            <p:ph type="sldNum" sz="quarter" idx="12"/>
          </p:nvPr>
        </p:nvSpPr>
        <p:spPr/>
        <p:txBody>
          <a:bodyPr/>
          <a:lstStyle/>
          <a:p>
            <a:fld id="{CA24A6F1-26C6-456D-B8ED-172D0398FE96}" type="slidenum">
              <a:rPr lang="en-IN" smtClean="0"/>
              <a:t>‹#›</a:t>
            </a:fld>
            <a:endParaRPr lang="en-IN"/>
          </a:p>
        </p:txBody>
      </p:sp>
    </p:spTree>
    <p:extLst>
      <p:ext uri="{BB962C8B-B14F-4D97-AF65-F5344CB8AC3E}">
        <p14:creationId xmlns:p14="http://schemas.microsoft.com/office/powerpoint/2010/main" val="1838793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D04078-6F60-B0C3-4E5C-8A1670B1719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212E1FA-FA3F-14A7-E333-ED231538534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D432DB5-2D68-AE6B-4279-150D3E4FC0A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7AA016BF-CE9D-7D75-4613-466902163B2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513A730-104F-88B8-C357-FCA854F6B11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8E37821-431D-B927-5410-02763031CF3E}"/>
              </a:ext>
            </a:extLst>
          </p:cNvPr>
          <p:cNvSpPr>
            <a:spLocks noGrp="1"/>
          </p:cNvSpPr>
          <p:nvPr>
            <p:ph type="dt" sz="half" idx="10"/>
          </p:nvPr>
        </p:nvSpPr>
        <p:spPr/>
        <p:txBody>
          <a:bodyPr/>
          <a:lstStyle/>
          <a:p>
            <a:fld id="{359C604C-D337-482B-9862-95580A470C60}" type="datetimeFigureOut">
              <a:rPr lang="en-IN" smtClean="0"/>
              <a:t>06-08-2025</a:t>
            </a:fld>
            <a:endParaRPr lang="en-IN"/>
          </a:p>
        </p:txBody>
      </p:sp>
      <p:sp>
        <p:nvSpPr>
          <p:cNvPr id="8" name="Footer Placeholder 7">
            <a:extLst>
              <a:ext uri="{FF2B5EF4-FFF2-40B4-BE49-F238E27FC236}">
                <a16:creationId xmlns:a16="http://schemas.microsoft.com/office/drawing/2014/main" id="{31F8D322-3569-AFC3-BFB5-4C694ED57264}"/>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9729882-C526-AFCB-CEA3-C362F1D9C360}"/>
              </a:ext>
            </a:extLst>
          </p:cNvPr>
          <p:cNvSpPr>
            <a:spLocks noGrp="1"/>
          </p:cNvSpPr>
          <p:nvPr>
            <p:ph type="sldNum" sz="quarter" idx="12"/>
          </p:nvPr>
        </p:nvSpPr>
        <p:spPr/>
        <p:txBody>
          <a:bodyPr/>
          <a:lstStyle/>
          <a:p>
            <a:fld id="{CA24A6F1-26C6-456D-B8ED-172D0398FE96}" type="slidenum">
              <a:rPr lang="en-IN" smtClean="0"/>
              <a:t>‹#›</a:t>
            </a:fld>
            <a:endParaRPr lang="en-IN"/>
          </a:p>
        </p:txBody>
      </p:sp>
    </p:spTree>
    <p:extLst>
      <p:ext uri="{BB962C8B-B14F-4D97-AF65-F5344CB8AC3E}">
        <p14:creationId xmlns:p14="http://schemas.microsoft.com/office/powerpoint/2010/main" val="23499648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D675F2-7006-2CC8-71AF-10D8385BDB7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5D5D632-A5B3-B9CE-0907-73F5869219EE}"/>
              </a:ext>
            </a:extLst>
          </p:cNvPr>
          <p:cNvSpPr>
            <a:spLocks noGrp="1"/>
          </p:cNvSpPr>
          <p:nvPr>
            <p:ph type="dt" sz="half" idx="10"/>
          </p:nvPr>
        </p:nvSpPr>
        <p:spPr/>
        <p:txBody>
          <a:bodyPr/>
          <a:lstStyle/>
          <a:p>
            <a:fld id="{359C604C-D337-482B-9862-95580A470C60}" type="datetimeFigureOut">
              <a:rPr lang="en-IN" smtClean="0"/>
              <a:t>06-08-2025</a:t>
            </a:fld>
            <a:endParaRPr lang="en-IN"/>
          </a:p>
        </p:txBody>
      </p:sp>
      <p:sp>
        <p:nvSpPr>
          <p:cNvPr id="4" name="Footer Placeholder 3">
            <a:extLst>
              <a:ext uri="{FF2B5EF4-FFF2-40B4-BE49-F238E27FC236}">
                <a16:creationId xmlns:a16="http://schemas.microsoft.com/office/drawing/2014/main" id="{499086E8-D5CF-40D2-18F8-03D090C4CC6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52F81B2B-B119-BBAB-817F-E9FF5B740335}"/>
              </a:ext>
            </a:extLst>
          </p:cNvPr>
          <p:cNvSpPr>
            <a:spLocks noGrp="1"/>
          </p:cNvSpPr>
          <p:nvPr>
            <p:ph type="sldNum" sz="quarter" idx="12"/>
          </p:nvPr>
        </p:nvSpPr>
        <p:spPr/>
        <p:txBody>
          <a:bodyPr/>
          <a:lstStyle/>
          <a:p>
            <a:fld id="{CA24A6F1-26C6-456D-B8ED-172D0398FE96}" type="slidenum">
              <a:rPr lang="en-IN" smtClean="0"/>
              <a:t>‹#›</a:t>
            </a:fld>
            <a:endParaRPr lang="en-IN"/>
          </a:p>
        </p:txBody>
      </p:sp>
    </p:spTree>
    <p:extLst>
      <p:ext uri="{BB962C8B-B14F-4D97-AF65-F5344CB8AC3E}">
        <p14:creationId xmlns:p14="http://schemas.microsoft.com/office/powerpoint/2010/main" val="7342338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EB14F1-51E8-E175-C6FC-65E949FD9839}"/>
              </a:ext>
            </a:extLst>
          </p:cNvPr>
          <p:cNvSpPr>
            <a:spLocks noGrp="1"/>
          </p:cNvSpPr>
          <p:nvPr>
            <p:ph type="dt" sz="half" idx="10"/>
          </p:nvPr>
        </p:nvSpPr>
        <p:spPr/>
        <p:txBody>
          <a:bodyPr/>
          <a:lstStyle/>
          <a:p>
            <a:fld id="{359C604C-D337-482B-9862-95580A470C60}" type="datetimeFigureOut">
              <a:rPr lang="en-IN" smtClean="0"/>
              <a:t>06-08-2025</a:t>
            </a:fld>
            <a:endParaRPr lang="en-IN"/>
          </a:p>
        </p:txBody>
      </p:sp>
      <p:sp>
        <p:nvSpPr>
          <p:cNvPr id="3" name="Footer Placeholder 2">
            <a:extLst>
              <a:ext uri="{FF2B5EF4-FFF2-40B4-BE49-F238E27FC236}">
                <a16:creationId xmlns:a16="http://schemas.microsoft.com/office/drawing/2014/main" id="{F4A140F7-8D21-02FB-6683-367C8129CEC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4BC5F3B-C002-B8DC-EAB8-62D7260EC800}"/>
              </a:ext>
            </a:extLst>
          </p:cNvPr>
          <p:cNvSpPr>
            <a:spLocks noGrp="1"/>
          </p:cNvSpPr>
          <p:nvPr>
            <p:ph type="sldNum" sz="quarter" idx="12"/>
          </p:nvPr>
        </p:nvSpPr>
        <p:spPr/>
        <p:txBody>
          <a:bodyPr/>
          <a:lstStyle/>
          <a:p>
            <a:fld id="{CA24A6F1-26C6-456D-B8ED-172D0398FE96}" type="slidenum">
              <a:rPr lang="en-IN" smtClean="0"/>
              <a:t>‹#›</a:t>
            </a:fld>
            <a:endParaRPr lang="en-IN"/>
          </a:p>
        </p:txBody>
      </p:sp>
    </p:spTree>
    <p:extLst>
      <p:ext uri="{BB962C8B-B14F-4D97-AF65-F5344CB8AC3E}">
        <p14:creationId xmlns:p14="http://schemas.microsoft.com/office/powerpoint/2010/main" val="27599536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1167E-CAEF-CB33-BEE3-1997045A83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CE85F252-0497-E610-4AE3-89A31F64552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16E1F3B5-8388-4D37-E5B8-4C212940C16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3439E96-CD2B-C0E7-31A1-4D16E146C7B0}"/>
              </a:ext>
            </a:extLst>
          </p:cNvPr>
          <p:cNvSpPr>
            <a:spLocks noGrp="1"/>
          </p:cNvSpPr>
          <p:nvPr>
            <p:ph type="dt" sz="half" idx="10"/>
          </p:nvPr>
        </p:nvSpPr>
        <p:spPr/>
        <p:txBody>
          <a:bodyPr/>
          <a:lstStyle/>
          <a:p>
            <a:fld id="{359C604C-D337-482B-9862-95580A470C60}" type="datetimeFigureOut">
              <a:rPr lang="en-IN" smtClean="0"/>
              <a:t>06-08-2025</a:t>
            </a:fld>
            <a:endParaRPr lang="en-IN"/>
          </a:p>
        </p:txBody>
      </p:sp>
      <p:sp>
        <p:nvSpPr>
          <p:cNvPr id="6" name="Footer Placeholder 5">
            <a:extLst>
              <a:ext uri="{FF2B5EF4-FFF2-40B4-BE49-F238E27FC236}">
                <a16:creationId xmlns:a16="http://schemas.microsoft.com/office/drawing/2014/main" id="{0ED5F116-0956-FA00-12E9-A3F396E6E77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5F8C83F-8387-B3F9-4797-8A3D55D0F056}"/>
              </a:ext>
            </a:extLst>
          </p:cNvPr>
          <p:cNvSpPr>
            <a:spLocks noGrp="1"/>
          </p:cNvSpPr>
          <p:nvPr>
            <p:ph type="sldNum" sz="quarter" idx="12"/>
          </p:nvPr>
        </p:nvSpPr>
        <p:spPr/>
        <p:txBody>
          <a:bodyPr/>
          <a:lstStyle/>
          <a:p>
            <a:fld id="{CA24A6F1-26C6-456D-B8ED-172D0398FE96}" type="slidenum">
              <a:rPr lang="en-IN" smtClean="0"/>
              <a:t>‹#›</a:t>
            </a:fld>
            <a:endParaRPr lang="en-IN"/>
          </a:p>
        </p:txBody>
      </p:sp>
    </p:spTree>
    <p:extLst>
      <p:ext uri="{BB962C8B-B14F-4D97-AF65-F5344CB8AC3E}">
        <p14:creationId xmlns:p14="http://schemas.microsoft.com/office/powerpoint/2010/main" val="4523510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F3E2D-A527-FAB6-5451-C98256315EC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599E80D-416E-8B71-7C3D-B88F0FBBAFF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08EA06E7-C29B-E01F-C65A-E110837EBD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684E8A-D030-1B4A-943C-27F3C1A86F00}"/>
              </a:ext>
            </a:extLst>
          </p:cNvPr>
          <p:cNvSpPr>
            <a:spLocks noGrp="1"/>
          </p:cNvSpPr>
          <p:nvPr>
            <p:ph type="dt" sz="half" idx="10"/>
          </p:nvPr>
        </p:nvSpPr>
        <p:spPr/>
        <p:txBody>
          <a:bodyPr/>
          <a:lstStyle/>
          <a:p>
            <a:fld id="{359C604C-D337-482B-9862-95580A470C60}" type="datetimeFigureOut">
              <a:rPr lang="en-IN" smtClean="0"/>
              <a:t>06-08-2025</a:t>
            </a:fld>
            <a:endParaRPr lang="en-IN"/>
          </a:p>
        </p:txBody>
      </p:sp>
      <p:sp>
        <p:nvSpPr>
          <p:cNvPr id="6" name="Footer Placeholder 5">
            <a:extLst>
              <a:ext uri="{FF2B5EF4-FFF2-40B4-BE49-F238E27FC236}">
                <a16:creationId xmlns:a16="http://schemas.microsoft.com/office/drawing/2014/main" id="{39B7BC06-BCF5-D35D-5D48-14D4E8DC2B9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6547FF0-5EF9-E314-B34F-E554E98E0861}"/>
              </a:ext>
            </a:extLst>
          </p:cNvPr>
          <p:cNvSpPr>
            <a:spLocks noGrp="1"/>
          </p:cNvSpPr>
          <p:nvPr>
            <p:ph type="sldNum" sz="quarter" idx="12"/>
          </p:nvPr>
        </p:nvSpPr>
        <p:spPr/>
        <p:txBody>
          <a:bodyPr/>
          <a:lstStyle/>
          <a:p>
            <a:fld id="{CA24A6F1-26C6-456D-B8ED-172D0398FE96}" type="slidenum">
              <a:rPr lang="en-IN" smtClean="0"/>
              <a:t>‹#›</a:t>
            </a:fld>
            <a:endParaRPr lang="en-IN"/>
          </a:p>
        </p:txBody>
      </p:sp>
    </p:spTree>
    <p:extLst>
      <p:ext uri="{BB962C8B-B14F-4D97-AF65-F5344CB8AC3E}">
        <p14:creationId xmlns:p14="http://schemas.microsoft.com/office/powerpoint/2010/main" val="24618389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81543-78C2-98E8-9703-6FD745B36F5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9A06A56-0795-2C26-9A4D-4A59999368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AC5A942-0CD6-4932-9555-F655ACD3F457}"/>
              </a:ext>
            </a:extLst>
          </p:cNvPr>
          <p:cNvSpPr>
            <a:spLocks noGrp="1"/>
          </p:cNvSpPr>
          <p:nvPr>
            <p:ph type="dt" sz="half" idx="10"/>
          </p:nvPr>
        </p:nvSpPr>
        <p:spPr/>
        <p:txBody>
          <a:bodyPr/>
          <a:lstStyle/>
          <a:p>
            <a:fld id="{359C604C-D337-482B-9862-95580A470C60}" type="datetimeFigureOut">
              <a:rPr lang="en-IN" smtClean="0"/>
              <a:t>06-08-2025</a:t>
            </a:fld>
            <a:endParaRPr lang="en-IN"/>
          </a:p>
        </p:txBody>
      </p:sp>
      <p:sp>
        <p:nvSpPr>
          <p:cNvPr id="5" name="Footer Placeholder 4">
            <a:extLst>
              <a:ext uri="{FF2B5EF4-FFF2-40B4-BE49-F238E27FC236}">
                <a16:creationId xmlns:a16="http://schemas.microsoft.com/office/drawing/2014/main" id="{F33433FF-1F6E-E1F3-30F4-0CB27498881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AB9DB5A-6ECD-7DA7-F005-AA7EE77DBA26}"/>
              </a:ext>
            </a:extLst>
          </p:cNvPr>
          <p:cNvSpPr>
            <a:spLocks noGrp="1"/>
          </p:cNvSpPr>
          <p:nvPr>
            <p:ph type="sldNum" sz="quarter" idx="12"/>
          </p:nvPr>
        </p:nvSpPr>
        <p:spPr/>
        <p:txBody>
          <a:bodyPr/>
          <a:lstStyle/>
          <a:p>
            <a:fld id="{CA24A6F1-26C6-456D-B8ED-172D0398FE96}" type="slidenum">
              <a:rPr lang="en-IN" smtClean="0"/>
              <a:t>‹#›</a:t>
            </a:fld>
            <a:endParaRPr lang="en-IN"/>
          </a:p>
        </p:txBody>
      </p:sp>
    </p:spTree>
    <p:extLst>
      <p:ext uri="{BB962C8B-B14F-4D97-AF65-F5344CB8AC3E}">
        <p14:creationId xmlns:p14="http://schemas.microsoft.com/office/powerpoint/2010/main" val="41840824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F4FEEF9-558B-090C-D165-D610FF63943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C9C274B-6BD1-F306-D734-94EE74EC57C1}"/>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95D45E-CA2F-EFEE-8635-038B47915DA7}"/>
              </a:ext>
            </a:extLst>
          </p:cNvPr>
          <p:cNvSpPr>
            <a:spLocks noGrp="1"/>
          </p:cNvSpPr>
          <p:nvPr>
            <p:ph type="dt" sz="half" idx="10"/>
          </p:nvPr>
        </p:nvSpPr>
        <p:spPr/>
        <p:txBody>
          <a:bodyPr/>
          <a:lstStyle/>
          <a:p>
            <a:fld id="{359C604C-D337-482B-9862-95580A470C60}" type="datetimeFigureOut">
              <a:rPr lang="en-IN" smtClean="0"/>
              <a:t>06-08-2025</a:t>
            </a:fld>
            <a:endParaRPr lang="en-IN"/>
          </a:p>
        </p:txBody>
      </p:sp>
      <p:sp>
        <p:nvSpPr>
          <p:cNvPr id="5" name="Footer Placeholder 4">
            <a:extLst>
              <a:ext uri="{FF2B5EF4-FFF2-40B4-BE49-F238E27FC236}">
                <a16:creationId xmlns:a16="http://schemas.microsoft.com/office/drawing/2014/main" id="{D44AC148-2A38-6672-B5C0-BDEDFBA74BB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4C45B4-779D-7B4F-0B15-A4C127B2139F}"/>
              </a:ext>
            </a:extLst>
          </p:cNvPr>
          <p:cNvSpPr>
            <a:spLocks noGrp="1"/>
          </p:cNvSpPr>
          <p:nvPr>
            <p:ph type="sldNum" sz="quarter" idx="12"/>
          </p:nvPr>
        </p:nvSpPr>
        <p:spPr/>
        <p:txBody>
          <a:bodyPr/>
          <a:lstStyle/>
          <a:p>
            <a:fld id="{CA24A6F1-26C6-456D-B8ED-172D0398FE96}" type="slidenum">
              <a:rPr lang="en-IN" smtClean="0"/>
              <a:t>‹#›</a:t>
            </a:fld>
            <a:endParaRPr lang="en-IN"/>
          </a:p>
        </p:txBody>
      </p:sp>
    </p:spTree>
    <p:extLst>
      <p:ext uri="{BB962C8B-B14F-4D97-AF65-F5344CB8AC3E}">
        <p14:creationId xmlns:p14="http://schemas.microsoft.com/office/powerpoint/2010/main" val="5259629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5221307-B7C6-E1BB-A47D-AF75369A6DB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6281163-9079-5827-E193-957D7AAEA80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8A3CB83-A145-FDCA-201F-7431815E374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59C604C-D337-482B-9862-95580A470C60}" type="datetimeFigureOut">
              <a:rPr lang="en-IN" smtClean="0"/>
              <a:t>06-08-2025</a:t>
            </a:fld>
            <a:endParaRPr lang="en-IN"/>
          </a:p>
        </p:txBody>
      </p:sp>
      <p:sp>
        <p:nvSpPr>
          <p:cNvPr id="5" name="Footer Placeholder 4">
            <a:extLst>
              <a:ext uri="{FF2B5EF4-FFF2-40B4-BE49-F238E27FC236}">
                <a16:creationId xmlns:a16="http://schemas.microsoft.com/office/drawing/2014/main" id="{3DB86C83-8E31-DAFA-1A57-6EA224B1C0C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767C48F7-282B-CE18-21BC-299E80F4A8B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24A6F1-26C6-456D-B8ED-172D0398FE96}" type="slidenum">
              <a:rPr lang="en-IN" smtClean="0"/>
              <a:t>‹#›</a:t>
            </a:fld>
            <a:endParaRPr lang="en-IN"/>
          </a:p>
        </p:txBody>
      </p:sp>
    </p:spTree>
    <p:extLst>
      <p:ext uri="{BB962C8B-B14F-4D97-AF65-F5344CB8AC3E}">
        <p14:creationId xmlns:p14="http://schemas.microsoft.com/office/powerpoint/2010/main" val="6813394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647EAA5E-61B0-A3AB-21DB-6D1FDFD345A6}"/>
              </a:ext>
            </a:extLst>
          </p:cNvPr>
          <p:cNvSpPr>
            <a:spLocks noGrp="1"/>
          </p:cNvSpPr>
          <p:nvPr>
            <p:ph type="subTitle" idx="1"/>
          </p:nvPr>
        </p:nvSpPr>
        <p:spPr>
          <a:xfrm>
            <a:off x="641268" y="2139192"/>
            <a:ext cx="11550731" cy="4718807"/>
          </a:xfrm>
        </p:spPr>
        <p:txBody>
          <a:bodyPr>
            <a:normAutofit/>
          </a:bodyPr>
          <a:lstStyle/>
          <a:p>
            <a:r>
              <a:rPr lang="en-IN" sz="4800" dirty="0">
                <a:solidFill>
                  <a:schemeClr val="accent1"/>
                </a:solidFill>
              </a:rPr>
              <a:t>AI-powered Interview Assessment Tool      </a:t>
            </a:r>
          </a:p>
          <a:p>
            <a:pPr algn="l"/>
            <a:r>
              <a:rPr lang="en-IN" sz="4000" dirty="0">
                <a:solidFill>
                  <a:schemeClr val="accent1"/>
                </a:solidFill>
              </a:rPr>
              <a:t>         </a:t>
            </a:r>
            <a:r>
              <a:rPr lang="en-IN" dirty="0">
                <a:solidFill>
                  <a:srgbClr val="FF0000"/>
                </a:solidFill>
              </a:rPr>
              <a:t>GUIDE NAME</a:t>
            </a:r>
            <a:r>
              <a:rPr lang="en-IN" sz="2600" dirty="0">
                <a:solidFill>
                  <a:srgbClr val="FF0000"/>
                </a:solidFill>
              </a:rPr>
              <a:t>:         </a:t>
            </a:r>
            <a:r>
              <a:rPr lang="en-IN" sz="2600" dirty="0">
                <a:solidFill>
                  <a:srgbClr val="002060"/>
                </a:solidFill>
              </a:rPr>
              <a:t>Ms Jeena George</a:t>
            </a:r>
          </a:p>
          <a:p>
            <a:pPr algn="l"/>
            <a:br>
              <a:rPr lang="en-IN" sz="2600" dirty="0">
                <a:solidFill>
                  <a:srgbClr val="FF0000"/>
                </a:solidFill>
              </a:rPr>
            </a:br>
            <a:r>
              <a:rPr lang="en-IN" dirty="0">
                <a:solidFill>
                  <a:srgbClr val="FF0000"/>
                </a:solidFill>
              </a:rPr>
              <a:t>               TEAM MEMBERS:   </a:t>
            </a:r>
            <a:r>
              <a:rPr lang="en-IN" dirty="0">
                <a:solidFill>
                  <a:schemeClr val="accent2"/>
                </a:solidFill>
              </a:rPr>
              <a:t>AMITH SAHADEVAN, PRC22CA006</a:t>
            </a:r>
          </a:p>
          <a:p>
            <a:pPr algn="l"/>
            <a:r>
              <a:rPr lang="en-IN" dirty="0">
                <a:solidFill>
                  <a:schemeClr val="accent2"/>
                </a:solidFill>
              </a:rPr>
              <a:t>                                                 RAHUL SANDESH, PRC22CA022</a:t>
            </a:r>
          </a:p>
          <a:p>
            <a:pPr algn="l"/>
            <a:r>
              <a:rPr lang="en-IN" dirty="0">
                <a:solidFill>
                  <a:schemeClr val="accent2"/>
                </a:solidFill>
              </a:rPr>
              <a:t>                                                 SHESNA S, PRC22CA025</a:t>
            </a:r>
          </a:p>
        </p:txBody>
      </p:sp>
      <p:pic>
        <p:nvPicPr>
          <p:cNvPr id="7" name="Google Shape;315;p1">
            <a:extLst>
              <a:ext uri="{FF2B5EF4-FFF2-40B4-BE49-F238E27FC236}">
                <a16:creationId xmlns:a16="http://schemas.microsoft.com/office/drawing/2014/main" id="{E3827C17-DA87-5EC3-F890-5DB4BC66F768}"/>
              </a:ext>
            </a:extLst>
          </p:cNvPr>
          <p:cNvPicPr preferRelativeResize="0"/>
          <p:nvPr/>
        </p:nvPicPr>
        <p:blipFill rotWithShape="1">
          <a:blip r:embed="rId2">
            <a:alphaModFix/>
          </a:blip>
          <a:srcRect/>
          <a:stretch/>
        </p:blipFill>
        <p:spPr>
          <a:xfrm>
            <a:off x="0" y="0"/>
            <a:ext cx="2028825" cy="1428750"/>
          </a:xfrm>
          <a:prstGeom prst="rect">
            <a:avLst/>
          </a:prstGeom>
          <a:noFill/>
          <a:ln>
            <a:noFill/>
          </a:ln>
        </p:spPr>
      </p:pic>
      <p:pic>
        <p:nvPicPr>
          <p:cNvPr id="8" name="Google Shape;317;p1">
            <a:extLst>
              <a:ext uri="{FF2B5EF4-FFF2-40B4-BE49-F238E27FC236}">
                <a16:creationId xmlns:a16="http://schemas.microsoft.com/office/drawing/2014/main" id="{2134147A-0480-A606-BD89-103875082770}"/>
              </a:ext>
            </a:extLst>
          </p:cNvPr>
          <p:cNvPicPr preferRelativeResize="0"/>
          <p:nvPr/>
        </p:nvPicPr>
        <p:blipFill rotWithShape="1">
          <a:blip r:embed="rId3">
            <a:alphaModFix/>
          </a:blip>
          <a:srcRect/>
          <a:stretch/>
        </p:blipFill>
        <p:spPr>
          <a:xfrm>
            <a:off x="8893228" y="0"/>
            <a:ext cx="3244494" cy="1528175"/>
          </a:xfrm>
          <a:prstGeom prst="rect">
            <a:avLst/>
          </a:prstGeom>
          <a:noFill/>
          <a:ln>
            <a:noFill/>
          </a:ln>
        </p:spPr>
      </p:pic>
      <p:sp>
        <p:nvSpPr>
          <p:cNvPr id="11" name="Google Shape;316;p1">
            <a:extLst>
              <a:ext uri="{FF2B5EF4-FFF2-40B4-BE49-F238E27FC236}">
                <a16:creationId xmlns:a16="http://schemas.microsoft.com/office/drawing/2014/main" id="{199D136E-EAD8-5756-0E4F-CB9D9C0DF11E}"/>
              </a:ext>
            </a:extLst>
          </p:cNvPr>
          <p:cNvSpPr txBox="1">
            <a:spLocks noGrp="1"/>
          </p:cNvSpPr>
          <p:nvPr>
            <p:ph type="ctrTitle"/>
          </p:nvPr>
        </p:nvSpPr>
        <p:spPr>
          <a:xfrm>
            <a:off x="0" y="1714501"/>
            <a:ext cx="12192000" cy="424691"/>
          </a:xfrm>
          <a:prstGeom prst="rect">
            <a:avLst/>
          </a:prstGeom>
          <a:solidFill>
            <a:srgbClr val="C00000"/>
          </a:solid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IN" sz="2400" b="1" dirty="0">
                <a:solidFill>
                  <a:srgbClr val="FFCC00"/>
                </a:solidFill>
                <a:latin typeface="Times New Roman"/>
                <a:cs typeface="Times New Roman"/>
                <a:sym typeface="Times New Roman"/>
              </a:rPr>
              <a:t>PROJECT PHASE I</a:t>
            </a:r>
            <a:endParaRPr dirty="0"/>
          </a:p>
        </p:txBody>
      </p:sp>
    </p:spTree>
    <p:extLst>
      <p:ext uri="{BB962C8B-B14F-4D97-AF65-F5344CB8AC3E}">
        <p14:creationId xmlns:p14="http://schemas.microsoft.com/office/powerpoint/2010/main" val="29660717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315;p1">
            <a:extLst>
              <a:ext uri="{FF2B5EF4-FFF2-40B4-BE49-F238E27FC236}">
                <a16:creationId xmlns:a16="http://schemas.microsoft.com/office/drawing/2014/main" id="{D96A749D-236B-6CB4-583B-D480D6973526}"/>
              </a:ext>
            </a:extLst>
          </p:cNvPr>
          <p:cNvPicPr preferRelativeResize="0"/>
          <p:nvPr/>
        </p:nvPicPr>
        <p:blipFill rotWithShape="1">
          <a:blip r:embed="rId2">
            <a:alphaModFix/>
          </a:blip>
          <a:srcRect/>
          <a:stretch/>
        </p:blipFill>
        <p:spPr>
          <a:xfrm>
            <a:off x="0" y="50104"/>
            <a:ext cx="977029" cy="720639"/>
          </a:xfrm>
          <a:prstGeom prst="rect">
            <a:avLst/>
          </a:prstGeom>
          <a:noFill/>
          <a:ln>
            <a:noFill/>
          </a:ln>
        </p:spPr>
      </p:pic>
      <p:pic>
        <p:nvPicPr>
          <p:cNvPr id="5" name="Google Shape;317;p1">
            <a:extLst>
              <a:ext uri="{FF2B5EF4-FFF2-40B4-BE49-F238E27FC236}">
                <a16:creationId xmlns:a16="http://schemas.microsoft.com/office/drawing/2014/main" id="{1FBE81B4-4955-35B4-4D5B-CCF271FB2161}"/>
              </a:ext>
            </a:extLst>
          </p:cNvPr>
          <p:cNvPicPr preferRelativeResize="0"/>
          <p:nvPr/>
        </p:nvPicPr>
        <p:blipFill rotWithShape="1">
          <a:blip r:embed="rId3">
            <a:alphaModFix/>
          </a:blip>
          <a:srcRect/>
          <a:stretch/>
        </p:blipFill>
        <p:spPr>
          <a:xfrm>
            <a:off x="10615808" y="50104"/>
            <a:ext cx="1576192" cy="770351"/>
          </a:xfrm>
          <a:prstGeom prst="rect">
            <a:avLst/>
          </a:prstGeom>
          <a:noFill/>
          <a:ln>
            <a:noFill/>
          </a:ln>
        </p:spPr>
      </p:pic>
      <p:sp>
        <p:nvSpPr>
          <p:cNvPr id="6" name="Google Shape;322;p2">
            <a:extLst>
              <a:ext uri="{FF2B5EF4-FFF2-40B4-BE49-F238E27FC236}">
                <a16:creationId xmlns:a16="http://schemas.microsoft.com/office/drawing/2014/main" id="{E19089FE-D193-7D4C-2536-D9DAF369A843}"/>
              </a:ext>
            </a:extLst>
          </p:cNvPr>
          <p:cNvSpPr txBox="1">
            <a:spLocks noGrp="1"/>
          </p:cNvSpPr>
          <p:nvPr>
            <p:ph type="title"/>
          </p:nvPr>
        </p:nvSpPr>
        <p:spPr>
          <a:xfrm>
            <a:off x="838200" y="771525"/>
            <a:ext cx="10515600" cy="919163"/>
          </a:xfrm>
          <a:prstGeom prst="rect">
            <a:avLst/>
          </a:prstGeom>
          <a:solidFill>
            <a:srgbClr val="C00000"/>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C00"/>
              </a:buClr>
              <a:buSzPct val="100000"/>
              <a:buFont typeface="Times New Roman"/>
              <a:buNone/>
            </a:pPr>
            <a:r>
              <a:rPr lang="en-IN" b="1" dirty="0">
                <a:solidFill>
                  <a:srgbClr val="FFCC00"/>
                </a:solidFill>
                <a:latin typeface="Times New Roman"/>
                <a:ea typeface="Times New Roman"/>
                <a:cs typeface="Times New Roman"/>
                <a:sym typeface="Times New Roman"/>
              </a:rPr>
              <a:t>INTRODUCTION</a:t>
            </a:r>
            <a:endParaRPr dirty="0"/>
          </a:p>
        </p:txBody>
      </p:sp>
      <p:sp>
        <p:nvSpPr>
          <p:cNvPr id="10" name="Rectangle 4">
            <a:extLst>
              <a:ext uri="{FF2B5EF4-FFF2-40B4-BE49-F238E27FC236}">
                <a16:creationId xmlns:a16="http://schemas.microsoft.com/office/drawing/2014/main" id="{4EBD2DC8-5809-772E-BDED-A4E2C314CB3C}"/>
              </a:ext>
            </a:extLst>
          </p:cNvPr>
          <p:cNvSpPr>
            <a:spLocks noGrp="1" noChangeArrowheads="1"/>
          </p:cNvSpPr>
          <p:nvPr>
            <p:ph idx="1"/>
          </p:nvPr>
        </p:nvSpPr>
        <p:spPr bwMode="auto">
          <a:xfrm>
            <a:off x="891112" y="1977402"/>
            <a:ext cx="10515599"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Background:</a:t>
            </a:r>
            <a:r>
              <a:rPr kumimoji="0" lang="en-US" altLang="en-US" sz="1800" b="0" i="0" u="none" strike="noStrike" cap="none" normalizeH="0" baseline="0" dirty="0">
                <a:ln>
                  <a:noFill/>
                </a:ln>
                <a:solidFill>
                  <a:schemeClr val="tx1"/>
                </a:solidFill>
                <a:effectLst/>
                <a:latin typeface="Arial" panose="020B0604020202020204" pitchFamily="34" charset="0"/>
              </a:rPr>
              <a:t> The modern recruitment landscape presents significant challenges for companies. Hiring managers are faced with a high volume of applications for every open position, making the initial screening process both time-consuming and costly. Recognizing this gap, the Human Resources industry is increasingly turning to Artificial Intelligence to drive efficiency and gain a competitive edge.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Existing System:</a:t>
            </a:r>
            <a:r>
              <a:rPr kumimoji="0" lang="en-US" altLang="en-US" sz="1800" b="0" i="0" u="none" strike="noStrike" cap="none" normalizeH="0" baseline="0" dirty="0">
                <a:ln>
                  <a:noFill/>
                </a:ln>
                <a:solidFill>
                  <a:schemeClr val="tx1"/>
                </a:solidFill>
                <a:effectLst/>
                <a:latin typeface="Arial" panose="020B0604020202020204" pitchFamily="34" charset="0"/>
              </a:rPr>
              <a:t> Traditional methods, like resume reviews, can identify technical qualifications but fail to provide any insight into a candidate's crucial soft skills, communication abilities, and professional demeanor. </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rPr>
              <a:t>Concept:</a:t>
            </a:r>
            <a:r>
              <a:rPr kumimoji="0" lang="en-US" altLang="en-US" sz="1800" b="0" i="0" u="none" strike="noStrike" cap="none" normalizeH="0" baseline="0" dirty="0">
                <a:ln>
                  <a:noFill/>
                </a:ln>
                <a:solidFill>
                  <a:schemeClr val="tx1"/>
                </a:solidFill>
                <a:effectLst/>
                <a:latin typeface="Arial" panose="020B0604020202020204" pitchFamily="34" charset="0"/>
              </a:rPr>
              <a:t> This project positions itself at the forefront of this trend, aiming to create an intelligent tool that provides companies with a deep, objective analysis of a candidate's overall communication package. </a:t>
            </a:r>
          </a:p>
        </p:txBody>
      </p:sp>
    </p:spTree>
    <p:extLst>
      <p:ext uri="{BB962C8B-B14F-4D97-AF65-F5344CB8AC3E}">
        <p14:creationId xmlns:p14="http://schemas.microsoft.com/office/powerpoint/2010/main" val="57260036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39B3C1-F317-7A64-850E-E4840CD0F2F1}"/>
              </a:ext>
            </a:extLst>
          </p:cNvPr>
          <p:cNvSpPr>
            <a:spLocks noGrp="1"/>
          </p:cNvSpPr>
          <p:nvPr>
            <p:ph idx="1"/>
          </p:nvPr>
        </p:nvSpPr>
        <p:spPr/>
        <p:txBody>
          <a:bodyPr>
            <a:normAutofit/>
          </a:bodyPr>
          <a:lstStyle/>
          <a:p>
            <a:r>
              <a:rPr lang="en-US" dirty="0"/>
              <a:t>The traditional interview process is time-consuming, subjective, and often inconsistent. Companies spend valuable resources on initial screenings, only to face inefficiencies caused by human bias, varying evaluation standards, and the influence of the interviewer’s mood. These factors can result in the rejection of capable candidates or the advancement of unsuitable ones. There is a clear need for an objective, automated system that fairly evaluates both verbal and non-verbal communication skills, helping streamline and standardize early-stage candidate assessments.</a:t>
            </a:r>
            <a:endParaRPr lang="en-IN" dirty="0"/>
          </a:p>
        </p:txBody>
      </p:sp>
      <p:pic>
        <p:nvPicPr>
          <p:cNvPr id="4" name="Google Shape;315;p1">
            <a:extLst>
              <a:ext uri="{FF2B5EF4-FFF2-40B4-BE49-F238E27FC236}">
                <a16:creationId xmlns:a16="http://schemas.microsoft.com/office/drawing/2014/main" id="{C44A1088-4307-8769-74F0-7AAB91BADE60}"/>
              </a:ext>
            </a:extLst>
          </p:cNvPr>
          <p:cNvPicPr preferRelativeResize="0"/>
          <p:nvPr/>
        </p:nvPicPr>
        <p:blipFill rotWithShape="1">
          <a:blip r:embed="rId2">
            <a:alphaModFix/>
          </a:blip>
          <a:srcRect/>
          <a:stretch/>
        </p:blipFill>
        <p:spPr>
          <a:xfrm>
            <a:off x="0" y="95868"/>
            <a:ext cx="977029" cy="720639"/>
          </a:xfrm>
          <a:prstGeom prst="rect">
            <a:avLst/>
          </a:prstGeom>
          <a:noFill/>
          <a:ln>
            <a:noFill/>
          </a:ln>
        </p:spPr>
      </p:pic>
      <p:pic>
        <p:nvPicPr>
          <p:cNvPr id="5" name="Google Shape;317;p1">
            <a:extLst>
              <a:ext uri="{FF2B5EF4-FFF2-40B4-BE49-F238E27FC236}">
                <a16:creationId xmlns:a16="http://schemas.microsoft.com/office/drawing/2014/main" id="{5120236C-4839-C0B1-56C4-C41B767752B4}"/>
              </a:ext>
            </a:extLst>
          </p:cNvPr>
          <p:cNvPicPr preferRelativeResize="0"/>
          <p:nvPr/>
        </p:nvPicPr>
        <p:blipFill rotWithShape="1">
          <a:blip r:embed="rId3">
            <a:alphaModFix/>
          </a:blip>
          <a:srcRect/>
          <a:stretch/>
        </p:blipFill>
        <p:spPr>
          <a:xfrm>
            <a:off x="10672174" y="50104"/>
            <a:ext cx="1519825" cy="630933"/>
          </a:xfrm>
          <a:prstGeom prst="rect">
            <a:avLst/>
          </a:prstGeom>
          <a:noFill/>
          <a:ln>
            <a:noFill/>
          </a:ln>
        </p:spPr>
      </p:pic>
      <p:sp>
        <p:nvSpPr>
          <p:cNvPr id="8" name="Google Shape;342;p4">
            <a:extLst>
              <a:ext uri="{FF2B5EF4-FFF2-40B4-BE49-F238E27FC236}">
                <a16:creationId xmlns:a16="http://schemas.microsoft.com/office/drawing/2014/main" id="{10A7E779-B0C8-0718-DE33-EB35FF9EFDAA}"/>
              </a:ext>
            </a:extLst>
          </p:cNvPr>
          <p:cNvSpPr txBox="1">
            <a:spLocks noGrp="1"/>
          </p:cNvSpPr>
          <p:nvPr>
            <p:ph type="title"/>
          </p:nvPr>
        </p:nvSpPr>
        <p:spPr>
          <a:xfrm>
            <a:off x="838201" y="951977"/>
            <a:ext cx="10515600" cy="848791"/>
          </a:xfrm>
          <a:prstGeom prst="rect">
            <a:avLst/>
          </a:prstGeom>
          <a:solidFill>
            <a:srgbClr val="C00000"/>
          </a:solid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FFCC00"/>
              </a:buClr>
              <a:buSzPct val="100000"/>
              <a:buFont typeface="Times New Roman"/>
              <a:buNone/>
            </a:pPr>
            <a:r>
              <a:rPr lang="en-IN" b="1" dirty="0">
                <a:solidFill>
                  <a:srgbClr val="FFCC00"/>
                </a:solidFill>
                <a:latin typeface="Times New Roman"/>
                <a:ea typeface="Times New Roman"/>
                <a:cs typeface="Times New Roman"/>
                <a:sym typeface="Times New Roman"/>
              </a:rPr>
              <a:t>PROBLEM STATEMENT</a:t>
            </a:r>
            <a:endParaRPr dirty="0"/>
          </a:p>
        </p:txBody>
      </p:sp>
    </p:spTree>
    <p:extLst>
      <p:ext uri="{BB962C8B-B14F-4D97-AF65-F5344CB8AC3E}">
        <p14:creationId xmlns:p14="http://schemas.microsoft.com/office/powerpoint/2010/main" val="36188276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53432-E4FA-F814-E4C5-D3786875EFCB}"/>
              </a:ext>
            </a:extLst>
          </p:cNvPr>
          <p:cNvSpPr>
            <a:spLocks noGrp="1"/>
          </p:cNvSpPr>
          <p:nvPr>
            <p:ph type="title"/>
          </p:nvPr>
        </p:nvSpPr>
        <p:spPr/>
        <p:txBody>
          <a:bodyPr/>
          <a:lstStyle/>
          <a:p>
            <a:endParaRPr lang="en-IN" dirty="0"/>
          </a:p>
        </p:txBody>
      </p:sp>
      <p:pic>
        <p:nvPicPr>
          <p:cNvPr id="4" name="Google Shape;315;p1">
            <a:extLst>
              <a:ext uri="{FF2B5EF4-FFF2-40B4-BE49-F238E27FC236}">
                <a16:creationId xmlns:a16="http://schemas.microsoft.com/office/drawing/2014/main" id="{C45EFDAC-9993-D7E5-4432-524F0284E52F}"/>
              </a:ext>
            </a:extLst>
          </p:cNvPr>
          <p:cNvPicPr preferRelativeResize="0"/>
          <p:nvPr/>
        </p:nvPicPr>
        <p:blipFill rotWithShape="1">
          <a:blip r:embed="rId2">
            <a:alphaModFix/>
          </a:blip>
          <a:srcRect/>
          <a:stretch/>
        </p:blipFill>
        <p:spPr>
          <a:xfrm>
            <a:off x="62630" y="26247"/>
            <a:ext cx="977029" cy="720639"/>
          </a:xfrm>
          <a:prstGeom prst="rect">
            <a:avLst/>
          </a:prstGeom>
          <a:noFill/>
          <a:ln>
            <a:noFill/>
          </a:ln>
        </p:spPr>
      </p:pic>
      <p:pic>
        <p:nvPicPr>
          <p:cNvPr id="5" name="Google Shape;317;p1">
            <a:extLst>
              <a:ext uri="{FF2B5EF4-FFF2-40B4-BE49-F238E27FC236}">
                <a16:creationId xmlns:a16="http://schemas.microsoft.com/office/drawing/2014/main" id="{08A59B38-DF22-CA18-4E7C-E0D2570FE0B9}"/>
              </a:ext>
            </a:extLst>
          </p:cNvPr>
          <p:cNvPicPr preferRelativeResize="0"/>
          <p:nvPr/>
        </p:nvPicPr>
        <p:blipFill rotWithShape="1">
          <a:blip r:embed="rId3">
            <a:alphaModFix/>
          </a:blip>
          <a:srcRect/>
          <a:stretch/>
        </p:blipFill>
        <p:spPr>
          <a:xfrm>
            <a:off x="10672174" y="8252"/>
            <a:ext cx="1519825" cy="630933"/>
          </a:xfrm>
          <a:prstGeom prst="rect">
            <a:avLst/>
          </a:prstGeom>
          <a:noFill/>
          <a:ln>
            <a:noFill/>
          </a:ln>
        </p:spPr>
      </p:pic>
      <p:sp>
        <p:nvSpPr>
          <p:cNvPr id="6" name="Google Shape;342;p4">
            <a:extLst>
              <a:ext uri="{FF2B5EF4-FFF2-40B4-BE49-F238E27FC236}">
                <a16:creationId xmlns:a16="http://schemas.microsoft.com/office/drawing/2014/main" id="{4D2A574B-D60D-7D8E-D8CF-7444650BC32D}"/>
              </a:ext>
            </a:extLst>
          </p:cNvPr>
          <p:cNvSpPr txBox="1">
            <a:spLocks/>
          </p:cNvSpPr>
          <p:nvPr/>
        </p:nvSpPr>
        <p:spPr>
          <a:xfrm>
            <a:off x="838201" y="774122"/>
            <a:ext cx="10515600" cy="848791"/>
          </a:xfrm>
          <a:prstGeom prst="rect">
            <a:avLst/>
          </a:prstGeom>
          <a:solidFill>
            <a:srgbClr val="C00000"/>
          </a:solid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rgbClr val="FFCC00"/>
              </a:buClr>
              <a:buSzPct val="100000"/>
            </a:pPr>
            <a:r>
              <a:rPr lang="en-US" dirty="0">
                <a:solidFill>
                  <a:schemeClr val="accent4"/>
                </a:solidFill>
                <a:latin typeface="Times New Roman" panose="02020603050405020304" pitchFamily="18" charset="0"/>
                <a:cs typeface="Times New Roman" panose="02020603050405020304" pitchFamily="18" charset="0"/>
              </a:rPr>
              <a:t>Research Objectives of the Study</a:t>
            </a:r>
            <a:endParaRPr lang="en-IN" dirty="0">
              <a:solidFill>
                <a:schemeClr val="accent4"/>
              </a:solidFill>
              <a:latin typeface="Times New Roman" panose="02020603050405020304" pitchFamily="18" charset="0"/>
              <a:cs typeface="Times New Roman" panose="02020603050405020304" pitchFamily="18" charset="0"/>
            </a:endParaRPr>
          </a:p>
        </p:txBody>
      </p:sp>
      <p:sp>
        <p:nvSpPr>
          <p:cNvPr id="10" name="Rectangle 4">
            <a:extLst>
              <a:ext uri="{FF2B5EF4-FFF2-40B4-BE49-F238E27FC236}">
                <a16:creationId xmlns:a16="http://schemas.microsoft.com/office/drawing/2014/main" id="{6BFDA7F1-E1DF-8221-4EB4-BA49B75EA527}"/>
              </a:ext>
            </a:extLst>
          </p:cNvPr>
          <p:cNvSpPr>
            <a:spLocks noGrp="1" noChangeArrowheads="1"/>
          </p:cNvSpPr>
          <p:nvPr>
            <p:ph idx="1"/>
          </p:nvPr>
        </p:nvSpPr>
        <p:spPr bwMode="auto">
          <a:xfrm>
            <a:off x="838200" y="1850277"/>
            <a:ext cx="9511653"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Voice-Based Mock Interviews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Verbal Response Analysis (NLP)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Non-Verbal &amp; Body Language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Vocal Tone &amp; Speech Pattern Analysis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Comprehensive Performance Reports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Automated &amp; Unbiased Feedback</a:t>
            </a:r>
          </a:p>
        </p:txBody>
      </p:sp>
    </p:spTree>
    <p:extLst>
      <p:ext uri="{BB962C8B-B14F-4D97-AF65-F5344CB8AC3E}">
        <p14:creationId xmlns:p14="http://schemas.microsoft.com/office/powerpoint/2010/main" val="23328141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99AFE6-8EE3-481F-96A4-8C87B400EA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78F235-DAC2-A937-1D8A-4B50244A3542}"/>
              </a:ext>
            </a:extLst>
          </p:cNvPr>
          <p:cNvSpPr>
            <a:spLocks noGrp="1"/>
          </p:cNvSpPr>
          <p:nvPr>
            <p:ph type="title"/>
          </p:nvPr>
        </p:nvSpPr>
        <p:spPr/>
        <p:txBody>
          <a:bodyPr/>
          <a:lstStyle/>
          <a:p>
            <a:endParaRPr lang="en-IN" dirty="0"/>
          </a:p>
        </p:txBody>
      </p:sp>
      <p:pic>
        <p:nvPicPr>
          <p:cNvPr id="4" name="Google Shape;315;p1">
            <a:extLst>
              <a:ext uri="{FF2B5EF4-FFF2-40B4-BE49-F238E27FC236}">
                <a16:creationId xmlns:a16="http://schemas.microsoft.com/office/drawing/2014/main" id="{A8C679CF-F73F-B345-3C16-58D3F630BDD3}"/>
              </a:ext>
            </a:extLst>
          </p:cNvPr>
          <p:cNvPicPr preferRelativeResize="0"/>
          <p:nvPr/>
        </p:nvPicPr>
        <p:blipFill rotWithShape="1">
          <a:blip r:embed="rId2">
            <a:alphaModFix/>
          </a:blip>
          <a:srcRect/>
          <a:stretch/>
        </p:blipFill>
        <p:spPr>
          <a:xfrm>
            <a:off x="62630" y="26247"/>
            <a:ext cx="977029" cy="720639"/>
          </a:xfrm>
          <a:prstGeom prst="rect">
            <a:avLst/>
          </a:prstGeom>
          <a:noFill/>
          <a:ln>
            <a:noFill/>
          </a:ln>
        </p:spPr>
      </p:pic>
      <p:pic>
        <p:nvPicPr>
          <p:cNvPr id="5" name="Google Shape;317;p1">
            <a:extLst>
              <a:ext uri="{FF2B5EF4-FFF2-40B4-BE49-F238E27FC236}">
                <a16:creationId xmlns:a16="http://schemas.microsoft.com/office/drawing/2014/main" id="{F413EB6D-DF6B-02F0-13C4-5EDD1A6E69D4}"/>
              </a:ext>
            </a:extLst>
          </p:cNvPr>
          <p:cNvPicPr preferRelativeResize="0"/>
          <p:nvPr/>
        </p:nvPicPr>
        <p:blipFill rotWithShape="1">
          <a:blip r:embed="rId3">
            <a:alphaModFix/>
          </a:blip>
          <a:srcRect/>
          <a:stretch/>
        </p:blipFill>
        <p:spPr>
          <a:xfrm>
            <a:off x="10672174" y="8252"/>
            <a:ext cx="1519825" cy="630933"/>
          </a:xfrm>
          <a:prstGeom prst="rect">
            <a:avLst/>
          </a:prstGeom>
          <a:noFill/>
          <a:ln>
            <a:noFill/>
          </a:ln>
        </p:spPr>
      </p:pic>
      <p:sp>
        <p:nvSpPr>
          <p:cNvPr id="6" name="Google Shape;342;p4">
            <a:extLst>
              <a:ext uri="{FF2B5EF4-FFF2-40B4-BE49-F238E27FC236}">
                <a16:creationId xmlns:a16="http://schemas.microsoft.com/office/drawing/2014/main" id="{FDA570D8-237D-C708-3979-1C8D8FDEE80B}"/>
              </a:ext>
            </a:extLst>
          </p:cNvPr>
          <p:cNvSpPr txBox="1">
            <a:spLocks/>
          </p:cNvSpPr>
          <p:nvPr/>
        </p:nvSpPr>
        <p:spPr>
          <a:xfrm>
            <a:off x="838201" y="774122"/>
            <a:ext cx="10515600" cy="848791"/>
          </a:xfrm>
          <a:prstGeom prst="rect">
            <a:avLst/>
          </a:prstGeom>
          <a:solidFill>
            <a:srgbClr val="C00000"/>
          </a:solid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rgbClr val="FFCC00"/>
              </a:buClr>
              <a:buSzPct val="100000"/>
            </a:pPr>
            <a:r>
              <a:rPr lang="en-US" dirty="0">
                <a:solidFill>
                  <a:schemeClr val="accent4"/>
                </a:solidFill>
                <a:latin typeface="Times New Roman" panose="02020603050405020304" pitchFamily="18" charset="0"/>
                <a:cs typeface="Times New Roman" panose="02020603050405020304" pitchFamily="18" charset="0"/>
              </a:rPr>
              <a:t>Proposed Methodologies</a:t>
            </a:r>
            <a:endParaRPr lang="en-IN" dirty="0">
              <a:solidFill>
                <a:schemeClr val="accent4"/>
              </a:solidFill>
              <a:latin typeface="Times New Roman" panose="02020603050405020304" pitchFamily="18" charset="0"/>
              <a:cs typeface="Times New Roman" panose="02020603050405020304" pitchFamily="18" charset="0"/>
            </a:endParaRPr>
          </a:p>
        </p:txBody>
      </p:sp>
      <p:sp>
        <p:nvSpPr>
          <p:cNvPr id="7" name="Rectangle 1">
            <a:extLst>
              <a:ext uri="{FF2B5EF4-FFF2-40B4-BE49-F238E27FC236}">
                <a16:creationId xmlns:a16="http://schemas.microsoft.com/office/drawing/2014/main" id="{7CB66A70-D4F0-00DB-CB29-20443CAEC150}"/>
              </a:ext>
            </a:extLst>
          </p:cNvPr>
          <p:cNvSpPr>
            <a:spLocks noGrp="1" noChangeArrowheads="1"/>
          </p:cNvSpPr>
          <p:nvPr>
            <p:ph idx="1"/>
          </p:nvPr>
        </p:nvSpPr>
        <p:spPr bwMode="auto">
          <a:xfrm>
            <a:off x="838200" y="1903969"/>
            <a:ext cx="10932399" cy="1742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600" dirty="0"/>
              <a:t>Core Technologies: </a:t>
            </a:r>
          </a:p>
          <a:p>
            <a:pPr lvl="1"/>
            <a:r>
              <a:rPr lang="en-US" sz="1600" dirty="0"/>
              <a:t>Speech-to-Text: Whisper / Google Speech </a:t>
            </a:r>
          </a:p>
          <a:p>
            <a:pPr lvl="1"/>
            <a:r>
              <a:rPr lang="en-US" sz="1600" dirty="0" err="1"/>
              <a:t>APIText</a:t>
            </a:r>
            <a:r>
              <a:rPr lang="en-US" sz="1600" dirty="0"/>
              <a:t>-to-Speech: </a:t>
            </a:r>
            <a:r>
              <a:rPr lang="en-US" sz="1600" dirty="0" err="1"/>
              <a:t>gTTS</a:t>
            </a:r>
            <a:r>
              <a:rPr lang="en-US" sz="1600" dirty="0"/>
              <a:t> / Polly</a:t>
            </a:r>
          </a:p>
          <a:p>
            <a:pPr lvl="1"/>
            <a:r>
              <a:rPr lang="en-US" sz="1600" dirty="0"/>
              <a:t>Computer Vision: OpenCV, </a:t>
            </a:r>
            <a:r>
              <a:rPr lang="en-US" sz="1600" dirty="0" err="1"/>
              <a:t>MediaPipe</a:t>
            </a:r>
            <a:endParaRPr lang="en-US" sz="1600" dirty="0"/>
          </a:p>
          <a:p>
            <a:pPr lvl="1"/>
            <a:r>
              <a:rPr lang="en-US" sz="1600" dirty="0"/>
              <a:t>Audio Analysis: </a:t>
            </a:r>
            <a:r>
              <a:rPr lang="en-US" sz="1600" dirty="0" err="1"/>
              <a:t>Librosa</a:t>
            </a:r>
            <a:endParaRPr lang="en-US" sz="1600" dirty="0"/>
          </a:p>
          <a:p>
            <a:pPr lvl="1"/>
            <a:r>
              <a:rPr lang="en-US" sz="1600" dirty="0"/>
              <a:t>NLP (Answer Analysis): </a:t>
            </a:r>
            <a:r>
              <a:rPr lang="en-US" sz="1600" dirty="0" err="1"/>
              <a:t>spaCy</a:t>
            </a:r>
            <a:r>
              <a:rPr lang="en-US" sz="1600" dirty="0"/>
              <a:t> / Transformers (BERT)</a:t>
            </a:r>
          </a:p>
        </p:txBody>
      </p:sp>
      <p:sp>
        <p:nvSpPr>
          <p:cNvPr id="3" name="Rectangle 1">
            <a:extLst>
              <a:ext uri="{FF2B5EF4-FFF2-40B4-BE49-F238E27FC236}">
                <a16:creationId xmlns:a16="http://schemas.microsoft.com/office/drawing/2014/main" id="{63D03DAC-0EC1-2AD2-8196-AB8E7F7D7E6E}"/>
              </a:ext>
            </a:extLst>
          </p:cNvPr>
          <p:cNvSpPr txBox="1">
            <a:spLocks noChangeArrowheads="1"/>
          </p:cNvSpPr>
          <p:nvPr/>
        </p:nvSpPr>
        <p:spPr bwMode="auto">
          <a:xfrm>
            <a:off x="838200" y="3850057"/>
            <a:ext cx="10932399" cy="14568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AI Agent Models: </a:t>
            </a:r>
          </a:p>
          <a:p>
            <a:pPr lvl="1"/>
            <a:r>
              <a:rPr lang="en-US" sz="1600" dirty="0"/>
              <a:t>Answer Analysis Agent – interprets verbal content</a:t>
            </a:r>
          </a:p>
          <a:p>
            <a:pPr lvl="1"/>
            <a:r>
              <a:rPr lang="en-US" sz="1600" dirty="0"/>
              <a:t>Voice Tone Agent – evaluates vocal confidence &amp; clarity</a:t>
            </a:r>
          </a:p>
          <a:p>
            <a:pPr lvl="1"/>
            <a:r>
              <a:rPr lang="en-US" sz="1600" dirty="0"/>
              <a:t>Body Language Agent – detects gestures, posture, expressions</a:t>
            </a:r>
          </a:p>
          <a:p>
            <a:pPr lvl="1"/>
            <a:r>
              <a:rPr lang="en-US" sz="1600" dirty="0"/>
              <a:t>Scoring Agent – aggregates results &amp; provides feedback</a:t>
            </a:r>
          </a:p>
        </p:txBody>
      </p:sp>
      <p:sp>
        <p:nvSpPr>
          <p:cNvPr id="9" name="Rectangle 1">
            <a:extLst>
              <a:ext uri="{FF2B5EF4-FFF2-40B4-BE49-F238E27FC236}">
                <a16:creationId xmlns:a16="http://schemas.microsoft.com/office/drawing/2014/main" id="{7134AC55-C04D-E63B-196F-97DD80AB092B}"/>
              </a:ext>
            </a:extLst>
          </p:cNvPr>
          <p:cNvSpPr txBox="1">
            <a:spLocks noChangeArrowheads="1"/>
          </p:cNvSpPr>
          <p:nvPr/>
        </p:nvSpPr>
        <p:spPr bwMode="auto">
          <a:xfrm>
            <a:off x="838200" y="5669649"/>
            <a:ext cx="10932399" cy="3139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rtlCol="0" anchor="ctr" anchorCtr="0" compatLnSpc="1">
            <a:prstTxWarp prst="textNoShape">
              <a:avLst/>
            </a:prstTxWarp>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600" dirty="0"/>
              <a:t>Backend : Django/Flask</a:t>
            </a:r>
          </a:p>
        </p:txBody>
      </p:sp>
    </p:spTree>
    <p:extLst>
      <p:ext uri="{BB962C8B-B14F-4D97-AF65-F5344CB8AC3E}">
        <p14:creationId xmlns:p14="http://schemas.microsoft.com/office/powerpoint/2010/main" val="14591278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7B6F1C-615D-F6B3-F247-0A258ABA6ED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CBE049-32A5-71C3-9681-9DD408E2331B}"/>
              </a:ext>
            </a:extLst>
          </p:cNvPr>
          <p:cNvSpPr>
            <a:spLocks noGrp="1"/>
          </p:cNvSpPr>
          <p:nvPr>
            <p:ph type="title"/>
          </p:nvPr>
        </p:nvSpPr>
        <p:spPr/>
        <p:txBody>
          <a:bodyPr/>
          <a:lstStyle/>
          <a:p>
            <a:endParaRPr lang="en-IN" dirty="0"/>
          </a:p>
        </p:txBody>
      </p:sp>
      <p:pic>
        <p:nvPicPr>
          <p:cNvPr id="4" name="Google Shape;315;p1">
            <a:extLst>
              <a:ext uri="{FF2B5EF4-FFF2-40B4-BE49-F238E27FC236}">
                <a16:creationId xmlns:a16="http://schemas.microsoft.com/office/drawing/2014/main" id="{81EDB1D2-1CB4-1891-06C2-C34A60D4B000}"/>
              </a:ext>
            </a:extLst>
          </p:cNvPr>
          <p:cNvPicPr preferRelativeResize="0"/>
          <p:nvPr/>
        </p:nvPicPr>
        <p:blipFill rotWithShape="1">
          <a:blip r:embed="rId2">
            <a:alphaModFix/>
          </a:blip>
          <a:srcRect/>
          <a:stretch/>
        </p:blipFill>
        <p:spPr>
          <a:xfrm>
            <a:off x="62630" y="26247"/>
            <a:ext cx="977029" cy="720639"/>
          </a:xfrm>
          <a:prstGeom prst="rect">
            <a:avLst/>
          </a:prstGeom>
          <a:noFill/>
          <a:ln>
            <a:noFill/>
          </a:ln>
        </p:spPr>
      </p:pic>
      <p:pic>
        <p:nvPicPr>
          <p:cNvPr id="5" name="Google Shape;317;p1">
            <a:extLst>
              <a:ext uri="{FF2B5EF4-FFF2-40B4-BE49-F238E27FC236}">
                <a16:creationId xmlns:a16="http://schemas.microsoft.com/office/drawing/2014/main" id="{A1FA3A06-9DD6-C864-274D-0A306E5CA23F}"/>
              </a:ext>
            </a:extLst>
          </p:cNvPr>
          <p:cNvPicPr preferRelativeResize="0"/>
          <p:nvPr/>
        </p:nvPicPr>
        <p:blipFill rotWithShape="1">
          <a:blip r:embed="rId3">
            <a:alphaModFix/>
          </a:blip>
          <a:srcRect/>
          <a:stretch/>
        </p:blipFill>
        <p:spPr>
          <a:xfrm>
            <a:off x="10672174" y="8252"/>
            <a:ext cx="1519825" cy="630933"/>
          </a:xfrm>
          <a:prstGeom prst="rect">
            <a:avLst/>
          </a:prstGeom>
          <a:noFill/>
          <a:ln>
            <a:noFill/>
          </a:ln>
        </p:spPr>
      </p:pic>
      <p:sp>
        <p:nvSpPr>
          <p:cNvPr id="6" name="Google Shape;342;p4">
            <a:extLst>
              <a:ext uri="{FF2B5EF4-FFF2-40B4-BE49-F238E27FC236}">
                <a16:creationId xmlns:a16="http://schemas.microsoft.com/office/drawing/2014/main" id="{E5C9ED03-74C2-F87C-9E4F-B50A1B99DC85}"/>
              </a:ext>
            </a:extLst>
          </p:cNvPr>
          <p:cNvSpPr txBox="1">
            <a:spLocks/>
          </p:cNvSpPr>
          <p:nvPr/>
        </p:nvSpPr>
        <p:spPr>
          <a:xfrm>
            <a:off x="838201" y="774122"/>
            <a:ext cx="10515600" cy="848791"/>
          </a:xfrm>
          <a:prstGeom prst="rect">
            <a:avLst/>
          </a:prstGeom>
          <a:solidFill>
            <a:srgbClr val="C00000"/>
          </a:solidFill>
          <a:ln>
            <a:noFill/>
          </a:ln>
        </p:spPr>
        <p:txBody>
          <a:bodyPr spcFirstLastPara="1" vert="horz" wrap="square" lIns="91425" tIns="45700" rIns="91425" bIns="45700" rtlCol="0" anchor="ctr" anchorCtr="0">
            <a:normAutofit fontScale="775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rgbClr val="FFCC00"/>
              </a:buClr>
              <a:buSzPct val="100000"/>
            </a:pPr>
            <a:r>
              <a:rPr lang="en-US" dirty="0">
                <a:solidFill>
                  <a:schemeClr val="accent4"/>
                </a:solidFill>
                <a:latin typeface="Times New Roman" panose="02020603050405020304" pitchFamily="18" charset="0"/>
                <a:cs typeface="Times New Roman" panose="02020603050405020304" pitchFamily="18" charset="0"/>
              </a:rPr>
              <a:t>Existing Systems / Technologies Current solutions or methods</a:t>
            </a:r>
            <a:endParaRPr lang="en-IN" dirty="0">
              <a:solidFill>
                <a:schemeClr val="accent4"/>
              </a:solidFill>
              <a:latin typeface="Times New Roman" panose="02020603050405020304" pitchFamily="18" charset="0"/>
              <a:cs typeface="Times New Roman" panose="02020603050405020304" pitchFamily="18" charset="0"/>
            </a:endParaRPr>
          </a:p>
        </p:txBody>
      </p:sp>
      <p:sp>
        <p:nvSpPr>
          <p:cNvPr id="9" name="Rectangle 3">
            <a:extLst>
              <a:ext uri="{FF2B5EF4-FFF2-40B4-BE49-F238E27FC236}">
                <a16:creationId xmlns:a16="http://schemas.microsoft.com/office/drawing/2014/main" id="{D3471FF8-4AA4-ABB7-A156-91FE9DACD2AB}"/>
              </a:ext>
            </a:extLst>
          </p:cNvPr>
          <p:cNvSpPr>
            <a:spLocks noGrp="1" noChangeArrowheads="1"/>
          </p:cNvSpPr>
          <p:nvPr>
            <p:ph idx="1"/>
          </p:nvPr>
        </p:nvSpPr>
        <p:spPr bwMode="auto">
          <a:xfrm>
            <a:off x="803178" y="1898048"/>
            <a:ext cx="9868996" cy="258532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Text-Based Chatbots:</a:t>
            </a:r>
            <a:r>
              <a:rPr kumimoji="0" lang="en-US" altLang="en-US" sz="1800" b="0" i="0" u="none" strike="noStrike" cap="none" normalizeH="0" baseline="0" dirty="0">
                <a:ln>
                  <a:noFill/>
                </a:ln>
                <a:solidFill>
                  <a:schemeClr val="tx1"/>
                </a:solidFill>
                <a:effectLst/>
                <a:latin typeface="Arial" panose="020B0604020202020204" pitchFamily="34" charset="0"/>
              </a:rPr>
              <a:t> Fundamentally flawed for comprehensive practice, as they </a:t>
            </a:r>
            <a:r>
              <a:rPr kumimoji="0" lang="en-US" altLang="en-US" sz="1800" b="1" i="0" u="none" strike="noStrike" cap="none" normalizeH="0" baseline="0" dirty="0">
                <a:ln>
                  <a:noFill/>
                </a:ln>
                <a:solidFill>
                  <a:schemeClr val="tx1"/>
                </a:solidFill>
                <a:effectLst/>
                <a:latin typeface="Arial" panose="020B0604020202020204" pitchFamily="34" charset="0"/>
              </a:rPr>
              <a:t>ignore all verbal and non-verbal aspects</a:t>
            </a:r>
            <a:r>
              <a:rPr kumimoji="0" lang="en-US" altLang="en-US" sz="1800" b="0" i="0" u="none" strike="noStrike" cap="none" normalizeH="0" baseline="0" dirty="0">
                <a:ln>
                  <a:noFill/>
                </a:ln>
                <a:solidFill>
                  <a:schemeClr val="tx1"/>
                </a:solidFill>
                <a:effectLst/>
                <a:latin typeface="Arial" panose="020B0604020202020204" pitchFamily="34" charset="0"/>
              </a:rPr>
              <a:t> of a real interview.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Video Recording Tools:</a:t>
            </a:r>
            <a:r>
              <a:rPr kumimoji="0" lang="en-US" altLang="en-US" sz="1800" b="0" i="0" u="none" strike="noStrike" cap="none" normalizeH="0" baseline="0" dirty="0">
                <a:ln>
                  <a:noFill/>
                </a:ln>
                <a:solidFill>
                  <a:schemeClr val="tx1"/>
                </a:solidFill>
                <a:effectLst/>
                <a:latin typeface="Arial" panose="020B0604020202020204" pitchFamily="34" charset="0"/>
              </a:rPr>
              <a:t> Act as a "digital mirror" with </a:t>
            </a:r>
            <a:r>
              <a:rPr kumimoji="0" lang="en-US" altLang="en-US" sz="1800" b="1" i="0" u="none" strike="noStrike" cap="none" normalizeH="0" baseline="0" dirty="0">
                <a:ln>
                  <a:noFill/>
                </a:ln>
                <a:solidFill>
                  <a:schemeClr val="tx1"/>
                </a:solidFill>
                <a:effectLst/>
                <a:latin typeface="Arial" panose="020B0604020202020204" pitchFamily="34" charset="0"/>
              </a:rPr>
              <a:t>no automated analysis</a:t>
            </a:r>
            <a:r>
              <a:rPr kumimoji="0" lang="en-US" altLang="en-US" sz="1800" b="0" i="0" u="none" strike="noStrike" cap="none" normalizeH="0" baseline="0" dirty="0">
                <a:ln>
                  <a:noFill/>
                </a:ln>
                <a:solidFill>
                  <a:schemeClr val="tx1"/>
                </a:solidFill>
                <a:effectLst/>
                <a:latin typeface="Arial" panose="020B0604020202020204" pitchFamily="34" charset="0"/>
              </a:rPr>
              <a:t>, forcing a human recruiter to manually watch and evaluate every submission.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Professional HR Software (ATS):</a:t>
            </a:r>
            <a:r>
              <a:rPr kumimoji="0" lang="en-US" altLang="en-US" sz="1800" b="0" i="0" u="none" strike="noStrike" cap="none" normalizeH="0" baseline="0" dirty="0">
                <a:ln>
                  <a:noFill/>
                </a:ln>
                <a:solidFill>
                  <a:schemeClr val="tx1"/>
                </a:solidFill>
                <a:effectLst/>
                <a:latin typeface="Arial" panose="020B0604020202020204" pitchFamily="34" charset="0"/>
              </a:rPr>
              <a:t> While effective for filtering resumes by keywords, these systems are a </a:t>
            </a:r>
            <a:r>
              <a:rPr kumimoji="0" lang="en-US" altLang="en-US" sz="1800" b="1" i="0" u="none" strike="noStrike" cap="none" normalizeH="0" baseline="0" dirty="0">
                <a:ln>
                  <a:noFill/>
                </a:ln>
                <a:solidFill>
                  <a:schemeClr val="tx1"/>
                </a:solidFill>
                <a:effectLst/>
                <a:latin typeface="Arial" panose="020B0604020202020204" pitchFamily="34" charset="0"/>
              </a:rPr>
              <a:t>one-dimensional tool offering zero insight</a:t>
            </a:r>
            <a:r>
              <a:rPr kumimoji="0" lang="en-US" altLang="en-US" sz="1800" b="0" i="0" u="none" strike="noStrike" cap="none" normalizeH="0" baseline="0" dirty="0">
                <a:ln>
                  <a:noFill/>
                </a:ln>
                <a:solidFill>
                  <a:schemeClr val="tx1"/>
                </a:solidFill>
                <a:effectLst/>
                <a:latin typeface="Arial" panose="020B0604020202020204" pitchFamily="34" charset="0"/>
              </a:rPr>
              <a:t> into a candidate's soft skills.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Our Project's Unique Value:</a:t>
            </a:r>
            <a:r>
              <a:rPr kumimoji="0" lang="en-US" altLang="en-US" sz="1800" b="0" i="0" u="none" strike="noStrike" cap="none" normalizeH="0" baseline="0" dirty="0">
                <a:ln>
                  <a:noFill/>
                </a:ln>
                <a:solidFill>
                  <a:schemeClr val="tx1"/>
                </a:solidFill>
                <a:effectLst/>
                <a:latin typeface="Arial" panose="020B0604020202020204" pitchFamily="34" charset="0"/>
              </a:rPr>
              <a:t> Creates a single, enterprise-grade platform that </a:t>
            </a:r>
            <a:r>
              <a:rPr kumimoji="0" lang="en-US" altLang="en-US" sz="1800" b="1" i="0" u="none" strike="noStrike" cap="none" normalizeH="0" baseline="0" dirty="0">
                <a:ln>
                  <a:noFill/>
                </a:ln>
                <a:solidFill>
                  <a:schemeClr val="tx1"/>
                </a:solidFill>
                <a:effectLst/>
                <a:latin typeface="Arial" panose="020B0604020202020204" pitchFamily="34" charset="0"/>
              </a:rPr>
              <a:t>automates screening by analyzing conversation, video, and audio</a:t>
            </a:r>
            <a:r>
              <a:rPr kumimoji="0" lang="en-US" altLang="en-US" sz="1800" b="0" i="0" u="none" strike="noStrike" cap="none" normalizeH="0" baseline="0" dirty="0">
                <a:ln>
                  <a:noFill/>
                </a:ln>
                <a:solidFill>
                  <a:schemeClr val="tx1"/>
                </a:solidFill>
                <a:effectLst/>
                <a:latin typeface="Arial" panose="020B0604020202020204" pitchFamily="34" charset="0"/>
              </a:rPr>
              <a:t>, providing the data-driven communication insights that other tools lack.</a:t>
            </a:r>
          </a:p>
        </p:txBody>
      </p:sp>
    </p:spTree>
    <p:extLst>
      <p:ext uri="{BB962C8B-B14F-4D97-AF65-F5344CB8AC3E}">
        <p14:creationId xmlns:p14="http://schemas.microsoft.com/office/powerpoint/2010/main" val="29501243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3E722-2C54-C92C-1FBE-82193CB00E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0D825B-7BBA-8178-9CC5-64253AA01759}"/>
              </a:ext>
            </a:extLst>
          </p:cNvPr>
          <p:cNvSpPr>
            <a:spLocks noGrp="1"/>
          </p:cNvSpPr>
          <p:nvPr>
            <p:ph type="title"/>
          </p:nvPr>
        </p:nvSpPr>
        <p:spPr>
          <a:xfrm>
            <a:off x="838200" y="704003"/>
            <a:ext cx="10515600" cy="1325563"/>
          </a:xfrm>
        </p:spPr>
        <p:txBody>
          <a:bodyPr/>
          <a:lstStyle/>
          <a:p>
            <a:endParaRPr lang="en-IN" dirty="0"/>
          </a:p>
        </p:txBody>
      </p:sp>
      <p:pic>
        <p:nvPicPr>
          <p:cNvPr id="4" name="Google Shape;315;p1">
            <a:extLst>
              <a:ext uri="{FF2B5EF4-FFF2-40B4-BE49-F238E27FC236}">
                <a16:creationId xmlns:a16="http://schemas.microsoft.com/office/drawing/2014/main" id="{E36D8577-495A-2C0D-3A68-FC4772590DF7}"/>
              </a:ext>
            </a:extLst>
          </p:cNvPr>
          <p:cNvPicPr preferRelativeResize="0"/>
          <p:nvPr/>
        </p:nvPicPr>
        <p:blipFill rotWithShape="1">
          <a:blip r:embed="rId2">
            <a:alphaModFix/>
          </a:blip>
          <a:srcRect/>
          <a:stretch/>
        </p:blipFill>
        <p:spPr>
          <a:xfrm>
            <a:off x="62630" y="26247"/>
            <a:ext cx="977029" cy="720639"/>
          </a:xfrm>
          <a:prstGeom prst="rect">
            <a:avLst/>
          </a:prstGeom>
          <a:noFill/>
          <a:ln>
            <a:noFill/>
          </a:ln>
        </p:spPr>
      </p:pic>
      <p:pic>
        <p:nvPicPr>
          <p:cNvPr id="5" name="Google Shape;317;p1">
            <a:extLst>
              <a:ext uri="{FF2B5EF4-FFF2-40B4-BE49-F238E27FC236}">
                <a16:creationId xmlns:a16="http://schemas.microsoft.com/office/drawing/2014/main" id="{79AC7CC4-E737-FA09-3DB1-819BE7398D17}"/>
              </a:ext>
            </a:extLst>
          </p:cNvPr>
          <p:cNvPicPr preferRelativeResize="0"/>
          <p:nvPr/>
        </p:nvPicPr>
        <p:blipFill rotWithShape="1">
          <a:blip r:embed="rId3">
            <a:alphaModFix/>
          </a:blip>
          <a:srcRect/>
          <a:stretch/>
        </p:blipFill>
        <p:spPr>
          <a:xfrm>
            <a:off x="10672174" y="8252"/>
            <a:ext cx="1519825" cy="630933"/>
          </a:xfrm>
          <a:prstGeom prst="rect">
            <a:avLst/>
          </a:prstGeom>
          <a:noFill/>
          <a:ln>
            <a:noFill/>
          </a:ln>
        </p:spPr>
      </p:pic>
      <p:sp>
        <p:nvSpPr>
          <p:cNvPr id="6" name="Google Shape;342;p4">
            <a:extLst>
              <a:ext uri="{FF2B5EF4-FFF2-40B4-BE49-F238E27FC236}">
                <a16:creationId xmlns:a16="http://schemas.microsoft.com/office/drawing/2014/main" id="{87143317-E1D4-BB12-527A-5948E6F09397}"/>
              </a:ext>
            </a:extLst>
          </p:cNvPr>
          <p:cNvSpPr txBox="1">
            <a:spLocks/>
          </p:cNvSpPr>
          <p:nvPr/>
        </p:nvSpPr>
        <p:spPr>
          <a:xfrm>
            <a:off x="838200" y="841897"/>
            <a:ext cx="10515600" cy="848791"/>
          </a:xfrm>
          <a:prstGeom prst="rect">
            <a:avLst/>
          </a:prstGeom>
          <a:solidFill>
            <a:srgbClr val="C00000"/>
          </a:solidFill>
          <a:ln>
            <a:noFill/>
          </a:ln>
        </p:spPr>
        <p:txBody>
          <a:bodyPr spcFirstLastPara="1" vert="horz" wrap="square" lIns="91425" tIns="45700" rIns="91425" bIns="45700" rtlCol="0" anchor="ctr" anchorCtr="0">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spcBef>
                <a:spcPts val="0"/>
              </a:spcBef>
              <a:buClr>
                <a:srgbClr val="FFCC00"/>
              </a:buClr>
              <a:buSzPct val="100000"/>
            </a:pPr>
            <a:r>
              <a:rPr lang="en-IN" dirty="0">
                <a:solidFill>
                  <a:schemeClr val="accent4"/>
                </a:solidFill>
                <a:latin typeface="Times New Roman" panose="02020603050405020304" pitchFamily="18" charset="0"/>
                <a:cs typeface="Times New Roman" panose="02020603050405020304" pitchFamily="18" charset="0"/>
              </a:rPr>
              <a:t>Expected Outcome</a:t>
            </a:r>
          </a:p>
        </p:txBody>
      </p:sp>
      <p:sp>
        <p:nvSpPr>
          <p:cNvPr id="7" name="Rectangle 1">
            <a:extLst>
              <a:ext uri="{FF2B5EF4-FFF2-40B4-BE49-F238E27FC236}">
                <a16:creationId xmlns:a16="http://schemas.microsoft.com/office/drawing/2014/main" id="{EA1847B9-C301-7AFF-A723-2E8F77D6EE8D}"/>
              </a:ext>
            </a:extLst>
          </p:cNvPr>
          <p:cNvSpPr>
            <a:spLocks noGrp="1" noChangeArrowheads="1"/>
          </p:cNvSpPr>
          <p:nvPr>
            <p:ph idx="1"/>
          </p:nvPr>
        </p:nvSpPr>
        <p:spPr bwMode="auto">
          <a:xfrm>
            <a:off x="838200" y="2029566"/>
            <a:ext cx="10666465" cy="373230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r>
              <a:rPr lang="en-US" sz="1800" dirty="0"/>
              <a:t>Functional prototype of the AI-powered Pre-Interview Assessment Tool</a:t>
            </a:r>
          </a:p>
          <a:p>
            <a:r>
              <a:rPr lang="en-US" sz="1800" dirty="0"/>
              <a:t>Realistic, voice-based mock interview conducted by AI</a:t>
            </a:r>
          </a:p>
          <a:p>
            <a:r>
              <a:rPr lang="en-US" sz="1800" dirty="0"/>
              <a:t> Agent-based evaluation system analyzing:</a:t>
            </a:r>
          </a:p>
          <a:p>
            <a:pPr lvl="1"/>
            <a:r>
              <a:rPr lang="en-US" sz="1800" dirty="0"/>
              <a:t>Verbal responses (content, structure, relevance)</a:t>
            </a:r>
          </a:p>
          <a:p>
            <a:pPr lvl="1"/>
            <a:r>
              <a:rPr lang="en-US" sz="1800" dirty="0"/>
              <a:t>Vocal delivery (tone, pitch, fluency)</a:t>
            </a:r>
          </a:p>
          <a:p>
            <a:pPr lvl="1"/>
            <a:r>
              <a:rPr lang="en-US" sz="1800" dirty="0"/>
              <a:t>Non-verbal cues (eye contact, facial expressions, gestures)</a:t>
            </a:r>
          </a:p>
          <a:p>
            <a:r>
              <a:rPr lang="en-US" sz="1800" dirty="0"/>
              <a:t> Automatically generated feedback report with actionable insights like:</a:t>
            </a:r>
          </a:p>
          <a:p>
            <a:pPr lvl="1"/>
            <a:r>
              <a:rPr lang="en-US" sz="1800" dirty="0"/>
              <a:t>“Maintained eye contact 85% of the time”</a:t>
            </a:r>
          </a:p>
          <a:p>
            <a:pPr lvl="1"/>
            <a:r>
              <a:rPr lang="en-US" sz="1800" dirty="0"/>
              <a:t>“Voice lacked modulation in later responses”</a:t>
            </a:r>
          </a:p>
          <a:p>
            <a:pPr lvl="1"/>
            <a:r>
              <a:rPr lang="en-US" sz="1800" dirty="0"/>
              <a:t>“Hand-to-face gestures detected frequently — possible nervousness”</a:t>
            </a:r>
          </a:p>
          <a:p>
            <a:r>
              <a:rPr lang="en-US" sz="1800" dirty="0"/>
              <a:t>Suitable for companies as an objective, automated first-round screening tool</a:t>
            </a:r>
          </a:p>
        </p:txBody>
      </p:sp>
    </p:spTree>
    <p:extLst>
      <p:ext uri="{BB962C8B-B14F-4D97-AF65-F5344CB8AC3E}">
        <p14:creationId xmlns:p14="http://schemas.microsoft.com/office/powerpoint/2010/main" val="5573220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417</TotalTime>
  <Words>586</Words>
  <Application>Microsoft Office PowerPoint</Application>
  <PresentationFormat>Widescreen</PresentationFormat>
  <Paragraphs>49</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Arial</vt:lpstr>
      <vt:lpstr>Calibri</vt:lpstr>
      <vt:lpstr>Calibri Light</vt:lpstr>
      <vt:lpstr>Times New Roman</vt:lpstr>
      <vt:lpstr>Office Theme</vt:lpstr>
      <vt:lpstr>PROJECT PHASE I</vt:lpstr>
      <vt:lpstr>INTRODUCTION</vt:lpstr>
      <vt:lpstr>PROBLEM STATEMENT</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Rahul Sandesh</dc:creator>
  <cp:lastModifiedBy>Amith Sahadevan</cp:lastModifiedBy>
  <cp:revision>3</cp:revision>
  <dcterms:created xsi:type="dcterms:W3CDTF">2025-08-06T07:54:42Z</dcterms:created>
  <dcterms:modified xsi:type="dcterms:W3CDTF">2025-08-06T17:55:52Z</dcterms:modified>
</cp:coreProperties>
</file>